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3" r:id="rId7"/>
    <p:sldId id="272" r:id="rId8"/>
    <p:sldId id="273" r:id="rId9"/>
    <p:sldId id="276" r:id="rId10"/>
    <p:sldId id="274" r:id="rId11"/>
    <p:sldId id="269" r:id="rId12"/>
    <p:sldId id="260" r:id="rId13"/>
    <p:sldId id="270" r:id="rId14"/>
    <p:sldId id="291" r:id="rId15"/>
    <p:sldId id="277" r:id="rId16"/>
    <p:sldId id="278" r:id="rId17"/>
    <p:sldId id="279" r:id="rId18"/>
    <p:sldId id="292" r:id="rId19"/>
    <p:sldId id="280" r:id="rId20"/>
    <p:sldId id="293" r:id="rId21"/>
    <p:sldId id="281" r:id="rId22"/>
    <p:sldId id="282" r:id="rId23"/>
    <p:sldId id="283" r:id="rId24"/>
    <p:sldId id="284" r:id="rId25"/>
    <p:sldId id="285" r:id="rId26"/>
    <p:sldId id="286" r:id="rId27"/>
    <p:sldId id="288" r:id="rId28"/>
    <p:sldId id="287" r:id="rId29"/>
    <p:sldId id="289" r:id="rId30"/>
    <p:sldId id="290" r:id="rId31"/>
    <p:sldId id="264" r:id="rId32"/>
    <p:sldId id="265" r:id="rId33"/>
    <p:sldId id="266" r:id="rId34"/>
    <p:sldId id="275" r:id="rId35"/>
    <p:sldId id="26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C5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B61EE-5F39-4756-4CF7-6DD5574EF6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68025BA-713E-95F6-5274-48EFF709DC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D43922-11F1-8692-634C-C4614625EB54}"/>
              </a:ext>
            </a:extLst>
          </p:cNvPr>
          <p:cNvSpPr>
            <a:spLocks noGrp="1"/>
          </p:cNvSpPr>
          <p:nvPr>
            <p:ph type="dt" sz="half" idx="10"/>
          </p:nvPr>
        </p:nvSpPr>
        <p:spPr/>
        <p:txBody>
          <a:bodyPr/>
          <a:lstStyle/>
          <a:p>
            <a:fld id="{17CAFAFC-9950-42A7-B66C-6BB05CE05B15}" type="datetimeFigureOut">
              <a:rPr lang="en-US" smtClean="0"/>
              <a:t>10/16/2024</a:t>
            </a:fld>
            <a:endParaRPr lang="en-US"/>
          </a:p>
        </p:txBody>
      </p:sp>
      <p:sp>
        <p:nvSpPr>
          <p:cNvPr id="5" name="Footer Placeholder 4">
            <a:extLst>
              <a:ext uri="{FF2B5EF4-FFF2-40B4-BE49-F238E27FC236}">
                <a16:creationId xmlns:a16="http://schemas.microsoft.com/office/drawing/2014/main" id="{1127D5E8-39B9-B58C-671D-1CE3FF3311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5B1C1D-49C1-C90C-66E8-350554759150}"/>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683291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B004A-80C3-E5C8-AAC2-3C6EA2A240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80FE1F-3176-2BC2-7C5D-004BB968DA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6E2426-688E-5ED7-F456-242C591FDA18}"/>
              </a:ext>
            </a:extLst>
          </p:cNvPr>
          <p:cNvSpPr>
            <a:spLocks noGrp="1"/>
          </p:cNvSpPr>
          <p:nvPr>
            <p:ph type="dt" sz="half" idx="10"/>
          </p:nvPr>
        </p:nvSpPr>
        <p:spPr/>
        <p:txBody>
          <a:bodyPr/>
          <a:lstStyle/>
          <a:p>
            <a:fld id="{17CAFAFC-9950-42A7-B66C-6BB05CE05B15}" type="datetimeFigureOut">
              <a:rPr lang="en-US" smtClean="0"/>
              <a:t>10/16/2024</a:t>
            </a:fld>
            <a:endParaRPr lang="en-US"/>
          </a:p>
        </p:txBody>
      </p:sp>
      <p:sp>
        <p:nvSpPr>
          <p:cNvPr id="5" name="Footer Placeholder 4">
            <a:extLst>
              <a:ext uri="{FF2B5EF4-FFF2-40B4-BE49-F238E27FC236}">
                <a16:creationId xmlns:a16="http://schemas.microsoft.com/office/drawing/2014/main" id="{94C7C5AC-93BB-F054-8128-EDE3A41F8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4FFF3-5DE7-8FAA-BE14-846304FEE8A9}"/>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2869662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C8F69-D4B8-E9CB-365F-9E21CB3BB0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D36840-A3BF-072E-5D38-762E845FBC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EF4842-A5F3-632F-0FA6-068550067083}"/>
              </a:ext>
            </a:extLst>
          </p:cNvPr>
          <p:cNvSpPr>
            <a:spLocks noGrp="1"/>
          </p:cNvSpPr>
          <p:nvPr>
            <p:ph type="dt" sz="half" idx="10"/>
          </p:nvPr>
        </p:nvSpPr>
        <p:spPr/>
        <p:txBody>
          <a:bodyPr/>
          <a:lstStyle/>
          <a:p>
            <a:fld id="{17CAFAFC-9950-42A7-B66C-6BB05CE05B15}" type="datetimeFigureOut">
              <a:rPr lang="en-US" smtClean="0"/>
              <a:t>10/16/2024</a:t>
            </a:fld>
            <a:endParaRPr lang="en-US"/>
          </a:p>
        </p:txBody>
      </p:sp>
      <p:sp>
        <p:nvSpPr>
          <p:cNvPr id="5" name="Footer Placeholder 4">
            <a:extLst>
              <a:ext uri="{FF2B5EF4-FFF2-40B4-BE49-F238E27FC236}">
                <a16:creationId xmlns:a16="http://schemas.microsoft.com/office/drawing/2014/main" id="{49AE563F-B2C7-9243-5F09-2C08B76BD7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878857-0DEE-3169-6536-F8445C75FE04}"/>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2484756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B5AFF-6E08-1B7E-63DC-92ACCEE175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8C6A69-3050-2F7E-7F5A-07159C56BC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F43267-ECF1-9BB9-E0D5-CB23AE0D3A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8243B3-B52E-8AFE-06A2-7B8351355921}"/>
              </a:ext>
            </a:extLst>
          </p:cNvPr>
          <p:cNvSpPr>
            <a:spLocks noGrp="1"/>
          </p:cNvSpPr>
          <p:nvPr>
            <p:ph type="dt" sz="half" idx="10"/>
          </p:nvPr>
        </p:nvSpPr>
        <p:spPr/>
        <p:txBody>
          <a:bodyPr/>
          <a:lstStyle/>
          <a:p>
            <a:fld id="{17CAFAFC-9950-42A7-B66C-6BB05CE05B15}" type="datetimeFigureOut">
              <a:rPr lang="en-US" smtClean="0"/>
              <a:t>10/16/2024</a:t>
            </a:fld>
            <a:endParaRPr lang="en-US"/>
          </a:p>
        </p:txBody>
      </p:sp>
      <p:sp>
        <p:nvSpPr>
          <p:cNvPr id="6" name="Footer Placeholder 5">
            <a:extLst>
              <a:ext uri="{FF2B5EF4-FFF2-40B4-BE49-F238E27FC236}">
                <a16:creationId xmlns:a16="http://schemas.microsoft.com/office/drawing/2014/main" id="{D7EB54C0-69C2-0BE5-BCFA-84A0ECBABD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5312B0-E700-8617-482E-EE53E87881D8}"/>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2215716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66B5B-28D0-7539-D1A3-526F05DAE5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21CA7D-A93A-8978-DA43-F00AB0528A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9E1325-DAC0-95CA-DDF6-3D29F9751A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4EE3A0-C0F5-0890-A770-F01E6AEAF7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F6F3A8-A193-6087-4BCB-D4FCDD4948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17CF98-F2D6-F5FD-ECB8-AA616D3F1113}"/>
              </a:ext>
            </a:extLst>
          </p:cNvPr>
          <p:cNvSpPr>
            <a:spLocks noGrp="1"/>
          </p:cNvSpPr>
          <p:nvPr>
            <p:ph type="dt" sz="half" idx="10"/>
          </p:nvPr>
        </p:nvSpPr>
        <p:spPr/>
        <p:txBody>
          <a:bodyPr/>
          <a:lstStyle/>
          <a:p>
            <a:fld id="{17CAFAFC-9950-42A7-B66C-6BB05CE05B15}" type="datetimeFigureOut">
              <a:rPr lang="en-US" smtClean="0"/>
              <a:t>10/16/2024</a:t>
            </a:fld>
            <a:endParaRPr lang="en-US"/>
          </a:p>
        </p:txBody>
      </p:sp>
      <p:sp>
        <p:nvSpPr>
          <p:cNvPr id="8" name="Footer Placeholder 7">
            <a:extLst>
              <a:ext uri="{FF2B5EF4-FFF2-40B4-BE49-F238E27FC236}">
                <a16:creationId xmlns:a16="http://schemas.microsoft.com/office/drawing/2014/main" id="{AD6FC288-C883-9C26-39C3-2BDD0FCD51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72172F-BE50-C67D-9796-5BB7931AD9D4}"/>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405369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A349A-050D-AD13-9D03-95334661B0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894555-15DC-C1A4-F400-9A1B0A0D6547}"/>
              </a:ext>
            </a:extLst>
          </p:cNvPr>
          <p:cNvSpPr>
            <a:spLocks noGrp="1"/>
          </p:cNvSpPr>
          <p:nvPr>
            <p:ph type="dt" sz="half" idx="10"/>
          </p:nvPr>
        </p:nvSpPr>
        <p:spPr/>
        <p:txBody>
          <a:bodyPr/>
          <a:lstStyle/>
          <a:p>
            <a:fld id="{17CAFAFC-9950-42A7-B66C-6BB05CE05B15}" type="datetimeFigureOut">
              <a:rPr lang="en-US" smtClean="0"/>
              <a:t>10/16/2024</a:t>
            </a:fld>
            <a:endParaRPr lang="en-US"/>
          </a:p>
        </p:txBody>
      </p:sp>
      <p:sp>
        <p:nvSpPr>
          <p:cNvPr id="4" name="Footer Placeholder 3">
            <a:extLst>
              <a:ext uri="{FF2B5EF4-FFF2-40B4-BE49-F238E27FC236}">
                <a16:creationId xmlns:a16="http://schemas.microsoft.com/office/drawing/2014/main" id="{D0A61EB2-8BEA-8F38-8CCE-2AE72AE7C9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4850C9A-7398-9F0E-5667-564E1C5B708B}"/>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3620068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6F29B8-E74B-E266-A47E-26497C559280}"/>
              </a:ext>
            </a:extLst>
          </p:cNvPr>
          <p:cNvSpPr>
            <a:spLocks noGrp="1"/>
          </p:cNvSpPr>
          <p:nvPr>
            <p:ph type="dt" sz="half" idx="10"/>
          </p:nvPr>
        </p:nvSpPr>
        <p:spPr/>
        <p:txBody>
          <a:bodyPr/>
          <a:lstStyle/>
          <a:p>
            <a:fld id="{17CAFAFC-9950-42A7-B66C-6BB05CE05B15}" type="datetimeFigureOut">
              <a:rPr lang="en-US" smtClean="0"/>
              <a:t>10/16/2024</a:t>
            </a:fld>
            <a:endParaRPr lang="en-US"/>
          </a:p>
        </p:txBody>
      </p:sp>
      <p:sp>
        <p:nvSpPr>
          <p:cNvPr id="3" name="Footer Placeholder 2">
            <a:extLst>
              <a:ext uri="{FF2B5EF4-FFF2-40B4-BE49-F238E27FC236}">
                <a16:creationId xmlns:a16="http://schemas.microsoft.com/office/drawing/2014/main" id="{B01D0625-BF65-EB9B-4391-046C1B14031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33777E-DFD4-4055-5F90-E23F25D79B8A}"/>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1309058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B61C2-7816-3A85-646A-95BB2E57E8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ED3FBB-50EF-76FB-A12D-45B18F799E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514BC9-1C04-60DF-2DEB-D1AB533F90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E51CEF-819F-0EC1-29A5-2F9E2F62F517}"/>
              </a:ext>
            </a:extLst>
          </p:cNvPr>
          <p:cNvSpPr>
            <a:spLocks noGrp="1"/>
          </p:cNvSpPr>
          <p:nvPr>
            <p:ph type="dt" sz="half" idx="10"/>
          </p:nvPr>
        </p:nvSpPr>
        <p:spPr/>
        <p:txBody>
          <a:bodyPr/>
          <a:lstStyle/>
          <a:p>
            <a:fld id="{17CAFAFC-9950-42A7-B66C-6BB05CE05B15}" type="datetimeFigureOut">
              <a:rPr lang="en-US" smtClean="0"/>
              <a:t>10/16/2024</a:t>
            </a:fld>
            <a:endParaRPr lang="en-US"/>
          </a:p>
        </p:txBody>
      </p:sp>
      <p:sp>
        <p:nvSpPr>
          <p:cNvPr id="6" name="Footer Placeholder 5">
            <a:extLst>
              <a:ext uri="{FF2B5EF4-FFF2-40B4-BE49-F238E27FC236}">
                <a16:creationId xmlns:a16="http://schemas.microsoft.com/office/drawing/2014/main" id="{E8B491E4-10EC-EC5E-93E6-1C8E3849B3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EDE368-91F9-68D4-B9F2-8A8B983BBD31}"/>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3939724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84AB7-B9B8-DEC8-A6B3-06C03ABAB8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5465B9-D022-75F9-082F-4270199CFF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A1C962-1B74-88E9-7777-A60F318509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F42732-1E84-562B-507D-FEFAE914736F}"/>
              </a:ext>
            </a:extLst>
          </p:cNvPr>
          <p:cNvSpPr>
            <a:spLocks noGrp="1"/>
          </p:cNvSpPr>
          <p:nvPr>
            <p:ph type="dt" sz="half" idx="10"/>
          </p:nvPr>
        </p:nvSpPr>
        <p:spPr/>
        <p:txBody>
          <a:bodyPr/>
          <a:lstStyle/>
          <a:p>
            <a:fld id="{17CAFAFC-9950-42A7-B66C-6BB05CE05B15}" type="datetimeFigureOut">
              <a:rPr lang="en-US" smtClean="0"/>
              <a:t>10/16/2024</a:t>
            </a:fld>
            <a:endParaRPr lang="en-US"/>
          </a:p>
        </p:txBody>
      </p:sp>
      <p:sp>
        <p:nvSpPr>
          <p:cNvPr id="6" name="Footer Placeholder 5">
            <a:extLst>
              <a:ext uri="{FF2B5EF4-FFF2-40B4-BE49-F238E27FC236}">
                <a16:creationId xmlns:a16="http://schemas.microsoft.com/office/drawing/2014/main" id="{DAD3F07E-C9DA-434A-E114-5CA0F915AB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D65872-1D7F-19B6-E27B-A2BB66E46DEE}"/>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3351422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33DBF-524A-5609-D502-4BBE81D500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F8D296-1CB5-57A5-81A1-ED69D5088F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803B51-4D4A-5793-D8D8-444535B362C8}"/>
              </a:ext>
            </a:extLst>
          </p:cNvPr>
          <p:cNvSpPr>
            <a:spLocks noGrp="1"/>
          </p:cNvSpPr>
          <p:nvPr>
            <p:ph type="dt" sz="half" idx="10"/>
          </p:nvPr>
        </p:nvSpPr>
        <p:spPr/>
        <p:txBody>
          <a:bodyPr/>
          <a:lstStyle/>
          <a:p>
            <a:fld id="{17CAFAFC-9950-42A7-B66C-6BB05CE05B15}" type="datetimeFigureOut">
              <a:rPr lang="en-US" smtClean="0"/>
              <a:t>10/16/2024</a:t>
            </a:fld>
            <a:endParaRPr lang="en-US"/>
          </a:p>
        </p:txBody>
      </p:sp>
      <p:sp>
        <p:nvSpPr>
          <p:cNvPr id="5" name="Footer Placeholder 4">
            <a:extLst>
              <a:ext uri="{FF2B5EF4-FFF2-40B4-BE49-F238E27FC236}">
                <a16:creationId xmlns:a16="http://schemas.microsoft.com/office/drawing/2014/main" id="{C5741517-BFB9-3193-4B03-09F67F1278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86DD9-C829-C976-C284-99C17F2BC91C}"/>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364517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966C77-9A4C-AD5C-6FA6-351EDC3969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9062EB-BB03-5C58-1321-EDF44F7A3C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904C0A-548D-1BED-C546-93D96E67D934}"/>
              </a:ext>
            </a:extLst>
          </p:cNvPr>
          <p:cNvSpPr>
            <a:spLocks noGrp="1"/>
          </p:cNvSpPr>
          <p:nvPr>
            <p:ph type="dt" sz="half" idx="10"/>
          </p:nvPr>
        </p:nvSpPr>
        <p:spPr/>
        <p:txBody>
          <a:bodyPr/>
          <a:lstStyle/>
          <a:p>
            <a:fld id="{17CAFAFC-9950-42A7-B66C-6BB05CE05B15}" type="datetimeFigureOut">
              <a:rPr lang="en-US" smtClean="0"/>
              <a:t>10/16/2024</a:t>
            </a:fld>
            <a:endParaRPr lang="en-US"/>
          </a:p>
        </p:txBody>
      </p:sp>
      <p:sp>
        <p:nvSpPr>
          <p:cNvPr id="5" name="Footer Placeholder 4">
            <a:extLst>
              <a:ext uri="{FF2B5EF4-FFF2-40B4-BE49-F238E27FC236}">
                <a16:creationId xmlns:a16="http://schemas.microsoft.com/office/drawing/2014/main" id="{E70E00FF-AA15-4100-3373-0DA6C3B235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D2EC53-466F-1742-8B12-DDDD4E8C53AA}"/>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2971670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CC5ED"/>
            </a:gs>
            <a:gs pos="65000">
              <a:srgbClr val="F7F2FB"/>
            </a:gs>
            <a:gs pos="48000">
              <a:srgbClr val="EFE5F7"/>
            </a:gs>
            <a:gs pos="30000">
              <a:srgbClr val="E4D3F1"/>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273C91-720F-3CCA-DB3D-E5A123ACFC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A3C618-192B-BAEB-B9F5-C6B56C88D3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03A20B-EA03-2ABC-F8C6-C7998056FF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CAFAFC-9950-42A7-B66C-6BB05CE05B15}" type="datetimeFigureOut">
              <a:rPr lang="en-US" smtClean="0"/>
              <a:t>10/16/2024</a:t>
            </a:fld>
            <a:endParaRPr lang="en-US"/>
          </a:p>
        </p:txBody>
      </p:sp>
      <p:sp>
        <p:nvSpPr>
          <p:cNvPr id="5" name="Footer Placeholder 4">
            <a:extLst>
              <a:ext uri="{FF2B5EF4-FFF2-40B4-BE49-F238E27FC236}">
                <a16:creationId xmlns:a16="http://schemas.microsoft.com/office/drawing/2014/main" id="{328285CF-A646-15D0-B164-926201E9E4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32CAE98-0322-A11A-9576-1AA63CB549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9BD6C4-73A9-4D4E-A466-25D63B4A55ED}" type="slidenum">
              <a:rPr lang="en-US" smtClean="0"/>
              <a:t>‹#›</a:t>
            </a:fld>
            <a:endParaRPr lang="en-US"/>
          </a:p>
        </p:txBody>
      </p:sp>
    </p:spTree>
    <p:extLst>
      <p:ext uri="{BB962C8B-B14F-4D97-AF65-F5344CB8AC3E}">
        <p14:creationId xmlns:p14="http://schemas.microsoft.com/office/powerpoint/2010/main" val="8914300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7AA7B-DB5A-941E-9DB2-E6D9D3870363}"/>
              </a:ext>
            </a:extLst>
          </p:cNvPr>
          <p:cNvSpPr>
            <a:spLocks noGrp="1"/>
          </p:cNvSpPr>
          <p:nvPr>
            <p:ph type="ctrTitle"/>
          </p:nvPr>
        </p:nvSpPr>
        <p:spPr>
          <a:xfrm>
            <a:off x="862781" y="1032387"/>
            <a:ext cx="10466438" cy="1285569"/>
          </a:xfrm>
        </p:spPr>
        <p:txBody>
          <a:bodyPr>
            <a:noAutofit/>
          </a:bodyPr>
          <a:lstStyle/>
          <a:p>
            <a:r>
              <a:rPr lang="en-US" sz="3600" b="1" dirty="0">
                <a:latin typeface="Times New Roman" panose="02020603050405020304" pitchFamily="18" charset="0"/>
                <a:cs typeface="Times New Roman" panose="02020603050405020304" pitchFamily="18" charset="0"/>
              </a:rPr>
              <a:t>Design and Study of a Human-Human Interaction System to Control the Movement of Paralyzed Hand</a:t>
            </a:r>
          </a:p>
        </p:txBody>
      </p:sp>
      <p:sp>
        <p:nvSpPr>
          <p:cNvPr id="3" name="Subtitle 2">
            <a:extLst>
              <a:ext uri="{FF2B5EF4-FFF2-40B4-BE49-F238E27FC236}">
                <a16:creationId xmlns:a16="http://schemas.microsoft.com/office/drawing/2014/main" id="{46A09204-78D4-7D7A-FA0C-363E15DD9CD6}"/>
              </a:ext>
            </a:extLst>
          </p:cNvPr>
          <p:cNvSpPr>
            <a:spLocks noGrp="1"/>
          </p:cNvSpPr>
          <p:nvPr>
            <p:ph type="subTitle" idx="1"/>
          </p:nvPr>
        </p:nvSpPr>
        <p:spPr>
          <a:xfrm>
            <a:off x="1524000" y="2923612"/>
            <a:ext cx="9144000" cy="3369033"/>
          </a:xfrm>
        </p:spPr>
        <p:txBody>
          <a:bodyPr>
            <a:normAutofit lnSpcReduction="10000"/>
          </a:bodyPr>
          <a:lstStyle/>
          <a:p>
            <a:r>
              <a:rPr lang="en-US" dirty="0">
                <a:latin typeface="Times New Roman" panose="02020603050405020304" pitchFamily="18" charset="0"/>
                <a:cs typeface="Times New Roman" panose="02020603050405020304" pitchFamily="18" charset="0"/>
              </a:rPr>
              <a:t>Presented by</a:t>
            </a:r>
          </a:p>
          <a:p>
            <a:r>
              <a:rPr lang="en-US" b="1" dirty="0">
                <a:latin typeface="Times New Roman" panose="02020603050405020304" pitchFamily="18" charset="0"/>
                <a:cs typeface="Times New Roman" panose="02020603050405020304" pitchFamily="18" charset="0"/>
              </a:rPr>
              <a:t>Ankita Giroti</a:t>
            </a:r>
          </a:p>
          <a:p>
            <a:r>
              <a:rPr lang="en-US" dirty="0">
                <a:latin typeface="Times New Roman" panose="02020603050405020304" pitchFamily="18" charset="0"/>
                <a:cs typeface="Times New Roman" panose="02020603050405020304" pitchFamily="18" charset="0"/>
              </a:rPr>
              <a:t>M. Sc. Semester III</a:t>
            </a:r>
          </a:p>
          <a:p>
            <a:r>
              <a:rPr lang="en-US" dirty="0">
                <a:latin typeface="Times New Roman" panose="02020603050405020304" pitchFamily="18" charset="0"/>
                <a:cs typeface="Times New Roman" panose="02020603050405020304" pitchFamily="18" charset="0"/>
              </a:rPr>
              <a:t>Under the Guidance of </a:t>
            </a:r>
          </a:p>
          <a:p>
            <a:r>
              <a:rPr lang="en-US" b="1" dirty="0">
                <a:latin typeface="Times New Roman" panose="02020603050405020304" pitchFamily="18" charset="0"/>
                <a:cs typeface="Times New Roman" panose="02020603050405020304" pitchFamily="18" charset="0"/>
              </a:rPr>
              <a:t>Dr. Mrs. A. D. Sakhare</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Department of Electronics and Computer Science, </a:t>
            </a:r>
          </a:p>
          <a:p>
            <a:r>
              <a:rPr lang="en-US" dirty="0" err="1">
                <a:latin typeface="Times New Roman" panose="02020603050405020304" pitchFamily="18" charset="0"/>
                <a:cs typeface="Times New Roman" panose="02020603050405020304" pitchFamily="18" charset="0"/>
              </a:rPr>
              <a:t>Rashtrasant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Tukadoji</a:t>
            </a:r>
            <a:r>
              <a:rPr lang="en-US" dirty="0">
                <a:latin typeface="Times New Roman" panose="02020603050405020304" pitchFamily="18" charset="0"/>
                <a:cs typeface="Times New Roman" panose="02020603050405020304" pitchFamily="18" charset="0"/>
              </a:rPr>
              <a:t> Maharaj Nagpur University, Nagpur</a:t>
            </a:r>
          </a:p>
        </p:txBody>
      </p:sp>
    </p:spTree>
    <p:extLst>
      <p:ext uri="{BB962C8B-B14F-4D97-AF65-F5344CB8AC3E}">
        <p14:creationId xmlns:p14="http://schemas.microsoft.com/office/powerpoint/2010/main" val="2526871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4260A-55F5-A37E-D223-F83DA2775A42}"/>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Contents </a:t>
            </a:r>
          </a:p>
        </p:txBody>
      </p:sp>
      <p:sp>
        <p:nvSpPr>
          <p:cNvPr id="3" name="Content Placeholder 2">
            <a:extLst>
              <a:ext uri="{FF2B5EF4-FFF2-40B4-BE49-F238E27FC236}">
                <a16:creationId xmlns:a16="http://schemas.microsoft.com/office/drawing/2014/main" id="{9E361D64-F7FC-AF7E-AB97-246C5737D4EE}"/>
              </a:ext>
            </a:extLst>
          </p:cNvPr>
          <p:cNvSpPr>
            <a:spLocks noGrp="1"/>
          </p:cNvSpPr>
          <p:nvPr>
            <p:ph idx="1"/>
          </p:nvPr>
        </p:nvSpPr>
        <p:spPr>
          <a:xfrm>
            <a:off x="838200" y="1592364"/>
            <a:ext cx="10515600" cy="5103403"/>
          </a:xfrm>
        </p:spPr>
        <p:txBody>
          <a:bodyPr>
            <a:normAutofit fontScale="85000" lnSpcReduction="20000"/>
          </a:bodyPr>
          <a:lstStyle/>
          <a:p>
            <a:pPr>
              <a:lnSpc>
                <a:spcPct val="120000"/>
              </a:lnSpc>
            </a:pPr>
            <a:r>
              <a:rPr lang="en-US" dirty="0">
                <a:latin typeface="Times New Roman" panose="02020603050405020304" pitchFamily="18" charset="0"/>
                <a:cs typeface="Times New Roman" panose="02020603050405020304" pitchFamily="18" charset="0"/>
              </a:rPr>
              <a:t>Background</a:t>
            </a:r>
          </a:p>
          <a:p>
            <a:pPr>
              <a:lnSpc>
                <a:spcPct val="120000"/>
              </a:lnSpc>
            </a:pPr>
            <a:r>
              <a:rPr lang="en-US" dirty="0">
                <a:latin typeface="Times New Roman" panose="02020603050405020304" pitchFamily="18" charset="0"/>
                <a:cs typeface="Times New Roman" panose="02020603050405020304" pitchFamily="18" charset="0"/>
              </a:rPr>
              <a:t>Literature Review</a:t>
            </a:r>
          </a:p>
          <a:p>
            <a:pPr>
              <a:lnSpc>
                <a:spcPct val="120000"/>
              </a:lnSpc>
            </a:pPr>
            <a:r>
              <a:rPr lang="en-US" dirty="0">
                <a:latin typeface="Times New Roman" panose="02020603050405020304" pitchFamily="18" charset="0"/>
                <a:cs typeface="Times New Roman" panose="02020603050405020304" pitchFamily="18" charset="0"/>
              </a:rPr>
              <a:t>Problem Statement and Definition</a:t>
            </a:r>
          </a:p>
          <a:p>
            <a:pPr>
              <a:lnSpc>
                <a:spcPct val="120000"/>
              </a:lnSpc>
            </a:pPr>
            <a:r>
              <a:rPr lang="en-US" dirty="0">
                <a:latin typeface="Times New Roman" panose="02020603050405020304" pitchFamily="18" charset="0"/>
                <a:cs typeface="Times New Roman" panose="02020603050405020304" pitchFamily="18" charset="0"/>
              </a:rPr>
              <a:t>Significance of Present Work</a:t>
            </a:r>
          </a:p>
          <a:p>
            <a:pPr>
              <a:lnSpc>
                <a:spcPct val="120000"/>
              </a:lnSpc>
            </a:pPr>
            <a:r>
              <a:rPr lang="en-US" dirty="0">
                <a:latin typeface="Times New Roman" panose="02020603050405020304" pitchFamily="18" charset="0"/>
                <a:cs typeface="Times New Roman" panose="02020603050405020304" pitchFamily="18" charset="0"/>
              </a:rPr>
              <a:t>Objectives of the Present Work</a:t>
            </a:r>
          </a:p>
          <a:p>
            <a:pPr>
              <a:lnSpc>
                <a:spcPct val="120000"/>
              </a:lnSpc>
            </a:pPr>
            <a:r>
              <a:rPr lang="en-US" dirty="0">
                <a:latin typeface="Times New Roman" panose="02020603050405020304" pitchFamily="18" charset="0"/>
                <a:cs typeface="Times New Roman" panose="02020603050405020304" pitchFamily="18" charset="0"/>
              </a:rPr>
              <a:t>Orientation of the Present Work</a:t>
            </a:r>
          </a:p>
          <a:p>
            <a:pPr>
              <a:lnSpc>
                <a:spcPct val="120000"/>
              </a:lnSpc>
            </a:pPr>
            <a:r>
              <a:rPr lang="en-US" dirty="0">
                <a:solidFill>
                  <a:schemeClr val="dk1"/>
                </a:solidFill>
                <a:latin typeface="Times New Roman"/>
                <a:ea typeface="Times New Roman"/>
                <a:cs typeface="Times New Roman"/>
                <a:sym typeface="Times New Roman"/>
              </a:rPr>
              <a:t>Requirement Specification</a:t>
            </a:r>
          </a:p>
          <a:p>
            <a:pPr>
              <a:lnSpc>
                <a:spcPct val="120000"/>
              </a:lnSpc>
            </a:pPr>
            <a:r>
              <a:rPr lang="en-US" dirty="0">
                <a:solidFill>
                  <a:schemeClr val="dk1"/>
                </a:solidFill>
                <a:latin typeface="Times New Roman"/>
                <a:ea typeface="Times New Roman"/>
                <a:cs typeface="Times New Roman"/>
                <a:sym typeface="Times New Roman"/>
              </a:rPr>
              <a:t>Planning and Scheduling</a:t>
            </a:r>
          </a:p>
          <a:p>
            <a:pPr>
              <a:lnSpc>
                <a:spcPct val="120000"/>
              </a:lnSpc>
            </a:pPr>
            <a:r>
              <a:rPr lang="en-US" dirty="0">
                <a:solidFill>
                  <a:schemeClr val="dk1"/>
                </a:solidFill>
                <a:latin typeface="Times New Roman"/>
                <a:ea typeface="Times New Roman"/>
                <a:cs typeface="Times New Roman"/>
                <a:sym typeface="Times New Roman"/>
              </a:rPr>
              <a:t>Methodology</a:t>
            </a:r>
            <a:endParaRPr lang="en-US" dirty="0">
              <a:latin typeface="Times New Roman" panose="02020603050405020304" pitchFamily="18" charset="0"/>
              <a:cs typeface="Times New Roman" panose="02020603050405020304" pitchFamily="18" charset="0"/>
            </a:endParaRPr>
          </a:p>
          <a:p>
            <a:pPr>
              <a:lnSpc>
                <a:spcPct val="120000"/>
              </a:lnSpc>
            </a:pPr>
            <a:r>
              <a:rPr lang="en-US" dirty="0">
                <a:latin typeface="Times New Roman" panose="02020603050405020304" pitchFamily="18" charset="0"/>
                <a:cs typeface="Times New Roman" panose="02020603050405020304" pitchFamily="18" charset="0"/>
              </a:rPr>
              <a:t>References </a:t>
            </a:r>
          </a:p>
        </p:txBody>
      </p:sp>
    </p:spTree>
    <p:extLst>
      <p:ext uri="{BB962C8B-B14F-4D97-AF65-F5344CB8AC3E}">
        <p14:creationId xmlns:p14="http://schemas.microsoft.com/office/powerpoint/2010/main" val="2670053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BA4E8-580A-C45F-E230-C20F4647AFF5}"/>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Background  </a:t>
            </a:r>
          </a:p>
        </p:txBody>
      </p:sp>
      <p:sp>
        <p:nvSpPr>
          <p:cNvPr id="3" name="Content Placeholder 2">
            <a:extLst>
              <a:ext uri="{FF2B5EF4-FFF2-40B4-BE49-F238E27FC236}">
                <a16:creationId xmlns:a16="http://schemas.microsoft.com/office/drawing/2014/main" id="{D76D71F8-689D-8E61-F177-BCF69BBAF19E}"/>
              </a:ext>
            </a:extLst>
          </p:cNvPr>
          <p:cNvSpPr>
            <a:spLocks noGrp="1"/>
          </p:cNvSpPr>
          <p:nvPr>
            <p:ph idx="1"/>
          </p:nvPr>
        </p:nvSpPr>
        <p:spPr/>
        <p:txBody>
          <a:bodyPr>
            <a:normAutofit/>
          </a:bodyPr>
          <a:lstStyle/>
          <a:p>
            <a:pPr algn="just">
              <a:lnSpc>
                <a:spcPct val="150000"/>
              </a:lnSpc>
            </a:pPr>
            <a:r>
              <a:rPr lang="en-US" sz="2600" dirty="0">
                <a:latin typeface="Times New Roman" panose="02020603050405020304" pitchFamily="18" charset="0"/>
                <a:cs typeface="Times New Roman" panose="02020603050405020304" pitchFamily="18" charset="0"/>
              </a:rPr>
              <a:t>Arm and hand paralysis can lead to permanent damage if does not treated properly</a:t>
            </a:r>
          </a:p>
          <a:p>
            <a:pPr algn="just">
              <a:lnSpc>
                <a:spcPct val="150000"/>
              </a:lnSpc>
            </a:pPr>
            <a:r>
              <a:rPr lang="en-US" sz="2600" dirty="0">
                <a:latin typeface="Times New Roman" panose="02020603050405020304" pitchFamily="18" charset="0"/>
                <a:cs typeface="Times New Roman" panose="02020603050405020304" pitchFamily="18" charset="0"/>
              </a:rPr>
              <a:t>Traditional methods can be used (like mirror therapy) to regain muscle strength, but are not that effective</a:t>
            </a:r>
          </a:p>
          <a:p>
            <a:pPr algn="just">
              <a:lnSpc>
                <a:spcPct val="150000"/>
              </a:lnSpc>
            </a:pPr>
            <a:r>
              <a:rPr lang="en-US" sz="2600" dirty="0">
                <a:latin typeface="Times New Roman" panose="02020603050405020304" pitchFamily="18" charset="0"/>
                <a:cs typeface="Times New Roman" panose="02020603050405020304" pitchFamily="18" charset="0"/>
              </a:rPr>
              <a:t>A system can be designed to control the moves of the patient with hand paralysis by replicating  the therapist actions</a:t>
            </a:r>
          </a:p>
        </p:txBody>
      </p:sp>
    </p:spTree>
    <p:extLst>
      <p:ext uri="{BB962C8B-B14F-4D97-AF65-F5344CB8AC3E}">
        <p14:creationId xmlns:p14="http://schemas.microsoft.com/office/powerpoint/2010/main" val="2856713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10EE4-8E47-E8A8-84F0-BF89EDB800F7}"/>
              </a:ext>
            </a:extLst>
          </p:cNvPr>
          <p:cNvSpPr>
            <a:spLocks noGrp="1"/>
          </p:cNvSpPr>
          <p:nvPr>
            <p:ph type="title"/>
          </p:nvPr>
        </p:nvSpPr>
        <p:spPr>
          <a:xfrm>
            <a:off x="383458" y="227473"/>
            <a:ext cx="10515600" cy="795081"/>
          </a:xfrm>
        </p:spPr>
        <p:txBody>
          <a:bodyPr>
            <a:normAutofit/>
          </a:bodyPr>
          <a:lstStyle/>
          <a:p>
            <a:r>
              <a:rPr lang="en-US" sz="4000" b="1" dirty="0">
                <a:latin typeface="Times New Roman" panose="02020603050405020304" pitchFamily="18" charset="0"/>
                <a:cs typeface="Times New Roman" panose="02020603050405020304" pitchFamily="18" charset="0"/>
              </a:rPr>
              <a:t>Literature Review</a:t>
            </a:r>
          </a:p>
        </p:txBody>
      </p:sp>
      <p:graphicFrame>
        <p:nvGraphicFramePr>
          <p:cNvPr id="3" name="Table 2">
            <a:extLst>
              <a:ext uri="{FF2B5EF4-FFF2-40B4-BE49-F238E27FC236}">
                <a16:creationId xmlns:a16="http://schemas.microsoft.com/office/drawing/2014/main" id="{2E5E1A5A-A1A9-30A3-C886-4AE20CEE5F19}"/>
              </a:ext>
            </a:extLst>
          </p:cNvPr>
          <p:cNvGraphicFramePr>
            <a:graphicFrameLocks noGrp="1"/>
          </p:cNvGraphicFramePr>
          <p:nvPr>
            <p:extLst>
              <p:ext uri="{D42A27DB-BD31-4B8C-83A1-F6EECF244321}">
                <p14:modId xmlns:p14="http://schemas.microsoft.com/office/powerpoint/2010/main" val="1339775704"/>
              </p:ext>
            </p:extLst>
          </p:nvPr>
        </p:nvGraphicFramePr>
        <p:xfrm>
          <a:off x="383458" y="1022554"/>
          <a:ext cx="11425084" cy="5074484"/>
        </p:xfrm>
        <a:graphic>
          <a:graphicData uri="http://schemas.openxmlformats.org/drawingml/2006/table">
            <a:tbl>
              <a:tblPr firstRow="1" bandRow="1">
                <a:tableStyleId>{5940675A-B579-460E-94D1-54222C63F5DA}</a:tableStyleId>
              </a:tblPr>
              <a:tblGrid>
                <a:gridCol w="862624">
                  <a:extLst>
                    <a:ext uri="{9D8B030D-6E8A-4147-A177-3AD203B41FA5}">
                      <a16:colId xmlns:a16="http://schemas.microsoft.com/office/drawing/2014/main" val="953839930"/>
                    </a:ext>
                  </a:extLst>
                </a:gridCol>
                <a:gridCol w="2805413">
                  <a:extLst>
                    <a:ext uri="{9D8B030D-6E8A-4147-A177-3AD203B41FA5}">
                      <a16:colId xmlns:a16="http://schemas.microsoft.com/office/drawing/2014/main" val="925246630"/>
                    </a:ext>
                  </a:extLst>
                </a:gridCol>
                <a:gridCol w="2236763">
                  <a:extLst>
                    <a:ext uri="{9D8B030D-6E8A-4147-A177-3AD203B41FA5}">
                      <a16:colId xmlns:a16="http://schemas.microsoft.com/office/drawing/2014/main" val="1563842135"/>
                    </a:ext>
                  </a:extLst>
                </a:gridCol>
                <a:gridCol w="2124222">
                  <a:extLst>
                    <a:ext uri="{9D8B030D-6E8A-4147-A177-3AD203B41FA5}">
                      <a16:colId xmlns:a16="http://schemas.microsoft.com/office/drawing/2014/main" val="2663004866"/>
                    </a:ext>
                  </a:extLst>
                </a:gridCol>
                <a:gridCol w="3396062">
                  <a:extLst>
                    <a:ext uri="{9D8B030D-6E8A-4147-A177-3AD203B41FA5}">
                      <a16:colId xmlns:a16="http://schemas.microsoft.com/office/drawing/2014/main" val="3169655752"/>
                    </a:ext>
                  </a:extLst>
                </a:gridCol>
              </a:tblGrid>
              <a:tr h="411044">
                <a:tc>
                  <a:txBody>
                    <a:bodyPr/>
                    <a:lstStyle/>
                    <a:p>
                      <a:r>
                        <a:rPr lang="en-US" sz="1600" b="1" dirty="0"/>
                        <a:t>Sr. No.</a:t>
                      </a: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Title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Author</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Source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Description</a:t>
                      </a:r>
                      <a:r>
                        <a:rPr lang="en-US" sz="1600" dirty="0"/>
                        <a:t> </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4366022"/>
                  </a:ext>
                </a:extLst>
              </a:tr>
              <a:tr h="370840">
                <a:tc>
                  <a:txBody>
                    <a:bodyPr/>
                    <a:lstStyle/>
                    <a:p>
                      <a:r>
                        <a:rPr lang="en-US" sz="1600" dirty="0"/>
                        <a:t>1</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Machine Learning for Detection of Muscular Activity from Surface EMG Signals</a:t>
                      </a:r>
                      <a:endParaRPr lang="en-US" sz="140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Francesco Di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Nardo</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Antonio Nocera, Alessandro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Cucchiarelli</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Sandro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Fioretti</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and Christian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Morbidoni</a:t>
                      </a: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Sensors, </a:t>
                      </a:r>
                      <a:r>
                        <a:rPr lang="en-US" sz="1600" kern="0" dirty="0">
                          <a:effectLst/>
                          <a:latin typeface="Times New Roman" panose="02020603050405020304" pitchFamily="18" charset="0"/>
                          <a:ea typeface="Calibri" panose="020F0502020204030204" pitchFamily="34" charset="0"/>
                          <a:cs typeface="Times New Roman" panose="02020603050405020304" pitchFamily="18" charset="0"/>
                        </a:rPr>
                        <a:t>1(1), pp. 1-4, 2022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Used surface EMG to detect muscle contraction. The proposed system predicted onset/offset timing of muscular recruitment of the machine learning based methods.</a:t>
                      </a:r>
                    </a:p>
                  </a:txBody>
                  <a:tcPr/>
                </a:tc>
                <a:extLst>
                  <a:ext uri="{0D108BD9-81ED-4DB2-BD59-A6C34878D82A}">
                    <a16:rowId xmlns:a16="http://schemas.microsoft.com/office/drawing/2014/main" val="2326309122"/>
                  </a:ext>
                </a:extLst>
              </a:tr>
              <a:tr h="370840">
                <a:tc>
                  <a:txBody>
                    <a:bodyPr/>
                    <a:lstStyle/>
                    <a:p>
                      <a:r>
                        <a:rPr lang="en-US" sz="1600" dirty="0">
                          <a:latin typeface="Times New Roman" panose="02020603050405020304" pitchFamily="18" charset="0"/>
                          <a:cs typeface="Times New Roman" panose="02020603050405020304" pitchFamily="18" charset="0"/>
                        </a:rPr>
                        <a:t>2</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Design of an Exoskeleton for Hand Rehabilitation</a:t>
                      </a:r>
                      <a:endParaRPr lang="en-US" sz="140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Ankita L.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Dharmik</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a:t>
                      </a:r>
                    </a:p>
                    <a:p>
                      <a:r>
                        <a:rPr lang="en-US" sz="1600" kern="1200" dirty="0">
                          <a:solidFill>
                            <a:schemeClr val="tx1"/>
                          </a:solidFill>
                          <a:effectLst/>
                          <a:latin typeface="Times New Roman" panose="02020603050405020304" pitchFamily="18" charset="0"/>
                          <a:ea typeface="+mn-ea"/>
                          <a:cs typeface="Times New Roman" panose="02020603050405020304" pitchFamily="18" charset="0"/>
                        </a:rPr>
                        <a:t>S. K. Atre, S. J. Sharma</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IEEE Conference and Interdisciplinary Approach in Technology and Management for Social Innovation (IATMS), </a:t>
                      </a:r>
                      <a:r>
                        <a:rPr lang="en-US" sz="1600" kern="0" dirty="0">
                          <a:effectLst/>
                          <a:latin typeface="Times New Roman" panose="02020603050405020304" pitchFamily="18" charset="0"/>
                          <a:ea typeface="Calibri" panose="020F0502020204030204" pitchFamily="34" charset="0"/>
                          <a:cs typeface="Times New Roman" panose="02020603050405020304" pitchFamily="18" charset="0"/>
                        </a:rPr>
                        <a:t>1(1), pp. </a:t>
                      </a:r>
                      <a:r>
                        <a:rPr lang="en-US" sz="1600" kern="0">
                          <a:effectLst/>
                          <a:latin typeface="Times New Roman" panose="02020603050405020304" pitchFamily="18" charset="0"/>
                          <a:ea typeface="Calibri" panose="020F0502020204030204" pitchFamily="34" charset="0"/>
                          <a:cs typeface="Times New Roman" panose="02020603050405020304" pitchFamily="18" charset="0"/>
                        </a:rPr>
                        <a:t>1-4, 2022 </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An exoskeleton was designed to assist a person with disability using EMG sensor to acquire signals from the muscles and convert into voltage. Microcontroller was programmed to rotate servo motor.</a:t>
                      </a:r>
                    </a:p>
                  </a:txBody>
                  <a:tcPr/>
                </a:tc>
                <a:extLst>
                  <a:ext uri="{0D108BD9-81ED-4DB2-BD59-A6C34878D82A}">
                    <a16:rowId xmlns:a16="http://schemas.microsoft.com/office/drawing/2014/main" val="430516258"/>
                  </a:ext>
                </a:extLst>
              </a:tr>
              <a:tr h="370840">
                <a:tc>
                  <a:txBody>
                    <a:bodyPr/>
                    <a:lstStyle/>
                    <a:p>
                      <a:r>
                        <a:rPr lang="en-US" sz="1600" dirty="0">
                          <a:latin typeface="Times New Roman" panose="02020603050405020304" pitchFamily="18" charset="0"/>
                          <a:cs typeface="Times New Roman" panose="02020603050405020304" pitchFamily="18" charset="0"/>
                        </a:rPr>
                        <a:t>3</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Explainable Machine Learning Techniques to Predict Muscle Injuries in Professional Soccer Players through Biomechanical Analysis</a:t>
                      </a:r>
                      <a:endParaRPr lang="en-US" sz="1400" b="0" dirty="0">
                        <a:latin typeface="Times New Roman" panose="02020603050405020304" pitchFamily="18" charset="0"/>
                        <a:cs typeface="Times New Roman" panose="02020603050405020304" pitchFamily="18" charset="0"/>
                      </a:endParaRPr>
                    </a:p>
                  </a:txBody>
                  <a:tcPr/>
                </a:tc>
                <a:tc>
                  <a:txBody>
                    <a:bodyPr/>
                    <a:lstStyle/>
                    <a:p>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Mailyn</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Calderon-Diaz, Rony Silvestre Aguirre, Juan P.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Vasconez</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Roberto Yanez, Matias Roby, Marvin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Querales</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Rodrigo Salas</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Sensors, </a:t>
                      </a:r>
                      <a:r>
                        <a:rPr lang="en-US" sz="1600" kern="0" dirty="0">
                          <a:effectLst/>
                          <a:latin typeface="Times New Roman" panose="02020603050405020304" pitchFamily="18" charset="0"/>
                          <a:ea typeface="Calibri" panose="020F0502020204030204" pitchFamily="34" charset="0"/>
                          <a:cs typeface="Times New Roman" panose="02020603050405020304" pitchFamily="18" charset="0"/>
                        </a:rPr>
                        <a:t>24(119), pp. 1-13, 2024</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Paper presented a Hamstring strain injury detection technique using various Machine Learning techniques to find the accurate result.</a:t>
                      </a:r>
                    </a:p>
                  </a:txBody>
                  <a:tcPr/>
                </a:tc>
                <a:extLst>
                  <a:ext uri="{0D108BD9-81ED-4DB2-BD59-A6C34878D82A}">
                    <a16:rowId xmlns:a16="http://schemas.microsoft.com/office/drawing/2014/main" val="1219722590"/>
                  </a:ext>
                </a:extLst>
              </a:tr>
            </a:tbl>
          </a:graphicData>
        </a:graphic>
      </p:graphicFrame>
    </p:spTree>
    <p:extLst>
      <p:ext uri="{BB962C8B-B14F-4D97-AF65-F5344CB8AC3E}">
        <p14:creationId xmlns:p14="http://schemas.microsoft.com/office/powerpoint/2010/main" val="3829005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10EE4-8E47-E8A8-84F0-BF89EDB800F7}"/>
              </a:ext>
            </a:extLst>
          </p:cNvPr>
          <p:cNvSpPr>
            <a:spLocks noGrp="1"/>
          </p:cNvSpPr>
          <p:nvPr>
            <p:ph type="title"/>
          </p:nvPr>
        </p:nvSpPr>
        <p:spPr>
          <a:xfrm>
            <a:off x="749709" y="610266"/>
            <a:ext cx="10515600" cy="795081"/>
          </a:xfrm>
        </p:spPr>
        <p:txBody>
          <a:bodyPr>
            <a:normAutofit/>
          </a:bodyPr>
          <a:lstStyle/>
          <a:p>
            <a:r>
              <a:rPr lang="en-US" sz="4000" b="1" dirty="0">
                <a:latin typeface="Times New Roman" panose="02020603050405020304" pitchFamily="18" charset="0"/>
                <a:cs typeface="Times New Roman" panose="02020603050405020304" pitchFamily="18" charset="0"/>
              </a:rPr>
              <a:t>Literature Review</a:t>
            </a:r>
          </a:p>
        </p:txBody>
      </p:sp>
      <p:graphicFrame>
        <p:nvGraphicFramePr>
          <p:cNvPr id="3" name="Table 2">
            <a:extLst>
              <a:ext uri="{FF2B5EF4-FFF2-40B4-BE49-F238E27FC236}">
                <a16:creationId xmlns:a16="http://schemas.microsoft.com/office/drawing/2014/main" id="{2E5E1A5A-A1A9-30A3-C886-4AE20CEE5F19}"/>
              </a:ext>
            </a:extLst>
          </p:cNvPr>
          <p:cNvGraphicFramePr>
            <a:graphicFrameLocks noGrp="1"/>
          </p:cNvGraphicFramePr>
          <p:nvPr>
            <p:extLst>
              <p:ext uri="{D42A27DB-BD31-4B8C-83A1-F6EECF244321}">
                <p14:modId xmlns:p14="http://schemas.microsoft.com/office/powerpoint/2010/main" val="2418512253"/>
              </p:ext>
            </p:extLst>
          </p:nvPr>
        </p:nvGraphicFramePr>
        <p:xfrm>
          <a:off x="838200" y="1671482"/>
          <a:ext cx="10515600" cy="4178711"/>
        </p:xfrm>
        <a:graphic>
          <a:graphicData uri="http://schemas.openxmlformats.org/drawingml/2006/table">
            <a:tbl>
              <a:tblPr firstRow="1" bandRow="1">
                <a:tableStyleId>{5940675A-B579-460E-94D1-54222C63F5DA}</a:tableStyleId>
              </a:tblPr>
              <a:tblGrid>
                <a:gridCol w="793956">
                  <a:extLst>
                    <a:ext uri="{9D8B030D-6E8A-4147-A177-3AD203B41FA5}">
                      <a16:colId xmlns:a16="http://schemas.microsoft.com/office/drawing/2014/main" val="953839930"/>
                    </a:ext>
                  </a:extLst>
                </a:gridCol>
                <a:gridCol w="2743200">
                  <a:extLst>
                    <a:ext uri="{9D8B030D-6E8A-4147-A177-3AD203B41FA5}">
                      <a16:colId xmlns:a16="http://schemas.microsoft.com/office/drawing/2014/main" val="925246630"/>
                    </a:ext>
                  </a:extLst>
                </a:gridCol>
                <a:gridCol w="1744090">
                  <a:extLst>
                    <a:ext uri="{9D8B030D-6E8A-4147-A177-3AD203B41FA5}">
                      <a16:colId xmlns:a16="http://schemas.microsoft.com/office/drawing/2014/main" val="1563842135"/>
                    </a:ext>
                  </a:extLst>
                </a:gridCol>
                <a:gridCol w="2025748">
                  <a:extLst>
                    <a:ext uri="{9D8B030D-6E8A-4147-A177-3AD203B41FA5}">
                      <a16:colId xmlns:a16="http://schemas.microsoft.com/office/drawing/2014/main" val="2663004866"/>
                    </a:ext>
                  </a:extLst>
                </a:gridCol>
                <a:gridCol w="3208606">
                  <a:extLst>
                    <a:ext uri="{9D8B030D-6E8A-4147-A177-3AD203B41FA5}">
                      <a16:colId xmlns:a16="http://schemas.microsoft.com/office/drawing/2014/main" val="3169655752"/>
                    </a:ext>
                  </a:extLst>
                </a:gridCol>
              </a:tblGrid>
              <a:tr h="456351">
                <a:tc>
                  <a:txBody>
                    <a:bodyPr/>
                    <a:lstStyle/>
                    <a:p>
                      <a:r>
                        <a:rPr lang="en-US" sz="1600" b="1" dirty="0"/>
                        <a:t>Sr. No.</a:t>
                      </a: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Title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Author</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Source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Description</a:t>
                      </a:r>
                      <a:r>
                        <a:rPr lang="en-US" sz="1600" dirty="0"/>
                        <a:t> </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4366022"/>
                  </a:ext>
                </a:extLst>
              </a:tr>
              <a:tr h="1725821">
                <a:tc>
                  <a:txBody>
                    <a:bodyPr/>
                    <a:lstStyle/>
                    <a:p>
                      <a:r>
                        <a:rPr lang="en-US" sz="1600" dirty="0">
                          <a:latin typeface="Times New Roman" panose="02020603050405020304" pitchFamily="18" charset="0"/>
                          <a:cs typeface="Times New Roman" panose="02020603050405020304" pitchFamily="18" charset="0"/>
                        </a:rPr>
                        <a:t>4</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I Want to Control Your Move: Human-Human Interface (HHI) Neuromuscular Electrical Stimulator (NMES)</a:t>
                      </a:r>
                      <a:endParaRPr lang="en-US" sz="120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Ching Yee YONG and Terence Tien Lok SIA</a:t>
                      </a:r>
                      <a:endParaRPr lang="en-US" sz="120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Conference of Electronics, Communication and Networks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CECNet</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600" kern="0" dirty="0">
                          <a:effectLst/>
                          <a:latin typeface="Times New Roman" panose="02020603050405020304" pitchFamily="18" charset="0"/>
                          <a:ea typeface="Calibri" panose="020F0502020204030204" pitchFamily="34" charset="0"/>
                          <a:cs typeface="Times New Roman" panose="02020603050405020304" pitchFamily="18" charset="0"/>
                        </a:rPr>
                        <a:t>1(1), pp. 724-730, 2022</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The system implemented Neuromuscular Electrical Stimulator (NMES) integrated with Human-Human Interaction (HHI)</a:t>
                      </a:r>
                      <a:r>
                        <a:rPr lang="en-US" sz="1600" b="0" dirty="0">
                          <a:latin typeface="Times New Roman" panose="02020603050405020304" pitchFamily="18" charset="0"/>
                          <a:cs typeface="Times New Roman" panose="02020603050405020304" pitchFamily="18" charset="0"/>
                        </a:rPr>
                        <a:t> for hand rehabilitation using IoT.</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6309122"/>
                  </a:ext>
                </a:extLst>
              </a:tr>
              <a:tr h="1996539">
                <a:tc>
                  <a:txBody>
                    <a:bodyPr/>
                    <a:lstStyle/>
                    <a:p>
                      <a:r>
                        <a:rPr lang="en-US" sz="1600" dirty="0">
                          <a:latin typeface="Times New Roman" panose="02020603050405020304" pitchFamily="18" charset="0"/>
                          <a:cs typeface="Times New Roman" panose="02020603050405020304" pitchFamily="18" charset="0"/>
                        </a:rPr>
                        <a:t>5</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A Systematic Review of EMG Applications for the Characterization of Forearm and Hand Muscle Activity during Activities of Daily Living: Results, Challenges, and Open Issues</a:t>
                      </a:r>
                      <a:endParaRPr lang="en-US" sz="120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Nestor J. Jarque-Bou, Joaquin L.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Sanche-Bau</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Margarita Vergara</a:t>
                      </a:r>
                      <a:endParaRPr lang="en-US" sz="12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Sensors, </a:t>
                      </a:r>
                      <a:r>
                        <a:rPr lang="en-US" sz="1600" kern="0" dirty="0">
                          <a:effectLst/>
                          <a:latin typeface="Times New Roman" panose="02020603050405020304" pitchFamily="18" charset="0"/>
                          <a:ea typeface="Calibri" panose="020F0502020204030204" pitchFamily="34" charset="0"/>
                          <a:cs typeface="Times New Roman" panose="02020603050405020304" pitchFamily="18" charset="0"/>
                        </a:rPr>
                        <a:t>24(119), pp. 1-13, 2024</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The paper had studied EMG to characterized muscle activity of the hand. It focuses on human hand behavior , improve rehabilitation, control prothesis, etc.</a:t>
                      </a:r>
                    </a:p>
                  </a:txBody>
                  <a:tcPr/>
                </a:tc>
                <a:extLst>
                  <a:ext uri="{0D108BD9-81ED-4DB2-BD59-A6C34878D82A}">
                    <a16:rowId xmlns:a16="http://schemas.microsoft.com/office/drawing/2014/main" val="430516258"/>
                  </a:ext>
                </a:extLst>
              </a:tr>
            </a:tbl>
          </a:graphicData>
        </a:graphic>
      </p:graphicFrame>
    </p:spTree>
    <p:extLst>
      <p:ext uri="{BB962C8B-B14F-4D97-AF65-F5344CB8AC3E}">
        <p14:creationId xmlns:p14="http://schemas.microsoft.com/office/powerpoint/2010/main" val="2413168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10EE4-8E47-E8A8-84F0-BF89EDB800F7}"/>
              </a:ext>
            </a:extLst>
          </p:cNvPr>
          <p:cNvSpPr>
            <a:spLocks noGrp="1"/>
          </p:cNvSpPr>
          <p:nvPr>
            <p:ph type="title"/>
          </p:nvPr>
        </p:nvSpPr>
        <p:spPr>
          <a:xfrm>
            <a:off x="83574" y="164174"/>
            <a:ext cx="10515600" cy="795081"/>
          </a:xfrm>
        </p:spPr>
        <p:txBody>
          <a:bodyPr>
            <a:normAutofit/>
          </a:bodyPr>
          <a:lstStyle/>
          <a:p>
            <a:r>
              <a:rPr lang="en-US" sz="4000" b="1" dirty="0">
                <a:latin typeface="Times New Roman" panose="02020603050405020304" pitchFamily="18" charset="0"/>
                <a:cs typeface="Times New Roman" panose="02020603050405020304" pitchFamily="18" charset="0"/>
              </a:rPr>
              <a:t>Literature Review</a:t>
            </a:r>
          </a:p>
        </p:txBody>
      </p:sp>
      <p:graphicFrame>
        <p:nvGraphicFramePr>
          <p:cNvPr id="3" name="Table 2">
            <a:extLst>
              <a:ext uri="{FF2B5EF4-FFF2-40B4-BE49-F238E27FC236}">
                <a16:creationId xmlns:a16="http://schemas.microsoft.com/office/drawing/2014/main" id="{2E5E1A5A-A1A9-30A3-C886-4AE20CEE5F19}"/>
              </a:ext>
            </a:extLst>
          </p:cNvPr>
          <p:cNvGraphicFramePr>
            <a:graphicFrameLocks noGrp="1"/>
          </p:cNvGraphicFramePr>
          <p:nvPr>
            <p:extLst>
              <p:ext uri="{D42A27DB-BD31-4B8C-83A1-F6EECF244321}">
                <p14:modId xmlns:p14="http://schemas.microsoft.com/office/powerpoint/2010/main" val="3681769419"/>
              </p:ext>
            </p:extLst>
          </p:nvPr>
        </p:nvGraphicFramePr>
        <p:xfrm>
          <a:off x="162232" y="959255"/>
          <a:ext cx="11867536" cy="5636828"/>
        </p:xfrm>
        <a:graphic>
          <a:graphicData uri="http://schemas.openxmlformats.org/drawingml/2006/table">
            <a:tbl>
              <a:tblPr firstRow="1" bandRow="1">
                <a:tableStyleId>{5940675A-B579-460E-94D1-54222C63F5DA}</a:tableStyleId>
              </a:tblPr>
              <a:tblGrid>
                <a:gridCol w="896031">
                  <a:extLst>
                    <a:ext uri="{9D8B030D-6E8A-4147-A177-3AD203B41FA5}">
                      <a16:colId xmlns:a16="http://schemas.microsoft.com/office/drawing/2014/main" val="953839930"/>
                    </a:ext>
                  </a:extLst>
                </a:gridCol>
                <a:gridCol w="2968047">
                  <a:extLst>
                    <a:ext uri="{9D8B030D-6E8A-4147-A177-3AD203B41FA5}">
                      <a16:colId xmlns:a16="http://schemas.microsoft.com/office/drawing/2014/main" val="925246630"/>
                    </a:ext>
                  </a:extLst>
                </a:gridCol>
                <a:gridCol w="2050933">
                  <a:extLst>
                    <a:ext uri="{9D8B030D-6E8A-4147-A177-3AD203B41FA5}">
                      <a16:colId xmlns:a16="http://schemas.microsoft.com/office/drawing/2014/main" val="1563842135"/>
                    </a:ext>
                  </a:extLst>
                </a:gridCol>
                <a:gridCol w="2335237">
                  <a:extLst>
                    <a:ext uri="{9D8B030D-6E8A-4147-A177-3AD203B41FA5}">
                      <a16:colId xmlns:a16="http://schemas.microsoft.com/office/drawing/2014/main" val="2663004866"/>
                    </a:ext>
                  </a:extLst>
                </a:gridCol>
                <a:gridCol w="3617288">
                  <a:extLst>
                    <a:ext uri="{9D8B030D-6E8A-4147-A177-3AD203B41FA5}">
                      <a16:colId xmlns:a16="http://schemas.microsoft.com/office/drawing/2014/main" val="3169655752"/>
                    </a:ext>
                  </a:extLst>
                </a:gridCol>
              </a:tblGrid>
              <a:tr h="463275">
                <a:tc>
                  <a:txBody>
                    <a:bodyPr/>
                    <a:lstStyle/>
                    <a:p>
                      <a:r>
                        <a:rPr lang="en-US" sz="1600" b="1" dirty="0"/>
                        <a:t>Sr. No.</a:t>
                      </a: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Title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Author</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Source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Description</a:t>
                      </a:r>
                      <a:r>
                        <a:rPr lang="en-US" sz="1600" dirty="0"/>
                        <a:t> </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4366022"/>
                  </a:ext>
                </a:extLst>
              </a:tr>
              <a:tr h="1867066">
                <a:tc>
                  <a:txBody>
                    <a:bodyPr/>
                    <a:lstStyle/>
                    <a:p>
                      <a:r>
                        <a:rPr lang="en-US" sz="1600" dirty="0">
                          <a:latin typeface="Times New Roman" panose="02020603050405020304" pitchFamily="18" charset="0"/>
                          <a:cs typeface="Times New Roman" panose="02020603050405020304" pitchFamily="18" charset="0"/>
                        </a:rPr>
                        <a:t>6 </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A New Wrist-forearm Rehabilitation Protocol Integrating Human Biomechanics and SVM-Based Machine Learning for Muscle Fatigue Estimation</a:t>
                      </a:r>
                      <a:endParaRPr lang="en-US" sz="120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Yassine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Bouteraa</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Ismail Ben Abdallah, Khalil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Boukthir</a:t>
                      </a:r>
                      <a:endParaRPr lang="en-US" sz="12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Bioengineering, </a:t>
                      </a:r>
                      <a:r>
                        <a:rPr lang="en-US" sz="1400" kern="0" dirty="0">
                          <a:effectLst/>
                          <a:latin typeface="Times New Roman" panose="02020603050405020304" pitchFamily="18" charset="0"/>
                          <a:ea typeface="Calibri" panose="020F0502020204030204" pitchFamily="34" charset="0"/>
                          <a:cs typeface="Times New Roman" panose="02020603050405020304" pitchFamily="18" charset="0"/>
                        </a:rPr>
                        <a:t>10(219), pp. 1-22, 2023</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 remote rehabilitation system that integrates a IoT based connected robot for wrist and forearm rehabilitation using Support Vector Machine (SVM) to predict muscle strain from the feature extracted from the EMG signals of the patient. </a:t>
                      </a:r>
                    </a:p>
                  </a:txBody>
                  <a:tcPr/>
                </a:tc>
                <a:extLst>
                  <a:ext uri="{0D108BD9-81ED-4DB2-BD59-A6C34878D82A}">
                    <a16:rowId xmlns:a16="http://schemas.microsoft.com/office/drawing/2014/main" val="4001962659"/>
                  </a:ext>
                </a:extLst>
              </a:tr>
              <a:tr h="1477183">
                <a:tc>
                  <a:txBody>
                    <a:bodyPr/>
                    <a:lstStyle/>
                    <a:p>
                      <a:r>
                        <a:rPr lang="en-US" sz="1600" dirty="0">
                          <a:latin typeface="Times New Roman" panose="02020603050405020304" pitchFamily="18" charset="0"/>
                          <a:cs typeface="Times New Roman" panose="02020603050405020304" pitchFamily="18" charset="0"/>
                        </a:rPr>
                        <a:t>7</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IoT Based Cost Efficient Muscle Stimulator for Biomedical Application</a:t>
                      </a:r>
                      <a:endParaRPr lang="en-US" sz="110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Md.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Latifur</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Rahman, Md.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Jahin</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Alam,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Nayeed</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Rashid,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Lamiya</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Hassan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Tithy</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Alfaj</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Uddin Ahmed, and M Tarik Arafat</a:t>
                      </a:r>
                      <a:endParaRPr lang="en-US" sz="110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2020 IEEE Region 10 Symposium (TENSYMP), </a:t>
                      </a:r>
                      <a:r>
                        <a:rPr lang="en-US" sz="1600" kern="0" dirty="0">
                          <a:effectLst/>
                          <a:latin typeface="Times New Roman" panose="02020603050405020304" pitchFamily="18" charset="0"/>
                          <a:ea typeface="Calibri" panose="020F0502020204030204" pitchFamily="34" charset="0"/>
                          <a:cs typeface="Times New Roman" panose="02020603050405020304" pitchFamily="18" charset="0"/>
                        </a:rPr>
                        <a:t>1(1), pp. 1-5, 2020</a:t>
                      </a:r>
                      <a:endParaRPr lang="en-US" sz="12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Design a low cost muscle stimulator integrated with IoT and a feedback system to receive voltages which was send to the IoT device to determine muscle strength.</a:t>
                      </a:r>
                    </a:p>
                  </a:txBody>
                  <a:tcPr/>
                </a:tc>
                <a:extLst>
                  <a:ext uri="{0D108BD9-81ED-4DB2-BD59-A6C34878D82A}">
                    <a16:rowId xmlns:a16="http://schemas.microsoft.com/office/drawing/2014/main" val="2326309122"/>
                  </a:ext>
                </a:extLst>
              </a:tr>
              <a:tr h="1752007">
                <a:tc>
                  <a:txBody>
                    <a:bodyPr/>
                    <a:lstStyle/>
                    <a:p>
                      <a:r>
                        <a:rPr lang="en-US" sz="1600" dirty="0">
                          <a:latin typeface="Times New Roman" panose="02020603050405020304" pitchFamily="18" charset="0"/>
                          <a:cs typeface="Times New Roman" panose="02020603050405020304" pitchFamily="18" charset="0"/>
                        </a:rPr>
                        <a:t>8</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Towards AI-controlled FES-restoration of arm movements: Controlling for progressive muscular fatigue with Gaussian state-space models</a:t>
                      </a:r>
                      <a:endParaRPr lang="en-US" sz="110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Nat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Wannawas</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and Aldo Faisal</a:t>
                      </a:r>
                      <a:endParaRPr lang="en-US" sz="110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11</a:t>
                      </a:r>
                      <a:r>
                        <a:rPr lang="en-US" sz="1600" kern="1200" baseline="30000" dirty="0">
                          <a:solidFill>
                            <a:schemeClr val="tx1"/>
                          </a:solidFill>
                          <a:effectLst/>
                          <a:latin typeface="Times New Roman" panose="02020603050405020304" pitchFamily="18" charset="0"/>
                          <a:ea typeface="+mn-ea"/>
                          <a:cs typeface="Times New Roman" panose="02020603050405020304" pitchFamily="18" charset="0"/>
                        </a:rPr>
                        <a:t>th</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International IEEE Conference on Neural Engineering (NER), </a:t>
                      </a:r>
                      <a:r>
                        <a:rPr lang="en-US" sz="1400" kern="0" dirty="0">
                          <a:effectLst/>
                          <a:latin typeface="Times New Roman" panose="02020603050405020304" pitchFamily="18" charset="0"/>
                          <a:ea typeface="Calibri" panose="020F0502020204030204" pitchFamily="34" charset="0"/>
                          <a:cs typeface="Times New Roman" panose="02020603050405020304" pitchFamily="18" charset="0"/>
                        </a:rPr>
                        <a:t>1(1), pp. 1-4, 2023</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Used Reinforcement Learning to observe muscle strength. The Reinforcement Learning – </a:t>
                      </a:r>
                      <a:r>
                        <a:rPr lang="en-US" sz="1600" dirty="0" err="1">
                          <a:latin typeface="Times New Roman" panose="02020603050405020304" pitchFamily="18" charset="0"/>
                          <a:cs typeface="Times New Roman" panose="02020603050405020304" pitchFamily="18" charset="0"/>
                        </a:rPr>
                        <a:t>Gaussain</a:t>
                      </a:r>
                      <a:r>
                        <a:rPr lang="en-US" sz="1600" dirty="0">
                          <a:latin typeface="Times New Roman" panose="02020603050405020304" pitchFamily="18" charset="0"/>
                          <a:cs typeface="Times New Roman" panose="02020603050405020304" pitchFamily="18" charset="0"/>
                        </a:rPr>
                        <a:t> State Space Model (RL-GSSM) was trained to control arm movements through muscle stimulator.</a:t>
                      </a:r>
                    </a:p>
                  </a:txBody>
                  <a:tcPr/>
                </a:tc>
                <a:extLst>
                  <a:ext uri="{0D108BD9-81ED-4DB2-BD59-A6C34878D82A}">
                    <a16:rowId xmlns:a16="http://schemas.microsoft.com/office/drawing/2014/main" val="430516258"/>
                  </a:ext>
                </a:extLst>
              </a:tr>
            </a:tbl>
          </a:graphicData>
        </a:graphic>
      </p:graphicFrame>
    </p:spTree>
    <p:extLst>
      <p:ext uri="{BB962C8B-B14F-4D97-AF65-F5344CB8AC3E}">
        <p14:creationId xmlns:p14="http://schemas.microsoft.com/office/powerpoint/2010/main" val="1852247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10EE4-8E47-E8A8-84F0-BF89EDB800F7}"/>
              </a:ext>
            </a:extLst>
          </p:cNvPr>
          <p:cNvSpPr>
            <a:spLocks noGrp="1"/>
          </p:cNvSpPr>
          <p:nvPr>
            <p:ph type="title"/>
          </p:nvPr>
        </p:nvSpPr>
        <p:spPr>
          <a:xfrm>
            <a:off x="157316" y="34984"/>
            <a:ext cx="10515600" cy="795081"/>
          </a:xfrm>
        </p:spPr>
        <p:txBody>
          <a:bodyPr>
            <a:normAutofit/>
          </a:bodyPr>
          <a:lstStyle/>
          <a:p>
            <a:r>
              <a:rPr lang="en-US" sz="4000" b="1" dirty="0">
                <a:latin typeface="Times New Roman" panose="02020603050405020304" pitchFamily="18" charset="0"/>
                <a:cs typeface="Times New Roman" panose="02020603050405020304" pitchFamily="18" charset="0"/>
              </a:rPr>
              <a:t>Literature Review</a:t>
            </a:r>
          </a:p>
        </p:txBody>
      </p:sp>
      <p:graphicFrame>
        <p:nvGraphicFramePr>
          <p:cNvPr id="3" name="Table 2">
            <a:extLst>
              <a:ext uri="{FF2B5EF4-FFF2-40B4-BE49-F238E27FC236}">
                <a16:creationId xmlns:a16="http://schemas.microsoft.com/office/drawing/2014/main" id="{2E5E1A5A-A1A9-30A3-C886-4AE20CEE5F19}"/>
              </a:ext>
            </a:extLst>
          </p:cNvPr>
          <p:cNvGraphicFramePr>
            <a:graphicFrameLocks noGrp="1"/>
          </p:cNvGraphicFramePr>
          <p:nvPr>
            <p:extLst>
              <p:ext uri="{D42A27DB-BD31-4B8C-83A1-F6EECF244321}">
                <p14:modId xmlns:p14="http://schemas.microsoft.com/office/powerpoint/2010/main" val="2831731752"/>
              </p:ext>
            </p:extLst>
          </p:nvPr>
        </p:nvGraphicFramePr>
        <p:xfrm>
          <a:off x="235974" y="830065"/>
          <a:ext cx="11720052" cy="5820085"/>
        </p:xfrm>
        <a:graphic>
          <a:graphicData uri="http://schemas.openxmlformats.org/drawingml/2006/table">
            <a:tbl>
              <a:tblPr firstRow="1" bandRow="1">
                <a:tableStyleId>{5940675A-B579-460E-94D1-54222C63F5DA}</a:tableStyleId>
              </a:tblPr>
              <a:tblGrid>
                <a:gridCol w="884895">
                  <a:extLst>
                    <a:ext uri="{9D8B030D-6E8A-4147-A177-3AD203B41FA5}">
                      <a16:colId xmlns:a16="http://schemas.microsoft.com/office/drawing/2014/main" val="953839930"/>
                    </a:ext>
                  </a:extLst>
                </a:gridCol>
                <a:gridCol w="2846220">
                  <a:extLst>
                    <a:ext uri="{9D8B030D-6E8A-4147-A177-3AD203B41FA5}">
                      <a16:colId xmlns:a16="http://schemas.microsoft.com/office/drawing/2014/main" val="925246630"/>
                    </a:ext>
                  </a:extLst>
                </a:gridCol>
                <a:gridCol w="2067951">
                  <a:extLst>
                    <a:ext uri="{9D8B030D-6E8A-4147-A177-3AD203B41FA5}">
                      <a16:colId xmlns:a16="http://schemas.microsoft.com/office/drawing/2014/main" val="1563842135"/>
                    </a:ext>
                  </a:extLst>
                </a:gridCol>
                <a:gridCol w="2475914">
                  <a:extLst>
                    <a:ext uri="{9D8B030D-6E8A-4147-A177-3AD203B41FA5}">
                      <a16:colId xmlns:a16="http://schemas.microsoft.com/office/drawing/2014/main" val="2663004866"/>
                    </a:ext>
                  </a:extLst>
                </a:gridCol>
                <a:gridCol w="3445072">
                  <a:extLst>
                    <a:ext uri="{9D8B030D-6E8A-4147-A177-3AD203B41FA5}">
                      <a16:colId xmlns:a16="http://schemas.microsoft.com/office/drawing/2014/main" val="3169655752"/>
                    </a:ext>
                  </a:extLst>
                </a:gridCol>
              </a:tblGrid>
              <a:tr h="545897">
                <a:tc>
                  <a:txBody>
                    <a:bodyPr/>
                    <a:lstStyle/>
                    <a:p>
                      <a:r>
                        <a:rPr lang="en-US" sz="1600" b="1" dirty="0"/>
                        <a:t>Sr. No.</a:t>
                      </a: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Title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Author</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Source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Description</a:t>
                      </a:r>
                      <a:r>
                        <a:rPr lang="en-US" sz="1600" dirty="0"/>
                        <a:t> </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4366022"/>
                  </a:ext>
                </a:extLst>
              </a:tr>
              <a:tr h="1365493">
                <a:tc>
                  <a:txBody>
                    <a:bodyPr/>
                    <a:lstStyle/>
                    <a:p>
                      <a:r>
                        <a:rPr lang="en-US" sz="1600" dirty="0">
                          <a:latin typeface="Times New Roman" panose="02020603050405020304" pitchFamily="18" charset="0"/>
                          <a:cs typeface="Times New Roman" panose="02020603050405020304" pitchFamily="18" charset="0"/>
                        </a:rPr>
                        <a:t>9</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Posture Guardian With Smart Muscle Strain Detection And Correction Using TINYML</a:t>
                      </a:r>
                      <a:endParaRPr lang="en-US" sz="110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Dr. G. Sophia Reena</a:t>
                      </a:r>
                      <a:endParaRPr lang="en-US" sz="110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Journal of Propulsion Technology, </a:t>
                      </a:r>
                      <a:r>
                        <a:rPr lang="en-US" sz="1600" kern="0" dirty="0">
                          <a:effectLst/>
                          <a:latin typeface="Times New Roman" panose="02020603050405020304" pitchFamily="18" charset="0"/>
                          <a:ea typeface="Calibri" panose="020F0502020204030204" pitchFamily="34" charset="0"/>
                          <a:cs typeface="Times New Roman" panose="02020603050405020304" pitchFamily="18" charset="0"/>
                        </a:rPr>
                        <a:t>44(4), pp. 5187-5194, 2023</a:t>
                      </a:r>
                      <a:endParaRPr lang="en-US" sz="1200" dirty="0">
                        <a:latin typeface="Times New Roman" panose="02020603050405020304" pitchFamily="18" charset="0"/>
                        <a:cs typeface="Times New Roman" panose="02020603050405020304" pitchFamily="18" charset="0"/>
                      </a:endParaRPr>
                    </a:p>
                  </a:txBody>
                  <a:tcPr/>
                </a:tc>
                <a:tc>
                  <a:txBody>
                    <a:bodyPr/>
                    <a:lstStyle/>
                    <a:p>
                      <a:r>
                        <a:rPr lang="en-US" sz="1600" dirty="0" err="1">
                          <a:latin typeface="Times New Roman" panose="02020603050405020304" pitchFamily="18" charset="0"/>
                          <a:cs typeface="Times New Roman" panose="02020603050405020304" pitchFamily="18" charset="0"/>
                        </a:rPr>
                        <a:t>TinyML</a:t>
                      </a:r>
                      <a:r>
                        <a:rPr lang="en-US" sz="1600" dirty="0">
                          <a:latin typeface="Times New Roman" panose="02020603050405020304" pitchFamily="18" charset="0"/>
                          <a:cs typeface="Times New Roman" panose="02020603050405020304" pitchFamily="18" charset="0"/>
                        </a:rPr>
                        <a:t> was used to detect and correct improper posture using wearable EMG and Flex sensors. The data fed to the Arduino UNO for signal processing.</a:t>
                      </a:r>
                    </a:p>
                  </a:txBody>
                  <a:tcPr/>
                </a:tc>
                <a:extLst>
                  <a:ext uri="{0D108BD9-81ED-4DB2-BD59-A6C34878D82A}">
                    <a16:rowId xmlns:a16="http://schemas.microsoft.com/office/drawing/2014/main" val="2326309122"/>
                  </a:ext>
                </a:extLst>
              </a:tr>
              <a:tr h="1657868">
                <a:tc>
                  <a:txBody>
                    <a:bodyPr/>
                    <a:lstStyle/>
                    <a:p>
                      <a:r>
                        <a:rPr lang="en-US" sz="1600" dirty="0">
                          <a:latin typeface="Times New Roman" panose="02020603050405020304" pitchFamily="18" charset="0"/>
                          <a:cs typeface="Times New Roman" panose="02020603050405020304" pitchFamily="18" charset="0"/>
                        </a:rPr>
                        <a:t>10</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Development of Wireless Microcontroller Based Functional Electronic Stimulation Device for Drop Foot Correction</a:t>
                      </a:r>
                      <a:endParaRPr lang="en-US" sz="105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DERVİŞ PAŞA</a:t>
                      </a:r>
                      <a:endParaRPr lang="en-US" sz="1050" dirty="0">
                        <a:latin typeface="Times New Roman" panose="02020603050405020304" pitchFamily="18" charset="0"/>
                        <a:cs typeface="Times New Roman" panose="02020603050405020304" pitchFamily="18" charset="0"/>
                      </a:endParaRPr>
                    </a:p>
                  </a:txBody>
                  <a:tcPr/>
                </a:tc>
                <a:tc>
                  <a:txBody>
                    <a:bodyPr/>
                    <a:lstStyle/>
                    <a:p>
                      <a:r>
                        <a:rPr lang="en-US" sz="1600" kern="0" dirty="0">
                          <a:effectLst/>
                          <a:latin typeface="Times New Roman" panose="02020603050405020304" pitchFamily="18" charset="0"/>
                          <a:ea typeface="Calibri" panose="020F0502020204030204" pitchFamily="34" charset="0"/>
                          <a:cs typeface="Times New Roman" panose="02020603050405020304" pitchFamily="18" charset="0"/>
                        </a:rPr>
                        <a:t>Near East University, Nicosia, pp. 1-87, 2014</a:t>
                      </a:r>
                      <a:endParaRPr lang="en-US" sz="11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 stimulator was developed for a person with drop foot problem using Force Sensitive Resistor (FSR), programmable microcontroller, transmitter, receiver, and electrodes.</a:t>
                      </a:r>
                    </a:p>
                  </a:txBody>
                  <a:tcPr/>
                </a:tc>
                <a:extLst>
                  <a:ext uri="{0D108BD9-81ED-4DB2-BD59-A6C34878D82A}">
                    <a16:rowId xmlns:a16="http://schemas.microsoft.com/office/drawing/2014/main" val="430516258"/>
                  </a:ext>
                </a:extLst>
              </a:tr>
              <a:tr h="2250827">
                <a:tc>
                  <a:txBody>
                    <a:bodyPr/>
                    <a:lstStyle/>
                    <a:p>
                      <a:r>
                        <a:rPr lang="en-US" sz="1600" dirty="0">
                          <a:latin typeface="Times New Roman" panose="02020603050405020304" pitchFamily="18" charset="0"/>
                          <a:cs typeface="Times New Roman" panose="02020603050405020304" pitchFamily="18" charset="0"/>
                        </a:rPr>
                        <a:t>11</a:t>
                      </a:r>
                    </a:p>
                  </a:txBody>
                  <a:tcPr/>
                </a:tc>
                <a:tc>
                  <a:txBody>
                    <a:bodyPr/>
                    <a:lstStyle/>
                    <a:p>
                      <a:r>
                        <a:rPr lang="en-US" sz="1600" b="0" kern="1200" dirty="0">
                          <a:solidFill>
                            <a:schemeClr val="tx1"/>
                          </a:solidFill>
                          <a:effectLst/>
                          <a:latin typeface="Times New Roman" panose="02020603050405020304" pitchFamily="18" charset="0"/>
                          <a:ea typeface="+mn-ea"/>
                          <a:cs typeface="Times New Roman" panose="02020603050405020304" pitchFamily="18" charset="0"/>
                        </a:rPr>
                        <a:t>Soft Exoskeleton Glove for Hand Assistance Based on Human-Machine Interaction and Machine Learning</a:t>
                      </a:r>
                      <a:endParaRPr lang="en-US" sz="1600" b="0" dirty="0">
                        <a:latin typeface="Times New Roman" panose="02020603050405020304" pitchFamily="18" charset="0"/>
                        <a:cs typeface="Times New Roman" panose="02020603050405020304" pitchFamily="18" charset="0"/>
                      </a:endParaRPr>
                    </a:p>
                  </a:txBody>
                  <a:tcPr/>
                </a:tc>
                <a:tc>
                  <a:txBody>
                    <a:bodyPr/>
                    <a:lstStyle/>
                    <a:p>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Xiaoshi</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Chen, Li Gong,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Lirong</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Zheng, and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Zhuo</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Zou</a:t>
                      </a:r>
                      <a:endParaRPr lang="en-US" sz="105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0" u="none" strike="noStrike" kern="1200" dirty="0">
                          <a:solidFill>
                            <a:schemeClr val="tx1"/>
                          </a:solidFill>
                          <a:effectLst/>
                          <a:latin typeface="Times New Roman" panose="02020603050405020304" pitchFamily="18" charset="0"/>
                          <a:ea typeface="+mn-ea"/>
                          <a:cs typeface="Times New Roman" panose="02020603050405020304" pitchFamily="18" charset="0"/>
                        </a:rPr>
                        <a:t>IEEE International Conference on Human-Machine Systems (ICHMS)</a:t>
                      </a:r>
                      <a:r>
                        <a:rPr lang="en-US" sz="1600" u="none" kern="1200" dirty="0">
                          <a:solidFill>
                            <a:schemeClr val="tx1"/>
                          </a:solidFill>
                          <a:effectLst/>
                          <a:latin typeface="Times New Roman" panose="02020603050405020304" pitchFamily="18" charset="0"/>
                          <a:ea typeface="+mn-ea"/>
                          <a:cs typeface="Times New Roman" panose="02020603050405020304" pitchFamily="18" charset="0"/>
                        </a:rPr>
                        <a:t>, Rome, Italy, 1(1), 2020</a:t>
                      </a:r>
                    </a:p>
                    <a:p>
                      <a:endParaRPr lang="en-US" sz="11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Developed a human-machine interaction system based on the concept of mirror therapy. Surface EMG were used to collect muscle signals by training a ML model. Flex and pressure sensors were used to process the EMG signals. SVM, k-NN, and subspace k-NN were used for pattern recognition.</a:t>
                      </a:r>
                    </a:p>
                  </a:txBody>
                  <a:tcPr/>
                </a:tc>
                <a:extLst>
                  <a:ext uri="{0D108BD9-81ED-4DB2-BD59-A6C34878D82A}">
                    <a16:rowId xmlns:a16="http://schemas.microsoft.com/office/drawing/2014/main" val="32285398"/>
                  </a:ext>
                </a:extLst>
              </a:tr>
            </a:tbl>
          </a:graphicData>
        </a:graphic>
      </p:graphicFrame>
    </p:spTree>
    <p:extLst>
      <p:ext uri="{BB962C8B-B14F-4D97-AF65-F5344CB8AC3E}">
        <p14:creationId xmlns:p14="http://schemas.microsoft.com/office/powerpoint/2010/main" val="2320012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D7A36-5ABC-52F2-3685-EB7C89EBB8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646215-013D-68AB-9A85-395C4A62AEF8}"/>
              </a:ext>
            </a:extLst>
          </p:cNvPr>
          <p:cNvSpPr>
            <a:spLocks noGrp="1"/>
          </p:cNvSpPr>
          <p:nvPr>
            <p:ph type="title"/>
          </p:nvPr>
        </p:nvSpPr>
        <p:spPr>
          <a:xfrm>
            <a:off x="516192" y="261167"/>
            <a:ext cx="10515600" cy="795081"/>
          </a:xfrm>
        </p:spPr>
        <p:txBody>
          <a:bodyPr>
            <a:normAutofit/>
          </a:bodyPr>
          <a:lstStyle/>
          <a:p>
            <a:r>
              <a:rPr lang="en-US" sz="4000" b="1" dirty="0">
                <a:latin typeface="Times New Roman" panose="02020603050405020304" pitchFamily="18" charset="0"/>
                <a:cs typeface="Times New Roman" panose="02020603050405020304" pitchFamily="18" charset="0"/>
              </a:rPr>
              <a:t>Literature Review</a:t>
            </a:r>
          </a:p>
        </p:txBody>
      </p:sp>
      <p:graphicFrame>
        <p:nvGraphicFramePr>
          <p:cNvPr id="3" name="Table 2">
            <a:extLst>
              <a:ext uri="{FF2B5EF4-FFF2-40B4-BE49-F238E27FC236}">
                <a16:creationId xmlns:a16="http://schemas.microsoft.com/office/drawing/2014/main" id="{926C6674-CDBB-2A9B-BB04-4E90B128DBAC}"/>
              </a:ext>
            </a:extLst>
          </p:cNvPr>
          <p:cNvGraphicFramePr>
            <a:graphicFrameLocks noGrp="1"/>
          </p:cNvGraphicFramePr>
          <p:nvPr>
            <p:extLst>
              <p:ext uri="{D42A27DB-BD31-4B8C-83A1-F6EECF244321}">
                <p14:modId xmlns:p14="http://schemas.microsoft.com/office/powerpoint/2010/main" val="4268358650"/>
              </p:ext>
            </p:extLst>
          </p:nvPr>
        </p:nvGraphicFramePr>
        <p:xfrm>
          <a:off x="594851" y="1364961"/>
          <a:ext cx="11002298" cy="4529402"/>
        </p:xfrm>
        <a:graphic>
          <a:graphicData uri="http://schemas.openxmlformats.org/drawingml/2006/table">
            <a:tbl>
              <a:tblPr firstRow="1" bandRow="1">
                <a:tableStyleId>{5940675A-B579-460E-94D1-54222C63F5DA}</a:tableStyleId>
              </a:tblPr>
              <a:tblGrid>
                <a:gridCol w="830703">
                  <a:extLst>
                    <a:ext uri="{9D8B030D-6E8A-4147-A177-3AD203B41FA5}">
                      <a16:colId xmlns:a16="http://schemas.microsoft.com/office/drawing/2014/main" val="953839930"/>
                    </a:ext>
                  </a:extLst>
                </a:gridCol>
                <a:gridCol w="2471197">
                  <a:extLst>
                    <a:ext uri="{9D8B030D-6E8A-4147-A177-3AD203B41FA5}">
                      <a16:colId xmlns:a16="http://schemas.microsoft.com/office/drawing/2014/main" val="925246630"/>
                    </a:ext>
                  </a:extLst>
                </a:gridCol>
                <a:gridCol w="2124221">
                  <a:extLst>
                    <a:ext uri="{9D8B030D-6E8A-4147-A177-3AD203B41FA5}">
                      <a16:colId xmlns:a16="http://schemas.microsoft.com/office/drawing/2014/main" val="1563842135"/>
                    </a:ext>
                  </a:extLst>
                </a:gridCol>
                <a:gridCol w="2236763">
                  <a:extLst>
                    <a:ext uri="{9D8B030D-6E8A-4147-A177-3AD203B41FA5}">
                      <a16:colId xmlns:a16="http://schemas.microsoft.com/office/drawing/2014/main" val="2663004866"/>
                    </a:ext>
                  </a:extLst>
                </a:gridCol>
                <a:gridCol w="3339414">
                  <a:extLst>
                    <a:ext uri="{9D8B030D-6E8A-4147-A177-3AD203B41FA5}">
                      <a16:colId xmlns:a16="http://schemas.microsoft.com/office/drawing/2014/main" val="3169655752"/>
                    </a:ext>
                  </a:extLst>
                </a:gridCol>
              </a:tblGrid>
              <a:tr h="583102">
                <a:tc>
                  <a:txBody>
                    <a:bodyPr/>
                    <a:lstStyle/>
                    <a:p>
                      <a:r>
                        <a:rPr lang="en-US" sz="1600" b="1" dirty="0"/>
                        <a:t>Sr. No.</a:t>
                      </a: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Title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Author</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Source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Description</a:t>
                      </a:r>
                      <a:r>
                        <a:rPr lang="en-US" sz="1600" dirty="0"/>
                        <a:t> </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4366022"/>
                  </a:ext>
                </a:extLst>
              </a:tr>
              <a:tr h="1705604">
                <a:tc>
                  <a:txBody>
                    <a:bodyPr/>
                    <a:lstStyle/>
                    <a:p>
                      <a:r>
                        <a:rPr lang="en-US" sz="1600" dirty="0">
                          <a:latin typeface="Times New Roman" panose="02020603050405020304" pitchFamily="18" charset="0"/>
                          <a:cs typeface="Times New Roman" panose="02020603050405020304" pitchFamily="18" charset="0"/>
                        </a:rPr>
                        <a:t>12</a:t>
                      </a:r>
                    </a:p>
                  </a:txBody>
                  <a:tcPr/>
                </a:tc>
                <a:tc>
                  <a:txBody>
                    <a:bodyPr/>
                    <a:lstStyle/>
                    <a:p>
                      <a:r>
                        <a:rPr lang="en-US" sz="1600" b="0" kern="1200" dirty="0">
                          <a:solidFill>
                            <a:schemeClr val="tx1"/>
                          </a:solidFill>
                          <a:effectLst/>
                          <a:latin typeface="Times New Roman" panose="02020603050405020304" pitchFamily="18" charset="0"/>
                          <a:ea typeface="+mn-ea"/>
                          <a:cs typeface="Times New Roman" panose="02020603050405020304" pitchFamily="18" charset="0"/>
                        </a:rPr>
                        <a:t>A Wearable Hand Rehabilitation System with Soft Glove</a:t>
                      </a:r>
                      <a:endParaRPr lang="en-US" sz="1050" b="0" dirty="0">
                        <a:latin typeface="Times New Roman" panose="02020603050405020304" pitchFamily="18" charset="0"/>
                        <a:cs typeface="Times New Roman" panose="02020603050405020304" pitchFamily="18" charset="0"/>
                      </a:endParaRPr>
                    </a:p>
                  </a:txBody>
                  <a:tcPr/>
                </a:tc>
                <a:tc>
                  <a:txBody>
                    <a:bodyPr/>
                    <a:lstStyle/>
                    <a:p>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Xiaoshi</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Chen, Li Gong, Liang Wei, Shih-Ching Yeh, and Li Da Xu</a:t>
                      </a:r>
                      <a:endParaRPr lang="en-US" sz="105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IEEE Transactions on Industrial Information, 17(2), pp. 943-952, 2020</a:t>
                      </a:r>
                    </a:p>
                  </a:txBody>
                  <a:tcPr/>
                </a:tc>
                <a:tc>
                  <a:txBody>
                    <a:bodyPr/>
                    <a:lstStyle/>
                    <a:p>
                      <a:r>
                        <a:rPr lang="en-US" sz="1600" dirty="0">
                          <a:latin typeface="Times New Roman" panose="02020603050405020304" pitchFamily="18" charset="0"/>
                          <a:cs typeface="Times New Roman" panose="02020603050405020304" pitchFamily="18" charset="0"/>
                        </a:rPr>
                        <a:t>A tendon-driven motor glove was designed using DC motor controlled by </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STM32F103 microcontroller. Wi-Fi sensors were implemented on both sides to send and receive EMG signals.</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6309122"/>
                  </a:ext>
                </a:extLst>
              </a:tr>
              <a:tr h="2240696">
                <a:tc>
                  <a:txBody>
                    <a:bodyPr/>
                    <a:lstStyle/>
                    <a:p>
                      <a:r>
                        <a:rPr lang="en-US" sz="1600" dirty="0">
                          <a:latin typeface="Times New Roman" panose="02020603050405020304" pitchFamily="18" charset="0"/>
                          <a:cs typeface="Times New Roman" panose="02020603050405020304" pitchFamily="18" charset="0"/>
                        </a:rPr>
                        <a:t>13</a:t>
                      </a:r>
                    </a:p>
                  </a:txBody>
                  <a:tcPr/>
                </a:tc>
                <a:tc>
                  <a:txBody>
                    <a:bodyPr/>
                    <a:lstStyle/>
                    <a:p>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Flexo</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-glove: A 3D Printed Soft Exoskeleton Robotic Glove for Impaired Hand Rehabilitation and Assistance</a:t>
                      </a:r>
                      <a:endParaRPr lang="en-US" sz="1000" b="0" dirty="0">
                        <a:latin typeface="Times New Roman" panose="02020603050405020304" pitchFamily="18" charset="0"/>
                        <a:cs typeface="Times New Roman" panose="02020603050405020304" pitchFamily="18" charset="0"/>
                      </a:endParaRPr>
                    </a:p>
                  </a:txBody>
                  <a:tcPr/>
                </a:tc>
                <a:tc>
                  <a:txBody>
                    <a:bodyPr/>
                    <a:lstStyle/>
                    <a:p>
                      <a:r>
                        <a:rPr lang="en-US" sz="1600" b="0" kern="1200" dirty="0">
                          <a:solidFill>
                            <a:schemeClr val="tx1"/>
                          </a:solidFill>
                          <a:effectLst/>
                          <a:latin typeface="Times New Roman" panose="02020603050405020304" pitchFamily="18" charset="0"/>
                          <a:ea typeface="+mn-ea"/>
                          <a:cs typeface="Times New Roman" panose="02020603050405020304" pitchFamily="18" charset="0"/>
                        </a:rPr>
                        <a:t>Alireza Mohammadi, Jim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Lavranos</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Peter Choong, and Denny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Oetomo</a:t>
                      </a:r>
                      <a:endParaRPr lang="en-US" sz="10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40</a:t>
                      </a:r>
                      <a:r>
                        <a:rPr lang="en-US" sz="1600" b="0" kern="1200" baseline="30000" dirty="0">
                          <a:solidFill>
                            <a:schemeClr val="tx1"/>
                          </a:solidFill>
                          <a:effectLst/>
                          <a:latin typeface="Times New Roman" panose="02020603050405020304" pitchFamily="18" charset="0"/>
                          <a:ea typeface="+mn-ea"/>
                          <a:cs typeface="Times New Roman" panose="02020603050405020304" pitchFamily="18" charset="0"/>
                        </a:rPr>
                        <a:t>th </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Annual International Conference of the IEEE Engineering in Medicine and Biology Society (EMBC), Honolulu, USA, pp. 2120-2123, 2018</a:t>
                      </a:r>
                    </a:p>
                    <a:p>
                      <a:endParaRPr lang="en-US" sz="105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Designed the portable tendon-driven soft exoskeleton glove for hand rehabilitation and assistance using thermoplastic polyurethane. DC motor were implemented on each finger controlled by ATmega2500 microcontroller.</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30516258"/>
                  </a:ext>
                </a:extLst>
              </a:tr>
            </a:tbl>
          </a:graphicData>
        </a:graphic>
      </p:graphicFrame>
    </p:spTree>
    <p:extLst>
      <p:ext uri="{BB962C8B-B14F-4D97-AF65-F5344CB8AC3E}">
        <p14:creationId xmlns:p14="http://schemas.microsoft.com/office/powerpoint/2010/main" val="2478871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8404E-B9A6-0F8E-F57B-8797B42DF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5F490-4EA1-0AA6-28F9-7427A0DD2A23}"/>
              </a:ext>
            </a:extLst>
          </p:cNvPr>
          <p:cNvSpPr>
            <a:spLocks noGrp="1"/>
          </p:cNvSpPr>
          <p:nvPr>
            <p:ph type="title"/>
          </p:nvPr>
        </p:nvSpPr>
        <p:spPr>
          <a:xfrm>
            <a:off x="235974" y="172677"/>
            <a:ext cx="10515600" cy="795081"/>
          </a:xfrm>
        </p:spPr>
        <p:txBody>
          <a:bodyPr>
            <a:normAutofit/>
          </a:bodyPr>
          <a:lstStyle/>
          <a:p>
            <a:r>
              <a:rPr lang="en-US" sz="4000" b="1" dirty="0">
                <a:latin typeface="Times New Roman" panose="02020603050405020304" pitchFamily="18" charset="0"/>
                <a:cs typeface="Times New Roman" panose="02020603050405020304" pitchFamily="18" charset="0"/>
              </a:rPr>
              <a:t>Literature Review</a:t>
            </a:r>
          </a:p>
        </p:txBody>
      </p:sp>
      <p:graphicFrame>
        <p:nvGraphicFramePr>
          <p:cNvPr id="3" name="Table 2">
            <a:extLst>
              <a:ext uri="{FF2B5EF4-FFF2-40B4-BE49-F238E27FC236}">
                <a16:creationId xmlns:a16="http://schemas.microsoft.com/office/drawing/2014/main" id="{BAC90169-D5E2-B3DF-9D38-DB2F00C1774A}"/>
              </a:ext>
            </a:extLst>
          </p:cNvPr>
          <p:cNvGraphicFramePr>
            <a:graphicFrameLocks noGrp="1"/>
          </p:cNvGraphicFramePr>
          <p:nvPr>
            <p:extLst>
              <p:ext uri="{D42A27DB-BD31-4B8C-83A1-F6EECF244321}">
                <p14:modId xmlns:p14="http://schemas.microsoft.com/office/powerpoint/2010/main" val="4135130578"/>
              </p:ext>
            </p:extLst>
          </p:nvPr>
        </p:nvGraphicFramePr>
        <p:xfrm>
          <a:off x="383458" y="1272558"/>
          <a:ext cx="11474245" cy="4583379"/>
        </p:xfrm>
        <a:graphic>
          <a:graphicData uri="http://schemas.openxmlformats.org/drawingml/2006/table">
            <a:tbl>
              <a:tblPr firstRow="1" bandRow="1">
                <a:tableStyleId>{5940675A-B579-460E-94D1-54222C63F5DA}</a:tableStyleId>
              </a:tblPr>
              <a:tblGrid>
                <a:gridCol w="866336">
                  <a:extLst>
                    <a:ext uri="{9D8B030D-6E8A-4147-A177-3AD203B41FA5}">
                      <a16:colId xmlns:a16="http://schemas.microsoft.com/office/drawing/2014/main" val="953839930"/>
                    </a:ext>
                  </a:extLst>
                </a:gridCol>
                <a:gridCol w="2731363">
                  <a:extLst>
                    <a:ext uri="{9D8B030D-6E8A-4147-A177-3AD203B41FA5}">
                      <a16:colId xmlns:a16="http://schemas.microsoft.com/office/drawing/2014/main" val="925246630"/>
                    </a:ext>
                  </a:extLst>
                </a:gridCol>
                <a:gridCol w="2264898">
                  <a:extLst>
                    <a:ext uri="{9D8B030D-6E8A-4147-A177-3AD203B41FA5}">
                      <a16:colId xmlns:a16="http://schemas.microsoft.com/office/drawing/2014/main" val="1563842135"/>
                    </a:ext>
                  </a:extLst>
                </a:gridCol>
                <a:gridCol w="2110154">
                  <a:extLst>
                    <a:ext uri="{9D8B030D-6E8A-4147-A177-3AD203B41FA5}">
                      <a16:colId xmlns:a16="http://schemas.microsoft.com/office/drawing/2014/main" val="2663004866"/>
                    </a:ext>
                  </a:extLst>
                </a:gridCol>
                <a:gridCol w="3501494">
                  <a:extLst>
                    <a:ext uri="{9D8B030D-6E8A-4147-A177-3AD203B41FA5}">
                      <a16:colId xmlns:a16="http://schemas.microsoft.com/office/drawing/2014/main" val="3169655752"/>
                    </a:ext>
                  </a:extLst>
                </a:gridCol>
              </a:tblGrid>
              <a:tr h="531437">
                <a:tc>
                  <a:txBody>
                    <a:bodyPr/>
                    <a:lstStyle/>
                    <a:p>
                      <a:r>
                        <a:rPr lang="en-US" sz="1600" b="1" dirty="0"/>
                        <a:t>Sr. No.</a:t>
                      </a: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Title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Author</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Source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Description</a:t>
                      </a:r>
                      <a:r>
                        <a:rPr lang="en-US" sz="1600" dirty="0"/>
                        <a:t> </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4366022"/>
                  </a:ext>
                </a:extLst>
              </a:tr>
              <a:tr h="1329322">
                <a:tc>
                  <a:txBody>
                    <a:bodyPr/>
                    <a:lstStyle/>
                    <a:p>
                      <a:r>
                        <a:rPr lang="en-US" sz="1600" dirty="0">
                          <a:latin typeface="Times New Roman" panose="02020603050405020304" pitchFamily="18" charset="0"/>
                          <a:cs typeface="Times New Roman" panose="02020603050405020304" pitchFamily="18" charset="0"/>
                        </a:rPr>
                        <a:t>14</a:t>
                      </a:r>
                    </a:p>
                  </a:txBody>
                  <a:tcPr/>
                </a:tc>
                <a:tc>
                  <a:txBody>
                    <a:bodyPr/>
                    <a:lstStyle/>
                    <a:p>
                      <a:r>
                        <a:rPr lang="en-US" sz="1600" b="0" kern="1200" dirty="0">
                          <a:solidFill>
                            <a:schemeClr val="tx1"/>
                          </a:solidFill>
                          <a:effectLst/>
                          <a:latin typeface="Times New Roman" panose="02020603050405020304" pitchFamily="18" charset="0"/>
                          <a:ea typeface="+mn-ea"/>
                          <a:cs typeface="Times New Roman" panose="02020603050405020304" pitchFamily="18" charset="0"/>
                        </a:rPr>
                        <a:t>Wearable Hand-Rehabilitation System with Soft Gloves for Patient with Face Paralysis and Disability</a:t>
                      </a:r>
                      <a:endParaRPr lang="en-US" sz="1400" b="0" dirty="0">
                        <a:latin typeface="Times New Roman" panose="02020603050405020304" pitchFamily="18" charset="0"/>
                        <a:cs typeface="Times New Roman" panose="02020603050405020304" pitchFamily="18" charset="0"/>
                      </a:endParaRPr>
                    </a:p>
                  </a:txBody>
                  <a:tcPr/>
                </a:tc>
                <a:tc>
                  <a:txBody>
                    <a:bodyPr/>
                    <a:lstStyle/>
                    <a:p>
                      <a:r>
                        <a:rPr lang="en-US" sz="1600" b="0" kern="1200" dirty="0">
                          <a:solidFill>
                            <a:schemeClr val="tx1"/>
                          </a:solidFill>
                          <a:effectLst/>
                          <a:latin typeface="Times New Roman" panose="02020603050405020304" pitchFamily="18" charset="0"/>
                          <a:ea typeface="+mn-ea"/>
                          <a:cs typeface="Times New Roman" panose="02020603050405020304" pitchFamily="18" charset="0"/>
                        </a:rPr>
                        <a:t>Waqas Ahmed, Muhammad Kashif Sattar,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Wajeeha</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Shahnawaz, Umair Saeed, Shahbaz Mehmood Khan, and Neha Amon Khan</a:t>
                      </a:r>
                      <a:endParaRPr lang="en-US" sz="10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Engineering Proceedings, 12(56), pp. 1-5, 2021</a:t>
                      </a:r>
                    </a:p>
                  </a:txBody>
                  <a:tcPr/>
                </a:tc>
                <a:tc>
                  <a:txBody>
                    <a:bodyPr/>
                    <a:lstStyle/>
                    <a:p>
                      <a:r>
                        <a:rPr lang="en-US" sz="1600" dirty="0">
                          <a:latin typeface="Times New Roman" panose="02020603050405020304" pitchFamily="18" charset="0"/>
                          <a:cs typeface="Times New Roman" panose="02020603050405020304" pitchFamily="18" charset="0"/>
                        </a:rPr>
                        <a:t>D</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esigned a robotic hand controlled by the soft glove placed on the healthy hand. Feature extraction was used to recognize different gestures which was send to the microcontroller. Servo motors was used to perform different hand movements implemented on robotic hand.</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6309122"/>
                  </a:ext>
                </a:extLst>
              </a:tr>
              <a:tr h="2009782">
                <a:tc>
                  <a:txBody>
                    <a:bodyPr/>
                    <a:lstStyle/>
                    <a:p>
                      <a:r>
                        <a:rPr lang="en-US" sz="1600" dirty="0">
                          <a:latin typeface="Times New Roman" panose="02020603050405020304" pitchFamily="18" charset="0"/>
                          <a:cs typeface="Times New Roman" panose="02020603050405020304" pitchFamily="18" charset="0"/>
                        </a:rPr>
                        <a:t>15</a:t>
                      </a:r>
                    </a:p>
                  </a:txBody>
                  <a:tcPr/>
                </a:tc>
                <a:tc>
                  <a:txBody>
                    <a:bodyPr/>
                    <a:lstStyle/>
                    <a:p>
                      <a:r>
                        <a:rPr lang="en-US" sz="1600" b="0" kern="1200" dirty="0">
                          <a:solidFill>
                            <a:schemeClr val="tx1"/>
                          </a:solidFill>
                          <a:effectLst/>
                          <a:latin typeface="Times New Roman" panose="02020603050405020304" pitchFamily="18" charset="0"/>
                          <a:ea typeface="+mn-ea"/>
                          <a:cs typeface="Times New Roman" panose="02020603050405020304" pitchFamily="18" charset="0"/>
                        </a:rPr>
                        <a:t>Design and Control of a Tendon-Driven Robotic Finger Based on Grasping Task Analysis</a:t>
                      </a:r>
                      <a:endParaRPr lang="en-US" sz="1200" b="0" dirty="0">
                        <a:latin typeface="Times New Roman" panose="02020603050405020304" pitchFamily="18" charset="0"/>
                        <a:cs typeface="Times New Roman" panose="02020603050405020304" pitchFamily="18" charset="0"/>
                      </a:endParaRPr>
                    </a:p>
                  </a:txBody>
                  <a:tcPr/>
                </a:tc>
                <a:tc>
                  <a:txBody>
                    <a:bodyPr/>
                    <a:lstStyle/>
                    <a:p>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Xuanyi</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Zhou, Hoa Fu,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Baoqing</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Shentu</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Weidong</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Wang,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Shibo</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Cai, and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Guanjan</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Bao</a:t>
                      </a:r>
                      <a:endParaRPr lang="en-US" sz="9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Biomimetics, 9(370), pp. 1-17, 2024</a:t>
                      </a:r>
                    </a:p>
                    <a:p>
                      <a:endParaRPr lang="en-US" sz="1000" b="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The tendon-driven robotic finger was developed, controlled by soft glove worn on a human hand to collect data from the hand. Servo motors were implemented on the base of the robotic finger to drive the motion of the tendons.</a:t>
                      </a:r>
                    </a:p>
                  </a:txBody>
                  <a:tcPr/>
                </a:tc>
                <a:extLst>
                  <a:ext uri="{0D108BD9-81ED-4DB2-BD59-A6C34878D82A}">
                    <a16:rowId xmlns:a16="http://schemas.microsoft.com/office/drawing/2014/main" val="32285398"/>
                  </a:ext>
                </a:extLst>
              </a:tr>
            </a:tbl>
          </a:graphicData>
        </a:graphic>
      </p:graphicFrame>
    </p:spTree>
    <p:extLst>
      <p:ext uri="{BB962C8B-B14F-4D97-AF65-F5344CB8AC3E}">
        <p14:creationId xmlns:p14="http://schemas.microsoft.com/office/powerpoint/2010/main" val="1891657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C68BA-F0BA-FC12-BA71-66A968555EA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Problem Statement and Definition</a:t>
            </a:r>
            <a:endParaRPr lang="en-US" b="1" dirty="0"/>
          </a:p>
        </p:txBody>
      </p:sp>
      <p:sp>
        <p:nvSpPr>
          <p:cNvPr id="3" name="Content Placeholder 2">
            <a:extLst>
              <a:ext uri="{FF2B5EF4-FFF2-40B4-BE49-F238E27FC236}">
                <a16:creationId xmlns:a16="http://schemas.microsoft.com/office/drawing/2014/main" id="{8B42F6C1-A6F7-882B-4C34-0C799743EF8D}"/>
              </a:ext>
            </a:extLst>
          </p:cNvPr>
          <p:cNvSpPr>
            <a:spLocks noGrp="1"/>
          </p:cNvSpPr>
          <p:nvPr>
            <p:ph idx="1"/>
          </p:nvPr>
        </p:nvSpPr>
        <p:spPr/>
        <p:txBody>
          <a:bodyPr>
            <a:normAutofit/>
          </a:bodyPr>
          <a:lstStyle/>
          <a:p>
            <a:pPr marL="0" indent="0" algn="just">
              <a:lnSpc>
                <a:spcPct val="150000"/>
              </a:lnSpc>
              <a:buNone/>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The loss of hand function can significantly hinder daily activities and have a devastating emotional impact. The proposed system aims to assist in regaining hand functionality by facilitating fine-motor activities</a:t>
            </a:r>
            <a:r>
              <a:rPr lang="en-US" sz="2600" dirty="0">
                <a:latin typeface="Times New Roman" panose="02020603050405020304" pitchFamily="18" charset="0"/>
                <a:ea typeface="Calibri" panose="020F0502020204030204" pitchFamily="34" charset="0"/>
                <a:cs typeface="Times New Roman" panose="02020603050405020304" pitchFamily="18" charset="0"/>
              </a:rPr>
              <a:t> and</a:t>
            </a:r>
            <a:r>
              <a:rPr lang="en-US" sz="2600" kern="100" dirty="0">
                <a:effectLst/>
                <a:latin typeface="Times New Roman" panose="02020603050405020304" pitchFamily="18" charset="0"/>
                <a:ea typeface="Calibri" panose="020F0502020204030204" pitchFamily="34" charset="0"/>
                <a:cs typeface="Times New Roman" panose="02020603050405020304" pitchFamily="18" charset="0"/>
              </a:rPr>
              <a:t> mimic the movements of the operator's unaffected hand.</a:t>
            </a:r>
          </a:p>
        </p:txBody>
      </p:sp>
    </p:spTree>
    <p:extLst>
      <p:ext uri="{BB962C8B-B14F-4D97-AF65-F5344CB8AC3E}">
        <p14:creationId xmlns:p14="http://schemas.microsoft.com/office/powerpoint/2010/main" val="1218774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6A47C-6286-07EE-9C93-0059D6F8E9A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Significance of Proposed Work </a:t>
            </a:r>
          </a:p>
        </p:txBody>
      </p:sp>
      <p:sp>
        <p:nvSpPr>
          <p:cNvPr id="3" name="Content Placeholder 2">
            <a:extLst>
              <a:ext uri="{FF2B5EF4-FFF2-40B4-BE49-F238E27FC236}">
                <a16:creationId xmlns:a16="http://schemas.microsoft.com/office/drawing/2014/main" id="{61BA9E4D-830A-71DE-907C-7736D3D294D6}"/>
              </a:ext>
            </a:extLst>
          </p:cNvPr>
          <p:cNvSpPr>
            <a:spLocks noGrp="1"/>
          </p:cNvSpPr>
          <p:nvPr>
            <p:ph idx="1"/>
          </p:nvPr>
        </p:nvSpPr>
        <p:spPr/>
        <p:txBody>
          <a:bodyPr>
            <a:normAutofit/>
          </a:bodyPr>
          <a:lstStyle/>
          <a:p>
            <a:pPr marL="0" indent="0">
              <a:lnSpc>
                <a:spcPct val="150000"/>
              </a:lnSpc>
              <a:buNone/>
            </a:pPr>
            <a:r>
              <a:rPr lang="en-US" sz="3000" dirty="0">
                <a:latin typeface="Times New Roman" panose="02020603050405020304" pitchFamily="18" charset="0"/>
                <a:cs typeface="Times New Roman" panose="02020603050405020304" pitchFamily="18" charset="0"/>
              </a:rPr>
              <a:t>The developed system will be able to:</a:t>
            </a:r>
          </a:p>
          <a:p>
            <a:pPr lvl="1">
              <a:lnSpc>
                <a:spcPct val="150000"/>
              </a:lnSpc>
            </a:pPr>
            <a:r>
              <a:rPr lang="en-US" sz="3000" dirty="0">
                <a:latin typeface="Times New Roman" panose="02020603050405020304" pitchFamily="18" charset="0"/>
                <a:cs typeface="Times New Roman" panose="02020603050405020304" pitchFamily="18" charset="0"/>
              </a:rPr>
              <a:t>Help individuals with hand paralysis to regain motor functionality </a:t>
            </a:r>
          </a:p>
          <a:p>
            <a:pPr lvl="1">
              <a:lnSpc>
                <a:spcPct val="150000"/>
              </a:lnSpc>
            </a:pPr>
            <a:r>
              <a:rPr lang="en-US" sz="3000" dirty="0">
                <a:latin typeface="Times New Roman" panose="02020603050405020304" pitchFamily="18" charset="0"/>
                <a:cs typeface="Times New Roman" panose="02020603050405020304" pitchFamily="18" charset="0"/>
              </a:rPr>
              <a:t>Provide accurate and effective rehabilitation exercises</a:t>
            </a:r>
          </a:p>
          <a:p>
            <a:pPr lvl="1">
              <a:lnSpc>
                <a:spcPct val="150000"/>
              </a:lnSpc>
            </a:pPr>
            <a:r>
              <a:rPr lang="en-US" sz="3000" dirty="0">
                <a:latin typeface="Times New Roman" panose="02020603050405020304" pitchFamily="18" charset="0"/>
                <a:cs typeface="Times New Roman" panose="02020603050405020304" pitchFamily="18" charset="0"/>
              </a:rPr>
              <a:t>Increase independence in daily activity</a:t>
            </a:r>
          </a:p>
          <a:p>
            <a:pPr lvl="1">
              <a:lnSpc>
                <a:spcPct val="150000"/>
              </a:lnSpc>
            </a:pP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3960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E52A3-80EA-CFDC-0948-BF05E2DF93D2}"/>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Objectives of the Proposed Work </a:t>
            </a:r>
          </a:p>
        </p:txBody>
      </p:sp>
      <p:sp>
        <p:nvSpPr>
          <p:cNvPr id="3" name="Content Placeholder 2">
            <a:extLst>
              <a:ext uri="{FF2B5EF4-FFF2-40B4-BE49-F238E27FC236}">
                <a16:creationId xmlns:a16="http://schemas.microsoft.com/office/drawing/2014/main" id="{AD3EC7BC-E63D-6019-144A-8EA62E4913EF}"/>
              </a:ext>
            </a:extLst>
          </p:cNvPr>
          <p:cNvSpPr>
            <a:spLocks noGrp="1"/>
          </p:cNvSpPr>
          <p:nvPr>
            <p:ph idx="1"/>
          </p:nvPr>
        </p:nvSpPr>
        <p:spPr>
          <a:xfrm>
            <a:off x="838200" y="1769806"/>
            <a:ext cx="10515600" cy="4259673"/>
          </a:xfrm>
        </p:spPr>
        <p:txBody>
          <a:bodyPr>
            <a:normAutofit/>
          </a:bodyPr>
          <a:lstStyle/>
          <a:p>
            <a:pPr marL="342900" marR="0" lvl="0" indent="-342900" algn="just">
              <a:lnSpc>
                <a:spcPct val="150000"/>
              </a:lnSpc>
              <a:spcBef>
                <a:spcPts val="0"/>
              </a:spcBef>
              <a:spcAft>
                <a:spcPts val="0"/>
              </a:spcAft>
              <a:buFont typeface="Symbol" panose="05050102010706020507" pitchFamily="18" charset="2"/>
              <a:buChar char=""/>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To design a rehabilitation system for an individual with hand paralysis to regain functionality of their hand</a:t>
            </a:r>
          </a:p>
          <a:p>
            <a:pPr marL="342900" marR="0" lvl="0" indent="-342900" algn="just">
              <a:lnSpc>
                <a:spcPct val="150000"/>
              </a:lnSpc>
              <a:spcBef>
                <a:spcPts val="0"/>
              </a:spcBef>
              <a:spcAft>
                <a:spcPts val="0"/>
              </a:spcAft>
              <a:buFont typeface="Symbol" panose="05050102010706020507" pitchFamily="18" charset="2"/>
              <a:buChar char=""/>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To design a system that senses electromyography (EMG) signals of the hands of the therapist</a:t>
            </a:r>
          </a:p>
          <a:p>
            <a:pPr marL="342900" marR="0" lvl="0" indent="-342900" algn="just">
              <a:lnSpc>
                <a:spcPct val="150000"/>
              </a:lnSpc>
              <a:spcBef>
                <a:spcPts val="0"/>
              </a:spcBef>
              <a:spcAft>
                <a:spcPts val="0"/>
              </a:spcAft>
              <a:buFont typeface="Symbol" panose="05050102010706020507" pitchFamily="18" charset="2"/>
              <a:buChar char=""/>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To train a machine learning model to recognize hand movements</a:t>
            </a:r>
          </a:p>
          <a:p>
            <a:pPr marL="342900" marR="0" lvl="0" indent="-342900" algn="just">
              <a:lnSpc>
                <a:spcPct val="150000"/>
              </a:lnSpc>
              <a:spcBef>
                <a:spcPts val="0"/>
              </a:spcBef>
              <a:spcAft>
                <a:spcPts val="800"/>
              </a:spcAft>
              <a:buFont typeface="Symbol" panose="05050102010706020507" pitchFamily="18" charset="2"/>
              <a:buChar char=""/>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To mimic the hand movement of the therapist </a:t>
            </a:r>
          </a:p>
          <a:p>
            <a:pPr marL="342900" marR="0" lvl="0" indent="-342900" algn="just">
              <a:lnSpc>
                <a:spcPct val="150000"/>
              </a:lnSpc>
              <a:spcBef>
                <a:spcPts val="0"/>
              </a:spcBef>
              <a:spcAft>
                <a:spcPts val="800"/>
              </a:spcAft>
              <a:buFont typeface="Symbol" panose="05050102010706020507" pitchFamily="18" charset="2"/>
              <a:buChar char=""/>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T</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o increase flexibility of the patient’s hand</a:t>
            </a:r>
          </a:p>
        </p:txBody>
      </p:sp>
    </p:spTree>
    <p:extLst>
      <p:ext uri="{BB962C8B-B14F-4D97-AF65-F5344CB8AC3E}">
        <p14:creationId xmlns:p14="http://schemas.microsoft.com/office/powerpoint/2010/main" val="367129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B709D-A33E-9D30-97F4-6065F2D74D9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Orientation of the Proposed Work</a:t>
            </a:r>
          </a:p>
        </p:txBody>
      </p:sp>
      <p:sp>
        <p:nvSpPr>
          <p:cNvPr id="3" name="Content Placeholder 2">
            <a:extLst>
              <a:ext uri="{FF2B5EF4-FFF2-40B4-BE49-F238E27FC236}">
                <a16:creationId xmlns:a16="http://schemas.microsoft.com/office/drawing/2014/main" id="{B14FEB9A-A8DA-630D-2BF7-7982E923A732}"/>
              </a:ext>
            </a:extLst>
          </p:cNvPr>
          <p:cNvSpPr>
            <a:spLocks noGrp="1"/>
          </p:cNvSpPr>
          <p:nvPr>
            <p:ph idx="1"/>
          </p:nvPr>
        </p:nvSpPr>
        <p:spPr/>
        <p:txBody>
          <a:bodyPr>
            <a:normAutofit/>
          </a:bodyPr>
          <a:lstStyle/>
          <a:p>
            <a:r>
              <a:rPr lang="en-US" sz="2700" dirty="0">
                <a:latin typeface="Times New Roman" panose="02020603050405020304" pitchFamily="18" charset="0"/>
                <a:cs typeface="Times New Roman" panose="02020603050405020304" pitchFamily="18" charset="0"/>
              </a:rPr>
              <a:t>The proposed system will assist individual with hand paralysis to recover their hand functionality</a:t>
            </a:r>
          </a:p>
          <a:p>
            <a:r>
              <a:rPr lang="en-US" sz="2700" dirty="0">
                <a:latin typeface="Times New Roman" panose="02020603050405020304" pitchFamily="18" charset="0"/>
                <a:cs typeface="Times New Roman" panose="02020603050405020304" pitchFamily="18" charset="0"/>
              </a:rPr>
              <a:t>The system consist of two phases:</a:t>
            </a:r>
          </a:p>
          <a:p>
            <a:pPr marL="971550" lvl="1" indent="-514350">
              <a:buFont typeface="+mj-lt"/>
              <a:buAutoNum type="arabicPeriod"/>
            </a:pPr>
            <a:r>
              <a:rPr lang="en-US" sz="2500" dirty="0">
                <a:latin typeface="Times New Roman" panose="02020603050405020304" pitchFamily="18" charset="0"/>
                <a:cs typeface="Times New Roman" panose="02020603050405020304" pitchFamily="18" charset="0"/>
              </a:rPr>
              <a:t>Data collection phase consist of EMG sensor used to collect the data from non-affected hand</a:t>
            </a:r>
          </a:p>
          <a:p>
            <a:pPr marL="971550" lvl="1" indent="-514350">
              <a:buFont typeface="+mj-lt"/>
              <a:buAutoNum type="arabicPeriod"/>
            </a:pPr>
            <a:r>
              <a:rPr lang="en-US" sz="2500" dirty="0">
                <a:latin typeface="Times New Roman" panose="02020603050405020304" pitchFamily="18" charset="0"/>
                <a:cs typeface="Times New Roman" panose="02020603050405020304" pitchFamily="18" charset="0"/>
              </a:rPr>
              <a:t>Actuation phase consist of servo motor to drive paralyzed hand movements</a:t>
            </a:r>
          </a:p>
          <a:p>
            <a:r>
              <a:rPr lang="en-US" sz="2700" dirty="0">
                <a:latin typeface="Times New Roman" panose="02020603050405020304" pitchFamily="18" charset="0"/>
                <a:cs typeface="Times New Roman" panose="02020603050405020304" pitchFamily="18" charset="0"/>
              </a:rPr>
              <a:t>Wi-Fi module can be implemented to receive the EMG signals from the non-affected hand to drive the servo motor</a:t>
            </a:r>
          </a:p>
        </p:txBody>
      </p:sp>
    </p:spTree>
    <p:extLst>
      <p:ext uri="{BB962C8B-B14F-4D97-AF65-F5344CB8AC3E}">
        <p14:creationId xmlns:p14="http://schemas.microsoft.com/office/powerpoint/2010/main" val="609228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C5C575-3D9C-5279-1553-BC89AB84CB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7628" y="1258837"/>
            <a:ext cx="4836088" cy="3550848"/>
          </a:xfrm>
          <a:prstGeom prst="rect">
            <a:avLst/>
          </a:prstGeom>
        </p:spPr>
      </p:pic>
      <p:pic>
        <p:nvPicPr>
          <p:cNvPr id="5" name="Picture 4">
            <a:extLst>
              <a:ext uri="{FF2B5EF4-FFF2-40B4-BE49-F238E27FC236}">
                <a16:creationId xmlns:a16="http://schemas.microsoft.com/office/drawing/2014/main" id="{3CC7D3E2-D738-F3B8-6FF6-41AEB4FDAD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2933" y="1258837"/>
            <a:ext cx="5448126" cy="3499977"/>
          </a:xfrm>
          <a:prstGeom prst="rect">
            <a:avLst/>
          </a:prstGeom>
        </p:spPr>
      </p:pic>
      <p:sp>
        <p:nvSpPr>
          <p:cNvPr id="6" name="TextBox 5">
            <a:extLst>
              <a:ext uri="{FF2B5EF4-FFF2-40B4-BE49-F238E27FC236}">
                <a16:creationId xmlns:a16="http://schemas.microsoft.com/office/drawing/2014/main" id="{E3243041-5B80-F510-8462-4D2492302B63}"/>
              </a:ext>
            </a:extLst>
          </p:cNvPr>
          <p:cNvSpPr txBox="1"/>
          <p:nvPr/>
        </p:nvSpPr>
        <p:spPr>
          <a:xfrm>
            <a:off x="1130710" y="5181600"/>
            <a:ext cx="413938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Rotating servo motor using EMG sensor</a:t>
            </a:r>
          </a:p>
        </p:txBody>
      </p:sp>
      <p:sp>
        <p:nvSpPr>
          <p:cNvPr id="7" name="TextBox 6">
            <a:extLst>
              <a:ext uri="{FF2B5EF4-FFF2-40B4-BE49-F238E27FC236}">
                <a16:creationId xmlns:a16="http://schemas.microsoft.com/office/drawing/2014/main" id="{96D4BB79-B0E2-6BD7-7807-FAD8EDB59939}"/>
              </a:ext>
            </a:extLst>
          </p:cNvPr>
          <p:cNvSpPr txBox="1"/>
          <p:nvPr/>
        </p:nvSpPr>
        <p:spPr>
          <a:xfrm>
            <a:off x="6292645" y="5270090"/>
            <a:ext cx="5112774"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Values of EMG shown in serial plotter</a:t>
            </a:r>
          </a:p>
        </p:txBody>
      </p:sp>
    </p:spTree>
    <p:extLst>
      <p:ext uri="{BB962C8B-B14F-4D97-AF65-F5344CB8AC3E}">
        <p14:creationId xmlns:p14="http://schemas.microsoft.com/office/powerpoint/2010/main" val="721495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 b="1" dirty="0">
                <a:latin typeface="Times New Roman"/>
                <a:ea typeface="Times New Roman"/>
                <a:cs typeface="Times New Roman"/>
                <a:sym typeface="Times New Roman"/>
              </a:rPr>
              <a:t>Requirement Specification</a:t>
            </a:r>
            <a:endParaRPr lang="en-IN" dirty="0"/>
          </a:p>
        </p:txBody>
      </p:sp>
      <p:sp>
        <p:nvSpPr>
          <p:cNvPr id="3" name="Content Placeholder 2"/>
          <p:cNvSpPr>
            <a:spLocks noGrp="1"/>
          </p:cNvSpPr>
          <p:nvPr>
            <p:ph idx="1"/>
          </p:nvPr>
        </p:nvSpPr>
        <p:spPr>
          <a:xfrm>
            <a:off x="838200" y="1473933"/>
            <a:ext cx="5407855" cy="4351338"/>
          </a:xfrm>
        </p:spPr>
        <p:txBody>
          <a:bodyPr>
            <a:normAutofit fontScale="92500" lnSpcReduction="20000"/>
          </a:bodyPr>
          <a:lstStyle/>
          <a:p>
            <a:pPr marL="0" lvl="0" indent="0">
              <a:buNone/>
            </a:pPr>
            <a:r>
              <a:rPr lang="en-IN" b="1" dirty="0">
                <a:solidFill>
                  <a:schemeClr val="dk1"/>
                </a:solidFill>
                <a:latin typeface="Times New Roman" panose="02020603050405020304" pitchFamily="18" charset="0"/>
                <a:ea typeface="Times New Roman"/>
                <a:cs typeface="Times New Roman" panose="02020603050405020304" pitchFamily="18" charset="0"/>
                <a:sym typeface="Times New Roman"/>
              </a:rPr>
              <a:t>Hardware Required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Arduino UNO</a:t>
            </a:r>
          </a:p>
          <a:p>
            <a:pPr lvl="1">
              <a:lnSpc>
                <a:spcPct val="150000"/>
              </a:lnSpc>
            </a:pPr>
            <a:r>
              <a:rPr lang="en-US" dirty="0">
                <a:latin typeface="Times New Roman" panose="02020603050405020304" pitchFamily="18" charset="0"/>
                <a:cs typeface="Times New Roman" panose="02020603050405020304" pitchFamily="18" charset="0"/>
              </a:rPr>
              <a:t>Uses ATmega328 microprocessor</a:t>
            </a:r>
          </a:p>
          <a:p>
            <a:pPr lvl="1">
              <a:lnSpc>
                <a:spcPct val="150000"/>
              </a:lnSpc>
            </a:pPr>
            <a:r>
              <a:rPr lang="en-US" dirty="0">
                <a:latin typeface="Times New Roman" panose="02020603050405020304" pitchFamily="18" charset="0"/>
                <a:cs typeface="Times New Roman" panose="02020603050405020304" pitchFamily="18" charset="0"/>
              </a:rPr>
              <a:t>It has 14 digital I/O pins</a:t>
            </a:r>
          </a:p>
          <a:p>
            <a:pPr lvl="1">
              <a:lnSpc>
                <a:spcPct val="150000"/>
              </a:lnSpc>
            </a:pPr>
            <a:r>
              <a:rPr lang="en-US" dirty="0">
                <a:latin typeface="Times New Roman" panose="02020603050405020304" pitchFamily="18" charset="0"/>
                <a:cs typeface="Times New Roman" panose="02020603050405020304" pitchFamily="18" charset="0"/>
              </a:rPr>
              <a:t>RAM size: 2 KB</a:t>
            </a:r>
          </a:p>
          <a:p>
            <a:pPr lvl="1">
              <a:lnSpc>
                <a:spcPct val="150000"/>
              </a:lnSpc>
            </a:pPr>
            <a:r>
              <a:rPr lang="en-US" dirty="0">
                <a:latin typeface="Times New Roman" panose="02020603050405020304" pitchFamily="18" charset="0"/>
                <a:cs typeface="Times New Roman" panose="02020603050405020304" pitchFamily="18" charset="0"/>
              </a:rPr>
              <a:t>Clock Speed: 16 MHz</a:t>
            </a:r>
          </a:p>
          <a:p>
            <a:pPr lvl="1">
              <a:lnSpc>
                <a:spcPct val="150000"/>
              </a:lnSpc>
            </a:pPr>
            <a:r>
              <a:rPr lang="en-IN" dirty="0">
                <a:latin typeface="Times New Roman" panose="02020603050405020304" pitchFamily="18" charset="0"/>
                <a:cs typeface="Times New Roman" panose="02020603050405020304" pitchFamily="18" charset="0"/>
              </a:rPr>
              <a:t>Flash Memory: 32 KB</a:t>
            </a:r>
          </a:p>
          <a:p>
            <a:pPr lvl="1">
              <a:lnSpc>
                <a:spcPct val="150000"/>
              </a:lnSpc>
            </a:pPr>
            <a:r>
              <a:rPr lang="en-IN" dirty="0">
                <a:latin typeface="Times New Roman" panose="02020603050405020304" pitchFamily="18" charset="0"/>
                <a:cs typeface="Times New Roman" panose="02020603050405020304" pitchFamily="18" charset="0"/>
              </a:rPr>
              <a:t>Analog Input Pins: 6 </a:t>
            </a:r>
          </a:p>
          <a:p>
            <a:pPr lvl="1">
              <a:lnSpc>
                <a:spcPct val="150000"/>
              </a:lnSpc>
            </a:pPr>
            <a:r>
              <a:rPr lang="pt-BR" dirty="0">
                <a:latin typeface="Times New Roman" panose="02020603050405020304" pitchFamily="18" charset="0"/>
                <a:cs typeface="Times New Roman" panose="02020603050405020304" pitchFamily="18" charset="0"/>
              </a:rPr>
              <a:t>PWM Digital I/O Pins: 6 </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070109" y="1325563"/>
            <a:ext cx="4283691" cy="3074585"/>
          </a:xfrm>
          <a:prstGeom prst="rect">
            <a:avLst/>
          </a:prstGeom>
        </p:spPr>
      </p:pic>
    </p:spTree>
    <p:extLst>
      <p:ext uri="{BB962C8B-B14F-4D97-AF65-F5344CB8AC3E}">
        <p14:creationId xmlns:p14="http://schemas.microsoft.com/office/powerpoint/2010/main" val="2668510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2874" y="745588"/>
            <a:ext cx="6189784" cy="4221605"/>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600" b="1" dirty="0">
                <a:latin typeface="Times New Roman" panose="02020603050405020304" pitchFamily="18" charset="0"/>
                <a:cs typeface="Times New Roman" panose="02020603050405020304" pitchFamily="18" charset="0"/>
              </a:rPr>
              <a:t>MyoWare Sensor</a:t>
            </a:r>
          </a:p>
          <a:p>
            <a:pPr marL="914400" lvl="1"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Single supply: +2.9V to 5.7V</a:t>
            </a:r>
          </a:p>
          <a:p>
            <a:pPr marL="914400" lvl="1"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Adjustable gain</a:t>
            </a:r>
          </a:p>
          <a:p>
            <a:pPr marL="914400" lvl="1"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MyoWare muscle sensor is used to collect the EMG data</a:t>
            </a:r>
          </a:p>
          <a:p>
            <a:pPr marL="914400" lvl="1"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It is a 3 lead muscle sensor specially designed for the microcontroller</a:t>
            </a:r>
            <a:endParaRPr lang="en-IN" sz="26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7976382" y="1699779"/>
            <a:ext cx="3548229" cy="3218774"/>
          </a:xfrm>
          <a:prstGeom prst="rect">
            <a:avLst/>
          </a:prstGeom>
        </p:spPr>
      </p:pic>
    </p:spTree>
    <p:extLst>
      <p:ext uri="{BB962C8B-B14F-4D97-AF65-F5344CB8AC3E}">
        <p14:creationId xmlns:p14="http://schemas.microsoft.com/office/powerpoint/2010/main" val="2565208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3723" y="618978"/>
            <a:ext cx="7357403" cy="4893647"/>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600" b="1" dirty="0">
                <a:latin typeface="Times New Roman" panose="02020603050405020304" pitchFamily="18" charset="0"/>
                <a:cs typeface="Times New Roman" panose="02020603050405020304" pitchFamily="18" charset="0"/>
              </a:rPr>
              <a:t>Servo Motor</a:t>
            </a:r>
            <a:endParaRPr lang="en-US" sz="2600" dirty="0">
              <a:latin typeface="Times New Roman" panose="02020603050405020304" pitchFamily="18" charset="0"/>
              <a:cs typeface="Times New Roman" panose="02020603050405020304" pitchFamily="18" charset="0"/>
            </a:endParaRPr>
          </a:p>
          <a:p>
            <a:pPr marL="914400" lvl="1"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Used to control the linear motion of the object</a:t>
            </a:r>
          </a:p>
          <a:p>
            <a:pPr marL="914400" lvl="1"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It consist of 3 wires:</a:t>
            </a:r>
          </a:p>
          <a:p>
            <a:pPr marL="1428750" lvl="2" indent="-514350">
              <a:lnSpc>
                <a:spcPct val="150000"/>
              </a:lnSpc>
              <a:buFont typeface="+mj-lt"/>
              <a:buAutoNum type="arabicPeriod"/>
            </a:pPr>
            <a:r>
              <a:rPr lang="en-US" sz="2600" u="sng" dirty="0">
                <a:latin typeface="Times New Roman" panose="02020603050405020304" pitchFamily="18" charset="0"/>
                <a:cs typeface="Times New Roman" panose="02020603050405020304" pitchFamily="18" charset="0"/>
              </a:rPr>
              <a:t>Brown</a:t>
            </a:r>
            <a:r>
              <a:rPr lang="en-US" sz="2600" dirty="0">
                <a:latin typeface="Times New Roman" panose="02020603050405020304" pitchFamily="18" charset="0"/>
                <a:cs typeface="Times New Roman" panose="02020603050405020304" pitchFamily="18" charset="0"/>
              </a:rPr>
              <a:t>: Ground wire</a:t>
            </a:r>
          </a:p>
          <a:p>
            <a:pPr marL="1428750" lvl="2" indent="-514350">
              <a:lnSpc>
                <a:spcPct val="150000"/>
              </a:lnSpc>
              <a:buFont typeface="+mj-lt"/>
              <a:buAutoNum type="arabicPeriod"/>
            </a:pPr>
            <a:r>
              <a:rPr lang="en-US" sz="2600" u="sng" dirty="0">
                <a:latin typeface="Times New Roman" panose="02020603050405020304" pitchFamily="18" charset="0"/>
                <a:cs typeface="Times New Roman" panose="02020603050405020304" pitchFamily="18" charset="0"/>
              </a:rPr>
              <a:t>Red</a:t>
            </a:r>
            <a:r>
              <a:rPr lang="en-US" sz="2600" dirty="0">
                <a:latin typeface="Times New Roman" panose="02020603050405020304" pitchFamily="18" charset="0"/>
                <a:cs typeface="Times New Roman" panose="02020603050405020304" pitchFamily="18" charset="0"/>
              </a:rPr>
              <a:t>: Connected to +5V</a:t>
            </a:r>
          </a:p>
          <a:p>
            <a:pPr marL="1428750" lvl="2" indent="-514350">
              <a:lnSpc>
                <a:spcPct val="150000"/>
              </a:lnSpc>
              <a:buFont typeface="+mj-lt"/>
              <a:buAutoNum type="arabicPeriod"/>
            </a:pPr>
            <a:r>
              <a:rPr lang="en-US" sz="2600" u="sng" dirty="0">
                <a:latin typeface="Times New Roman" panose="02020603050405020304" pitchFamily="18" charset="0"/>
                <a:cs typeface="Times New Roman" panose="02020603050405020304" pitchFamily="18" charset="0"/>
              </a:rPr>
              <a:t>Orange</a:t>
            </a:r>
            <a:r>
              <a:rPr lang="en-US" sz="2600" dirty="0">
                <a:latin typeface="Times New Roman" panose="02020603050405020304" pitchFamily="18" charset="0"/>
                <a:cs typeface="Times New Roman" panose="02020603050405020304" pitchFamily="18" charset="0"/>
              </a:rPr>
              <a:t>: PWM signal connected to the Arduino</a:t>
            </a:r>
          </a:p>
          <a:p>
            <a:pPr marL="971550" lvl="1" indent="-51435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Rotation: 0</a:t>
            </a:r>
            <a:r>
              <a:rPr lang="en-US" sz="2600" baseline="30000" dirty="0">
                <a:latin typeface="Times New Roman" panose="02020603050405020304" pitchFamily="18" charset="0"/>
                <a:cs typeface="Times New Roman" panose="02020603050405020304" pitchFamily="18" charset="0"/>
              </a:rPr>
              <a:t>o</a:t>
            </a:r>
            <a:r>
              <a:rPr lang="en-US" sz="2600" dirty="0">
                <a:latin typeface="Times New Roman" panose="02020603050405020304" pitchFamily="18" charset="0"/>
                <a:cs typeface="Times New Roman" panose="02020603050405020304" pitchFamily="18" charset="0"/>
              </a:rPr>
              <a:t> to 180</a:t>
            </a:r>
            <a:r>
              <a:rPr lang="en-US" sz="2600" baseline="30000" dirty="0">
                <a:latin typeface="Times New Roman" panose="02020603050405020304" pitchFamily="18" charset="0"/>
                <a:cs typeface="Times New Roman" panose="02020603050405020304" pitchFamily="18" charset="0"/>
              </a:rPr>
              <a:t>o</a:t>
            </a:r>
            <a:endParaRPr lang="en-US" sz="26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8131126" y="731520"/>
            <a:ext cx="3467584" cy="2334281"/>
          </a:xfrm>
          <a:prstGeom prst="rect">
            <a:avLst/>
          </a:prstGeom>
        </p:spPr>
      </p:pic>
      <p:pic>
        <p:nvPicPr>
          <p:cNvPr id="4" name="Picture 3"/>
          <p:cNvPicPr>
            <a:picLocks noChangeAspect="1"/>
          </p:cNvPicPr>
          <p:nvPr/>
        </p:nvPicPr>
        <p:blipFill>
          <a:blip r:embed="rId3"/>
          <a:stretch>
            <a:fillRect/>
          </a:stretch>
        </p:blipFill>
        <p:spPr>
          <a:xfrm>
            <a:off x="8131126" y="3796733"/>
            <a:ext cx="3391373" cy="2162477"/>
          </a:xfrm>
          <a:prstGeom prst="rect">
            <a:avLst/>
          </a:prstGeom>
        </p:spPr>
      </p:pic>
    </p:spTree>
    <p:extLst>
      <p:ext uri="{BB962C8B-B14F-4D97-AF65-F5344CB8AC3E}">
        <p14:creationId xmlns:p14="http://schemas.microsoft.com/office/powerpoint/2010/main" val="1346872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093107-BAE8-7D67-AF6E-A280FCFA2225}"/>
              </a:ext>
            </a:extLst>
          </p:cNvPr>
          <p:cNvSpPr txBox="1"/>
          <p:nvPr/>
        </p:nvSpPr>
        <p:spPr>
          <a:xfrm>
            <a:off x="884903" y="825910"/>
            <a:ext cx="6037007" cy="320869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sz="2600" b="1" dirty="0">
                <a:latin typeface="Times New Roman" panose="02020603050405020304" pitchFamily="18" charset="0"/>
                <a:cs typeface="Times New Roman" panose="02020603050405020304" pitchFamily="18" charset="0"/>
              </a:rPr>
              <a:t>ESP8266 Wi-Fi Module</a:t>
            </a:r>
          </a:p>
          <a:p>
            <a:pPr marL="914400" lvl="1" indent="-457200">
              <a:lnSpc>
                <a:spcPct val="150000"/>
              </a:lnSpc>
              <a:buFont typeface="Arial" panose="020B0604020202020204" pitchFamily="34" charset="0"/>
              <a:buChar char="•"/>
            </a:pPr>
            <a:r>
              <a:rPr lang="en-US" sz="2800" dirty="0"/>
              <a:t>4MB Flash Memory</a:t>
            </a:r>
            <a:endParaRPr lang="en-US" sz="2800" b="1" dirty="0">
              <a:latin typeface="Times New Roman" panose="02020603050405020304" pitchFamily="18" charset="0"/>
              <a:cs typeface="Times New Roman" panose="02020603050405020304" pitchFamily="18" charset="0"/>
            </a:endParaRPr>
          </a:p>
          <a:p>
            <a:pPr marL="914400" lvl="1" indent="-457200">
              <a:lnSpc>
                <a:spcPct val="150000"/>
              </a:lnSpc>
              <a:buFont typeface="Arial" panose="020B0604020202020204" pitchFamily="34" charset="0"/>
              <a:buChar char="•"/>
            </a:pPr>
            <a:r>
              <a:rPr lang="en-US" sz="2800" dirty="0"/>
              <a:t>Integrated low power 32-bit CPU</a:t>
            </a:r>
            <a:endParaRPr lang="en-US" sz="2800" b="1" dirty="0">
              <a:latin typeface="Times New Roman" panose="02020603050405020304" pitchFamily="18" charset="0"/>
              <a:cs typeface="Times New Roman" panose="02020603050405020304" pitchFamily="18" charset="0"/>
            </a:endParaRPr>
          </a:p>
          <a:p>
            <a:pPr marL="914400" lvl="1" indent="-457200">
              <a:lnSpc>
                <a:spcPct val="150000"/>
              </a:lnSpc>
              <a:buFont typeface="Arial" panose="020B0604020202020204" pitchFamily="34" charset="0"/>
              <a:buChar char="•"/>
            </a:pPr>
            <a:r>
              <a:rPr lang="en-US" sz="2800" dirty="0"/>
              <a:t>Wi-Fi Direct (P2P)</a:t>
            </a:r>
            <a:endParaRPr lang="en-US" sz="2800" b="1" dirty="0">
              <a:latin typeface="Times New Roman" panose="02020603050405020304" pitchFamily="18" charset="0"/>
              <a:cs typeface="Times New Roman" panose="02020603050405020304" pitchFamily="18" charset="0"/>
            </a:endParaRPr>
          </a:p>
          <a:p>
            <a:pPr marL="914400" lvl="1" indent="-457200">
              <a:lnSpc>
                <a:spcPct val="150000"/>
              </a:lnSpc>
              <a:buFont typeface="Arial" panose="020B0604020202020204" pitchFamily="34" charset="0"/>
              <a:buChar char="•"/>
            </a:pPr>
            <a:r>
              <a:rPr lang="en-US" sz="2800" dirty="0"/>
              <a:t>Integrated TCP/IP protocol stack</a:t>
            </a:r>
            <a:endParaRPr lang="en-US" sz="26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04B9E87-C757-CE76-D8F0-864F15D91317}"/>
              </a:ext>
            </a:extLst>
          </p:cNvPr>
          <p:cNvPicPr>
            <a:picLocks noChangeAspect="1"/>
          </p:cNvPicPr>
          <p:nvPr/>
        </p:nvPicPr>
        <p:blipFill>
          <a:blip r:embed="rId2"/>
          <a:stretch>
            <a:fillRect/>
          </a:stretch>
        </p:blipFill>
        <p:spPr>
          <a:xfrm>
            <a:off x="7177548" y="2534816"/>
            <a:ext cx="4139381" cy="3709610"/>
          </a:xfrm>
          <a:prstGeom prst="rect">
            <a:avLst/>
          </a:prstGeom>
        </p:spPr>
      </p:pic>
    </p:spTree>
    <p:extLst>
      <p:ext uri="{BB962C8B-B14F-4D97-AF65-F5344CB8AC3E}">
        <p14:creationId xmlns:p14="http://schemas.microsoft.com/office/powerpoint/2010/main" val="2543470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Platform Required</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lvl="0">
              <a:lnSpc>
                <a:spcPct val="150000"/>
              </a:lnSpc>
            </a:pPr>
            <a:r>
              <a:rPr lang="en-US" b="1" dirty="0">
                <a:latin typeface="Times New Roman" panose="02020603050405020304" pitchFamily="18" charset="0"/>
                <a:cs typeface="Times New Roman" panose="02020603050405020304" pitchFamily="18" charset="0"/>
              </a:rPr>
              <a:t>Arduino IDE</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Arduino IDE is a cross-platform application that allows users to write, compile, debug, and upload code to Arduino boards. It also includes a serial monitor for communication with Arduino boards.</a:t>
            </a:r>
          </a:p>
          <a:p>
            <a:pPr>
              <a:lnSpc>
                <a:spcPct val="150000"/>
              </a:lnSpc>
            </a:pPr>
            <a:r>
              <a:rPr lang="en-US" b="1" dirty="0">
                <a:latin typeface="Times New Roman" panose="02020603050405020304" pitchFamily="18" charset="0"/>
                <a:cs typeface="Times New Roman" panose="02020603050405020304" pitchFamily="18" charset="0"/>
              </a:rPr>
              <a:t>PyCharm IDE: </a:t>
            </a:r>
            <a:r>
              <a:rPr lang="en-US" dirty="0">
                <a:latin typeface="Times New Roman" panose="02020603050405020304" pitchFamily="18" charset="0"/>
                <a:cs typeface="Times New Roman" panose="02020603050405020304" pitchFamily="18" charset="0"/>
              </a:rPr>
              <a:t>PyCharm is a cross-platform integrated development environment (IDE) designed specifically for Python programming. </a:t>
            </a:r>
          </a:p>
        </p:txBody>
      </p:sp>
    </p:spTree>
    <p:extLst>
      <p:ext uri="{BB962C8B-B14F-4D97-AF65-F5344CB8AC3E}">
        <p14:creationId xmlns:p14="http://schemas.microsoft.com/office/powerpoint/2010/main" val="974963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C18EC-15B0-797D-4A78-53E97F63028B}"/>
              </a:ext>
            </a:extLst>
          </p:cNvPr>
          <p:cNvSpPr>
            <a:spLocks noGrp="1"/>
          </p:cNvSpPr>
          <p:nvPr>
            <p:ph type="title"/>
          </p:nvPr>
        </p:nvSpPr>
        <p:spPr>
          <a:xfrm>
            <a:off x="838200" y="365125"/>
            <a:ext cx="10515600" cy="844243"/>
          </a:xfrm>
        </p:spPr>
        <p:txBody>
          <a:bodyPr>
            <a:normAutofit/>
          </a:bodyPr>
          <a:lstStyle/>
          <a:p>
            <a:r>
              <a:rPr lang="en-US" sz="4000" b="1" dirty="0">
                <a:latin typeface="Times New Roman" panose="02020603050405020304" pitchFamily="18" charset="0"/>
                <a:cs typeface="Times New Roman" panose="02020603050405020304" pitchFamily="18" charset="0"/>
              </a:rPr>
              <a:t>Libraries Required</a:t>
            </a:r>
          </a:p>
        </p:txBody>
      </p:sp>
      <p:sp>
        <p:nvSpPr>
          <p:cNvPr id="3" name="Content Placeholder 2">
            <a:extLst>
              <a:ext uri="{FF2B5EF4-FFF2-40B4-BE49-F238E27FC236}">
                <a16:creationId xmlns:a16="http://schemas.microsoft.com/office/drawing/2014/main" id="{5E5E3D2E-7617-F206-51EE-D055760DEB49}"/>
              </a:ext>
            </a:extLst>
          </p:cNvPr>
          <p:cNvSpPr>
            <a:spLocks noGrp="1"/>
          </p:cNvSpPr>
          <p:nvPr>
            <p:ph idx="1"/>
          </p:nvPr>
        </p:nvSpPr>
        <p:spPr>
          <a:xfrm>
            <a:off x="838200" y="1337187"/>
            <a:ext cx="10515600" cy="4839776"/>
          </a:xfrm>
        </p:spPr>
        <p:txBody>
          <a:bodyPr>
            <a:normAutofit fontScale="92500" lnSpcReduction="20000"/>
          </a:bodyPr>
          <a:lstStyle/>
          <a:p>
            <a:pPr>
              <a:lnSpc>
                <a:spcPct val="150000"/>
              </a:lnSpc>
            </a:pPr>
            <a:r>
              <a:rPr lang="en-US" b="1" dirty="0">
                <a:latin typeface="Times New Roman" panose="02020603050405020304" pitchFamily="18" charset="0"/>
                <a:cs typeface="Times New Roman" panose="02020603050405020304" pitchFamily="18" charset="0"/>
              </a:rPr>
              <a:t>NumPy: </a:t>
            </a:r>
            <a:r>
              <a:rPr lang="en-US" dirty="0">
                <a:latin typeface="Times New Roman" panose="02020603050405020304" pitchFamily="18" charset="0"/>
                <a:cs typeface="Times New Roman" panose="02020603050405020304" pitchFamily="18" charset="0"/>
              </a:rPr>
              <a:t>Numerical Python is a Python library that adds support for large, multi-dimensional arrays and matrices</a:t>
            </a:r>
          </a:p>
          <a:p>
            <a:pPr>
              <a:lnSpc>
                <a:spcPct val="150000"/>
              </a:lnSpc>
            </a:pPr>
            <a:r>
              <a:rPr lang="en-US" b="1" dirty="0">
                <a:latin typeface="Times New Roman" panose="02020603050405020304" pitchFamily="18" charset="0"/>
                <a:cs typeface="Times New Roman" panose="02020603050405020304" pitchFamily="18" charset="0"/>
              </a:rPr>
              <a:t>Pandas: </a:t>
            </a:r>
            <a:r>
              <a:rPr lang="en-US" dirty="0">
                <a:latin typeface="Times New Roman" panose="02020603050405020304" pitchFamily="18" charset="0"/>
                <a:cs typeface="Times New Roman" panose="02020603050405020304" pitchFamily="18" charset="0"/>
              </a:rPr>
              <a:t>It is a Python library used to work with datasets for analyzing, cleaning, exploring, and manipulating data</a:t>
            </a:r>
          </a:p>
          <a:p>
            <a:pPr>
              <a:lnSpc>
                <a:spcPct val="150000"/>
              </a:lnSpc>
            </a:pPr>
            <a:r>
              <a:rPr lang="en-US" b="1" dirty="0">
                <a:latin typeface="Times New Roman" panose="02020603050405020304" pitchFamily="18" charset="0"/>
                <a:cs typeface="Times New Roman" panose="02020603050405020304" pitchFamily="18" charset="0"/>
              </a:rPr>
              <a:t>Scikit-learn: </a:t>
            </a:r>
            <a:r>
              <a:rPr lang="en-US" dirty="0">
                <a:latin typeface="Times New Roman" panose="02020603050405020304" pitchFamily="18" charset="0"/>
                <a:cs typeface="Times New Roman" panose="02020603050405020304" pitchFamily="18" charset="0"/>
              </a:rPr>
              <a:t>It is a machine learning library, supports various algorithms like SVM, Decision tree, and Random forest</a:t>
            </a:r>
          </a:p>
          <a:p>
            <a:pPr>
              <a:lnSpc>
                <a:spcPct val="150000"/>
              </a:lnSpc>
            </a:pPr>
            <a:r>
              <a:rPr lang="en-US" b="1" dirty="0" err="1">
                <a:latin typeface="Times New Roman" panose="02020603050405020304" pitchFamily="18" charset="0"/>
                <a:cs typeface="Times New Roman" panose="02020603050405020304" pitchFamily="18" charset="0"/>
              </a:rPr>
              <a:t>Keras</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It is a high-level API for TensorFlow and can be used to deploy models on microcontrollers using TensorFlow Lite</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7059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03236"/>
          </a:xfrm>
        </p:spPr>
        <p:txBody>
          <a:bodyPr/>
          <a:lstStyle/>
          <a:p>
            <a:r>
              <a:rPr lang="en-US" b="1" dirty="0">
                <a:latin typeface="Times New Roman" panose="02020603050405020304" pitchFamily="18" charset="0"/>
                <a:cs typeface="Times New Roman" panose="02020603050405020304" pitchFamily="18" charset="0"/>
              </a:rPr>
              <a:t>Planning and Scheduling </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81087"/>
            <a:ext cx="10515600" cy="5644177"/>
          </a:xfrm>
        </p:spPr>
        <p:txBody>
          <a:bodyPr>
            <a:noAutofit/>
          </a:bodyPr>
          <a:lstStyle/>
          <a:p>
            <a:pPr>
              <a:lnSpc>
                <a:spcPct val="160000"/>
              </a:lnSpc>
            </a:pPr>
            <a:r>
              <a:rPr lang="en-US" sz="2600" dirty="0">
                <a:latin typeface="Times New Roman" panose="02020603050405020304" pitchFamily="18" charset="0"/>
                <a:cs typeface="Times New Roman" panose="02020603050405020304" pitchFamily="18" charset="0"/>
              </a:rPr>
              <a:t>Understanding the problem domain and the difficulties people facing with hand paralysis</a:t>
            </a:r>
          </a:p>
          <a:p>
            <a:pPr>
              <a:lnSpc>
                <a:spcPct val="160000"/>
              </a:lnSpc>
            </a:pPr>
            <a:r>
              <a:rPr lang="en-US" sz="2600" dirty="0">
                <a:latin typeface="Times New Roman" panose="02020603050405020304" pitchFamily="18" charset="0"/>
                <a:cs typeface="Times New Roman" panose="02020603050405020304" pitchFamily="18" charset="0"/>
              </a:rPr>
              <a:t>Gathering information related to the specified problem</a:t>
            </a:r>
          </a:p>
          <a:p>
            <a:pPr>
              <a:lnSpc>
                <a:spcPct val="160000"/>
              </a:lnSpc>
            </a:pPr>
            <a:r>
              <a:rPr lang="en-US" sz="2600" dirty="0">
                <a:latin typeface="Times New Roman" panose="02020603050405020304" pitchFamily="18" charset="0"/>
                <a:cs typeface="Times New Roman" panose="02020603050405020304" pitchFamily="18" charset="0"/>
              </a:rPr>
              <a:t>Collection of the required hardware components and software applications are specified in the requirement specification</a:t>
            </a:r>
          </a:p>
          <a:p>
            <a:pPr>
              <a:lnSpc>
                <a:spcPct val="160000"/>
              </a:lnSpc>
            </a:pPr>
            <a:r>
              <a:rPr lang="en-US" sz="2600" dirty="0">
                <a:latin typeface="Times New Roman" panose="02020603050405020304" pitchFamily="18" charset="0"/>
                <a:cs typeface="Times New Roman" panose="02020603050405020304" pitchFamily="18" charset="0"/>
              </a:rPr>
              <a:t>Analyzing the feasibility of the project</a:t>
            </a:r>
          </a:p>
          <a:p>
            <a:pPr>
              <a:lnSpc>
                <a:spcPct val="160000"/>
              </a:lnSpc>
            </a:pPr>
            <a:r>
              <a:rPr lang="en-US" sz="2600" dirty="0">
                <a:latin typeface="Times New Roman" panose="02020603050405020304" pitchFamily="18" charset="0"/>
                <a:cs typeface="Times New Roman" panose="02020603050405020304" pitchFamily="18" charset="0"/>
              </a:rPr>
              <a:t>Study of the suitable Machine Learning model that can be deployed on the system</a:t>
            </a:r>
          </a:p>
        </p:txBody>
      </p:sp>
    </p:spTree>
    <p:extLst>
      <p:ext uri="{BB962C8B-B14F-4D97-AF65-F5344CB8AC3E}">
        <p14:creationId xmlns:p14="http://schemas.microsoft.com/office/powerpoint/2010/main" val="4159785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54258" y="1018115"/>
            <a:ext cx="10283483" cy="4821769"/>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Designing the proposed system and verifying whether it is accepting inputs</a:t>
            </a:r>
          </a:p>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Collecting or creating dataset</a:t>
            </a:r>
          </a:p>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Training the Machine Learning model using suitable ML algorithm</a:t>
            </a:r>
          </a:p>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Deploying the ML model on the designed system</a:t>
            </a:r>
          </a:p>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Analyzing the results obtained by giving real time input to the system </a:t>
            </a:r>
          </a:p>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system will recognize the gesture and perform the same action using servo motor</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0427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5860" y="2287540"/>
            <a:ext cx="7460735" cy="3666945"/>
          </a:xfrm>
          <a:prstGeom prst="rect">
            <a:avLst/>
          </a:prstGeom>
        </p:spPr>
      </p:pic>
      <p:sp>
        <p:nvSpPr>
          <p:cNvPr id="4" name="TextBox 3"/>
          <p:cNvSpPr txBox="1"/>
          <p:nvPr/>
        </p:nvSpPr>
        <p:spPr>
          <a:xfrm>
            <a:off x="2841673" y="6143933"/>
            <a:ext cx="6049108" cy="646331"/>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1. Iterative Model</a:t>
            </a:r>
          </a:p>
          <a:p>
            <a:pPr algn="ctr"/>
            <a:r>
              <a:rPr lang="en-IN" dirty="0">
                <a:latin typeface="Times New Roman" panose="02020603050405020304" pitchFamily="18" charset="0"/>
                <a:cs typeface="Times New Roman" panose="02020603050405020304" pitchFamily="18" charset="0"/>
              </a:rPr>
              <a:t>[Source: medium.com]</a:t>
            </a:r>
          </a:p>
        </p:txBody>
      </p:sp>
      <p:sp>
        <p:nvSpPr>
          <p:cNvPr id="5" name="TextBox 4"/>
          <p:cNvSpPr txBox="1"/>
          <p:nvPr/>
        </p:nvSpPr>
        <p:spPr>
          <a:xfrm>
            <a:off x="844062" y="436098"/>
            <a:ext cx="10213144" cy="1015663"/>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proposed system will follow an iterative model for the development of the system which typically involves data collection, training ML model, evaluating, improving, and repeating the process until the model is performing well.</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93935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Methodology </a:t>
            </a:r>
          </a:p>
        </p:txBody>
      </p:sp>
      <p:sp>
        <p:nvSpPr>
          <p:cNvPr id="4" name="TextBox 3"/>
          <p:cNvSpPr txBox="1"/>
          <p:nvPr/>
        </p:nvSpPr>
        <p:spPr>
          <a:xfrm>
            <a:off x="3200283" y="5725551"/>
            <a:ext cx="5824025"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2. Block Diagram of a Proposed System</a:t>
            </a:r>
          </a:p>
        </p:txBody>
      </p:sp>
      <p:pic>
        <p:nvPicPr>
          <p:cNvPr id="6" name="Picture 5"/>
          <p:cNvPicPr>
            <a:picLocks noChangeAspect="1"/>
          </p:cNvPicPr>
          <p:nvPr/>
        </p:nvPicPr>
        <p:blipFill>
          <a:blip r:embed="rId2"/>
          <a:stretch>
            <a:fillRect/>
          </a:stretch>
        </p:blipFill>
        <p:spPr>
          <a:xfrm>
            <a:off x="838200" y="1690688"/>
            <a:ext cx="10515600" cy="3781644"/>
          </a:xfrm>
          <a:prstGeom prst="rect">
            <a:avLst/>
          </a:prstGeom>
        </p:spPr>
      </p:pic>
    </p:spTree>
    <p:extLst>
      <p:ext uri="{BB962C8B-B14F-4D97-AF65-F5344CB8AC3E}">
        <p14:creationId xmlns:p14="http://schemas.microsoft.com/office/powerpoint/2010/main" val="24158764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5926" y="647114"/>
            <a:ext cx="10536702" cy="2062103"/>
          </a:xfrm>
          <a:prstGeom prst="rect">
            <a:avLst/>
          </a:prstGeom>
          <a:noFill/>
        </p:spPr>
        <p:txBody>
          <a:bodyPr wrap="square" rtlCol="0">
            <a:spAutoFit/>
          </a:bodyPr>
          <a:lstStyle/>
          <a:p>
            <a:pPr marL="514350" indent="-514350">
              <a:buAutoNum type="arabicPeriod"/>
            </a:pPr>
            <a:r>
              <a:rPr lang="en-IN" sz="3200" b="1" dirty="0">
                <a:latin typeface="Times New Roman" panose="02020603050405020304" pitchFamily="18" charset="0"/>
                <a:cs typeface="Times New Roman" panose="02020603050405020304" pitchFamily="18" charset="0"/>
              </a:rPr>
              <a:t>Input </a:t>
            </a:r>
          </a:p>
          <a:p>
            <a:pPr lvl="1"/>
            <a:r>
              <a:rPr lang="en-IN" sz="3200" dirty="0">
                <a:latin typeface="Times New Roman" panose="02020603050405020304" pitchFamily="18" charset="0"/>
                <a:cs typeface="Times New Roman" panose="02020603050405020304" pitchFamily="18" charset="0"/>
              </a:rPr>
              <a:t>The input to the system will be the hand movements in real   time given using surface EMG sensor</a:t>
            </a:r>
            <a:endParaRPr lang="en-IN" sz="3600" b="1" dirty="0">
              <a:latin typeface="Times New Roman" panose="02020603050405020304" pitchFamily="18" charset="0"/>
              <a:cs typeface="Times New Roman" panose="02020603050405020304" pitchFamily="18" charset="0"/>
            </a:endParaRPr>
          </a:p>
          <a:p>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3011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50720"/>
          </a:xfrm>
        </p:spPr>
        <p:txBody>
          <a:bodyPr/>
          <a:lstStyle/>
          <a:p>
            <a:r>
              <a:rPr lang="en-IN" b="1" dirty="0">
                <a:latin typeface="Times New Roman" panose="02020603050405020304" pitchFamily="18" charset="0"/>
                <a:cs typeface="Times New Roman" panose="02020603050405020304" pitchFamily="18" charset="0"/>
              </a:rPr>
              <a:t>2. Algorithms </a:t>
            </a:r>
          </a:p>
        </p:txBody>
      </p:sp>
      <p:sp>
        <p:nvSpPr>
          <p:cNvPr id="3" name="Content Placeholder 2"/>
          <p:cNvSpPr>
            <a:spLocks noGrp="1"/>
          </p:cNvSpPr>
          <p:nvPr>
            <p:ph idx="1"/>
          </p:nvPr>
        </p:nvSpPr>
        <p:spPr>
          <a:xfrm>
            <a:off x="1337187" y="1520825"/>
            <a:ext cx="10016613" cy="4351338"/>
          </a:xfrm>
        </p:spPr>
        <p:txBody>
          <a:bodyPr>
            <a:noAutofit/>
          </a:bodyPr>
          <a:lstStyle/>
          <a:p>
            <a:pPr>
              <a:lnSpc>
                <a:spcPct val="15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k-NN (k- Nearest Neighbour)</a:t>
            </a:r>
          </a:p>
          <a:p>
            <a:pPr lvl="1">
              <a:lnSpc>
                <a:spcPct val="150000"/>
              </a:lnSpc>
            </a:pPr>
            <a:r>
              <a:rPr lang="en-IN" sz="2200" dirty="0">
                <a:latin typeface="Times New Roman" panose="02020603050405020304" pitchFamily="18" charset="0"/>
                <a:cs typeface="Times New Roman" panose="02020603050405020304" pitchFamily="18" charset="0"/>
              </a:rPr>
              <a:t>It is supervised Machine Learning algorithm used for classification</a:t>
            </a:r>
          </a:p>
          <a:p>
            <a:pPr lvl="1">
              <a:lnSpc>
                <a:spcPct val="150000"/>
              </a:lnSpc>
            </a:pPr>
            <a:r>
              <a:rPr lang="en-IN" sz="2200" dirty="0">
                <a:latin typeface="Times New Roman" panose="02020603050405020304" pitchFamily="18" charset="0"/>
                <a:cs typeface="Times New Roman" panose="02020603050405020304" pitchFamily="18" charset="0"/>
              </a:rPr>
              <a:t>A class label is assigned on the basis of the </a:t>
            </a:r>
            <a:r>
              <a:rPr lang="en-IN" sz="2200" b="1" dirty="0">
                <a:latin typeface="Times New Roman" panose="02020603050405020304" pitchFamily="18" charset="0"/>
                <a:cs typeface="Times New Roman" panose="02020603050405020304" pitchFamily="18" charset="0"/>
              </a:rPr>
              <a:t>majority vote </a:t>
            </a:r>
          </a:p>
          <a:p>
            <a:pPr lvl="1">
              <a:lnSpc>
                <a:spcPct val="150000"/>
              </a:lnSpc>
            </a:pPr>
            <a:r>
              <a:rPr lang="en-IN" sz="2200" dirty="0">
                <a:latin typeface="Times New Roman" panose="02020603050405020304" pitchFamily="18" charset="0"/>
                <a:cs typeface="Times New Roman" panose="02020603050405020304" pitchFamily="18" charset="0"/>
              </a:rPr>
              <a:t>Majority voting is also known as </a:t>
            </a:r>
            <a:r>
              <a:rPr lang="en-IN" sz="2200" b="1" dirty="0">
                <a:latin typeface="Times New Roman" panose="02020603050405020304" pitchFamily="18" charset="0"/>
                <a:cs typeface="Times New Roman" panose="02020603050405020304" pitchFamily="18" charset="0"/>
              </a:rPr>
              <a:t>plurality voting</a:t>
            </a:r>
          </a:p>
          <a:p>
            <a:pPr lvl="1">
              <a:lnSpc>
                <a:spcPct val="150000"/>
              </a:lnSpc>
            </a:pPr>
            <a:r>
              <a:rPr lang="en-IN" sz="2200" dirty="0">
                <a:latin typeface="Times New Roman" panose="02020603050405020304" pitchFamily="18" charset="0"/>
                <a:cs typeface="Times New Roman" panose="02020603050405020304" pitchFamily="18" charset="0"/>
              </a:rPr>
              <a:t>The k-NN algorithm compares a new data entry with the given dataset and based on its similarity on a given region (k) of neighbours, it assigns the label to the new data </a:t>
            </a:r>
          </a:p>
          <a:p>
            <a:pPr lvl="1">
              <a:lnSpc>
                <a:spcPct val="150000"/>
              </a:lnSpc>
            </a:pPr>
            <a:r>
              <a:rPr lang="en-IN" sz="2200" dirty="0">
                <a:latin typeface="Times New Roman" panose="02020603050405020304" pitchFamily="18" charset="0"/>
                <a:cs typeface="Times New Roman" panose="02020603050405020304" pitchFamily="18" charset="0"/>
              </a:rPr>
              <a:t>k-NN calculates the distance between new data and existing data in the dataset and find its k nearest neighbour</a:t>
            </a:r>
          </a:p>
        </p:txBody>
      </p:sp>
    </p:spTree>
    <p:extLst>
      <p:ext uri="{BB962C8B-B14F-4D97-AF65-F5344CB8AC3E}">
        <p14:creationId xmlns:p14="http://schemas.microsoft.com/office/powerpoint/2010/main" val="1709630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145A7-1560-AA5E-9575-9D0C55AC03E4}"/>
              </a:ext>
            </a:extLst>
          </p:cNvPr>
          <p:cNvSpPr>
            <a:spLocks noGrp="1"/>
          </p:cNvSpPr>
          <p:nvPr>
            <p:ph type="title"/>
          </p:nvPr>
        </p:nvSpPr>
        <p:spPr>
          <a:xfrm>
            <a:off x="838200" y="365126"/>
            <a:ext cx="10515600" cy="315912"/>
          </a:xfrm>
        </p:spPr>
        <p:txBody>
          <a:bodyPr>
            <a:normAutofit fontScale="90000"/>
          </a:bodyPr>
          <a:lstStyle/>
          <a:p>
            <a:r>
              <a:rPr lang="en-US" dirty="0"/>
              <a:t> </a:t>
            </a:r>
          </a:p>
        </p:txBody>
      </p:sp>
      <p:sp>
        <p:nvSpPr>
          <p:cNvPr id="3" name="Content Placeholder 2">
            <a:extLst>
              <a:ext uri="{FF2B5EF4-FFF2-40B4-BE49-F238E27FC236}">
                <a16:creationId xmlns:a16="http://schemas.microsoft.com/office/drawing/2014/main" id="{CD746370-C0B7-2228-5AC8-D20D0FE47FD2}"/>
              </a:ext>
            </a:extLst>
          </p:cNvPr>
          <p:cNvSpPr>
            <a:spLocks noGrp="1"/>
          </p:cNvSpPr>
          <p:nvPr>
            <p:ph idx="1"/>
          </p:nvPr>
        </p:nvSpPr>
        <p:spPr>
          <a:xfrm>
            <a:off x="1386348" y="816077"/>
            <a:ext cx="9967452" cy="5360886"/>
          </a:xfrm>
        </p:spPr>
        <p:txBody>
          <a:bodyPr/>
          <a:lstStyle/>
          <a:p>
            <a:pPr algn="just"/>
            <a:r>
              <a:rPr lang="en-US" dirty="0">
                <a:latin typeface="Times New Roman" panose="02020603050405020304" pitchFamily="18" charset="0"/>
                <a:cs typeface="Times New Roman" panose="02020603050405020304" pitchFamily="18" charset="0"/>
              </a:rPr>
              <a:t>The distance metrics is used to form the decision boundaries to partition query points into different regions</a:t>
            </a:r>
          </a:p>
          <a:p>
            <a:pPr algn="just"/>
            <a:r>
              <a:rPr lang="en-US" b="1" dirty="0">
                <a:latin typeface="Times New Roman" panose="02020603050405020304" pitchFamily="18" charset="0"/>
                <a:cs typeface="Times New Roman" panose="02020603050405020304" pitchFamily="18" charset="0"/>
              </a:rPr>
              <a:t>Euclidean distance </a:t>
            </a:r>
            <a:r>
              <a:rPr lang="en-US" dirty="0">
                <a:latin typeface="Times New Roman" panose="02020603050405020304" pitchFamily="18" charset="0"/>
                <a:cs typeface="Times New Roman" panose="02020603050405020304" pitchFamily="18" charset="0"/>
              </a:rPr>
              <a:t>is used to measure the straight line between the query point and the other points</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lgn="ctr">
              <a:buNone/>
            </a:pPr>
            <a:r>
              <a:rPr lang="en-US" sz="2400" b="1" dirty="0">
                <a:latin typeface="Times New Roman" panose="02020603050405020304" pitchFamily="18" charset="0"/>
                <a:cs typeface="Times New Roman" panose="02020603050405020304" pitchFamily="18" charset="0"/>
              </a:rPr>
              <a:t>Euclidean Distance </a:t>
            </a:r>
          </a:p>
          <a:p>
            <a:pPr algn="just"/>
            <a:r>
              <a:rPr lang="en-US" dirty="0">
                <a:latin typeface="Times New Roman" panose="02020603050405020304" pitchFamily="18" charset="0"/>
                <a:cs typeface="Times New Roman" panose="02020603050405020304" pitchFamily="18" charset="0"/>
              </a:rPr>
              <a:t>The k value defines how many neighbors will be checked to determine the classification of a specific query point</a:t>
            </a:r>
            <a:endParaRPr lang="en-US"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064AAC5-1003-4B68-589C-F3D105FC229A}"/>
              </a:ext>
            </a:extLst>
          </p:cNvPr>
          <p:cNvPicPr>
            <a:picLocks noChangeAspect="1"/>
          </p:cNvPicPr>
          <p:nvPr/>
        </p:nvPicPr>
        <p:blipFill>
          <a:blip r:embed="rId2"/>
          <a:stretch>
            <a:fillRect/>
          </a:stretch>
        </p:blipFill>
        <p:spPr>
          <a:xfrm>
            <a:off x="4484165" y="3153697"/>
            <a:ext cx="3771818" cy="1440502"/>
          </a:xfrm>
          <a:prstGeom prst="rect">
            <a:avLst/>
          </a:prstGeom>
        </p:spPr>
      </p:pic>
    </p:spTree>
    <p:extLst>
      <p:ext uri="{BB962C8B-B14F-4D97-AF65-F5344CB8AC3E}">
        <p14:creationId xmlns:p14="http://schemas.microsoft.com/office/powerpoint/2010/main" val="2915065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2252B7-77DA-C1F5-8F9C-ECB05C7FC8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683" y="333674"/>
            <a:ext cx="11282634" cy="5416610"/>
          </a:xfrm>
          <a:prstGeom prst="rect">
            <a:avLst/>
          </a:prstGeom>
        </p:spPr>
      </p:pic>
      <p:sp>
        <p:nvSpPr>
          <p:cNvPr id="4" name="TextBox 3">
            <a:extLst>
              <a:ext uri="{FF2B5EF4-FFF2-40B4-BE49-F238E27FC236}">
                <a16:creationId xmlns:a16="http://schemas.microsoft.com/office/drawing/2014/main" id="{B5084C18-43E2-ED25-71E9-D1315D055742}"/>
              </a:ext>
            </a:extLst>
          </p:cNvPr>
          <p:cNvSpPr txBox="1"/>
          <p:nvPr/>
        </p:nvSpPr>
        <p:spPr>
          <a:xfrm>
            <a:off x="2595716" y="6017342"/>
            <a:ext cx="6263149"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3. K-NN Algorithm for Classification</a:t>
            </a:r>
          </a:p>
          <a:p>
            <a:pPr algn="ctr"/>
            <a:r>
              <a:rPr lang="en-US" dirty="0">
                <a:latin typeface="Times New Roman" panose="02020603050405020304" pitchFamily="18" charset="0"/>
                <a:cs typeface="Times New Roman" panose="02020603050405020304" pitchFamily="18" charset="0"/>
              </a:rPr>
              <a:t>[Source: DataScientest.com]</a:t>
            </a:r>
          </a:p>
        </p:txBody>
      </p:sp>
    </p:spTree>
    <p:extLst>
      <p:ext uri="{BB962C8B-B14F-4D97-AF65-F5344CB8AC3E}">
        <p14:creationId xmlns:p14="http://schemas.microsoft.com/office/powerpoint/2010/main" val="1377042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904CB-3E69-1771-EC26-8BE0DE17331A}"/>
              </a:ext>
            </a:extLst>
          </p:cNvPr>
          <p:cNvSpPr>
            <a:spLocks noGrp="1"/>
          </p:cNvSpPr>
          <p:nvPr>
            <p:ph type="title"/>
          </p:nvPr>
        </p:nvSpPr>
        <p:spPr>
          <a:xfrm>
            <a:off x="1111044" y="365126"/>
            <a:ext cx="10242755" cy="903236"/>
          </a:xfrm>
        </p:spPr>
        <p:txBody>
          <a:bodyPr>
            <a:normAutofit/>
          </a:bodyPr>
          <a:lstStyle/>
          <a:p>
            <a:r>
              <a:rPr lang="en-US" sz="3600" b="1" dirty="0">
                <a:latin typeface="Times New Roman" panose="02020603050405020304" pitchFamily="18" charset="0"/>
                <a:cs typeface="Times New Roman" panose="02020603050405020304" pitchFamily="18" charset="0"/>
              </a:rPr>
              <a:t>Alternative Technique</a:t>
            </a:r>
          </a:p>
        </p:txBody>
      </p:sp>
      <p:sp>
        <p:nvSpPr>
          <p:cNvPr id="3" name="Content Placeholder 2">
            <a:extLst>
              <a:ext uri="{FF2B5EF4-FFF2-40B4-BE49-F238E27FC236}">
                <a16:creationId xmlns:a16="http://schemas.microsoft.com/office/drawing/2014/main" id="{F2C60847-14AA-1E8E-E54B-6C74D35CC219}"/>
              </a:ext>
            </a:extLst>
          </p:cNvPr>
          <p:cNvSpPr>
            <a:spLocks noGrp="1"/>
          </p:cNvSpPr>
          <p:nvPr>
            <p:ph idx="1"/>
          </p:nvPr>
        </p:nvSpPr>
        <p:spPr>
          <a:xfrm>
            <a:off x="1327353" y="1268362"/>
            <a:ext cx="9810135" cy="4351338"/>
          </a:xfrm>
        </p:spPr>
        <p:txBody>
          <a:bodyPr/>
          <a:lstStyle/>
          <a:p>
            <a:pPr>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Support Vector Machine (SVM)</a:t>
            </a:r>
          </a:p>
          <a:p>
            <a:pPr lvl="1">
              <a:lnSpc>
                <a:spcPct val="150000"/>
              </a:lnSpc>
            </a:pPr>
            <a:r>
              <a:rPr lang="en-US" dirty="0">
                <a:latin typeface="Times New Roman" panose="02020603050405020304" pitchFamily="18" charset="0"/>
                <a:cs typeface="Times New Roman" panose="02020603050405020304" pitchFamily="18" charset="0"/>
              </a:rPr>
              <a:t>SVM is a supervised Machine Learning technique</a:t>
            </a:r>
          </a:p>
          <a:p>
            <a:pPr lvl="1">
              <a:lnSpc>
                <a:spcPct val="100000"/>
              </a:lnSpc>
            </a:pPr>
            <a:r>
              <a:rPr lang="en-US" dirty="0">
                <a:latin typeface="Times New Roman" panose="02020603050405020304" pitchFamily="18" charset="0"/>
                <a:cs typeface="Times New Roman" panose="02020603050405020304" pitchFamily="18" charset="0"/>
              </a:rPr>
              <a:t>SVM classifies data by finding the optimal boundary that separates classes in an N-dimensional space</a:t>
            </a:r>
          </a:p>
          <a:p>
            <a:pPr lvl="1">
              <a:lnSpc>
                <a:spcPct val="100000"/>
              </a:lnSpc>
            </a:pPr>
            <a:r>
              <a:rPr lang="en-US" dirty="0">
                <a:latin typeface="Times New Roman" panose="02020603050405020304" pitchFamily="18" charset="0"/>
                <a:cs typeface="Times New Roman" panose="02020603050405020304" pitchFamily="18" charset="0"/>
              </a:rPr>
              <a:t>The hyperplane is chosen in a way that it can have a maximum distance from the closest datapoint in a dataset</a:t>
            </a:r>
          </a:p>
          <a:p>
            <a:pPr lvl="1">
              <a:lnSpc>
                <a:spcPct val="100000"/>
              </a:lnSpc>
            </a:pPr>
            <a:r>
              <a:rPr lang="en-US" dirty="0">
                <a:latin typeface="Times New Roman" panose="02020603050405020304" pitchFamily="18" charset="0"/>
                <a:cs typeface="Times New Roman" panose="02020603050405020304" pitchFamily="18" charset="0"/>
              </a:rPr>
              <a:t>SVM algorithm can handle both linear and non-linear data</a:t>
            </a:r>
          </a:p>
        </p:txBody>
      </p:sp>
    </p:spTree>
    <p:extLst>
      <p:ext uri="{BB962C8B-B14F-4D97-AF65-F5344CB8AC3E}">
        <p14:creationId xmlns:p14="http://schemas.microsoft.com/office/powerpoint/2010/main" val="27406301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4353FD7-B047-D1FC-FC0F-0D0153CA7BFF}"/>
              </a:ext>
            </a:extLst>
          </p:cNvPr>
          <p:cNvPicPr>
            <a:picLocks noChangeAspect="1"/>
          </p:cNvPicPr>
          <p:nvPr/>
        </p:nvPicPr>
        <p:blipFill>
          <a:blip r:embed="rId2"/>
          <a:stretch>
            <a:fillRect/>
          </a:stretch>
        </p:blipFill>
        <p:spPr>
          <a:xfrm>
            <a:off x="2969342" y="799818"/>
            <a:ext cx="6096000" cy="4381782"/>
          </a:xfrm>
          <a:prstGeom prst="rect">
            <a:avLst/>
          </a:prstGeom>
        </p:spPr>
      </p:pic>
      <p:sp>
        <p:nvSpPr>
          <p:cNvPr id="8" name="TextBox 7">
            <a:extLst>
              <a:ext uri="{FF2B5EF4-FFF2-40B4-BE49-F238E27FC236}">
                <a16:creationId xmlns:a16="http://schemas.microsoft.com/office/drawing/2014/main" id="{3538D549-BA55-83AA-9932-95D2FAC0DB13}"/>
              </a:ext>
            </a:extLst>
          </p:cNvPr>
          <p:cNvSpPr txBox="1"/>
          <p:nvPr/>
        </p:nvSpPr>
        <p:spPr>
          <a:xfrm>
            <a:off x="3048000" y="5456903"/>
            <a:ext cx="5879690"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4. Support Vector Machine</a:t>
            </a:r>
          </a:p>
          <a:p>
            <a:pPr algn="ctr"/>
            <a:r>
              <a:rPr lang="en-US" dirty="0">
                <a:latin typeface="Times New Roman" panose="02020603050405020304" pitchFamily="18" charset="0"/>
                <a:cs typeface="Times New Roman" panose="02020603050405020304" pitchFamily="18" charset="0"/>
              </a:rPr>
              <a:t>[Source: Javatpoint.com]</a:t>
            </a:r>
          </a:p>
        </p:txBody>
      </p:sp>
    </p:spTree>
    <p:extLst>
      <p:ext uri="{BB962C8B-B14F-4D97-AF65-F5344CB8AC3E}">
        <p14:creationId xmlns:p14="http://schemas.microsoft.com/office/powerpoint/2010/main" val="4764787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D553A-0403-579E-B2DC-23EAE2F7EFE5}"/>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References </a:t>
            </a:r>
          </a:p>
        </p:txBody>
      </p:sp>
      <p:sp>
        <p:nvSpPr>
          <p:cNvPr id="3" name="Content Placeholder 2">
            <a:extLst>
              <a:ext uri="{FF2B5EF4-FFF2-40B4-BE49-F238E27FC236}">
                <a16:creationId xmlns:a16="http://schemas.microsoft.com/office/drawing/2014/main" id="{BFD478C6-6C2E-D3D4-D3F0-3A0B1CD09FD5}"/>
              </a:ext>
            </a:extLst>
          </p:cNvPr>
          <p:cNvSpPr>
            <a:spLocks noGrp="1"/>
          </p:cNvSpPr>
          <p:nvPr>
            <p:ph idx="1"/>
          </p:nvPr>
        </p:nvSpPr>
        <p:spPr/>
        <p:txBody>
          <a:bodyPr>
            <a:normAutofit fontScale="92500"/>
          </a:bodyPr>
          <a:lstStyle/>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[1] Francesco Di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Nardo</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Antonio Nocera, Alessandro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Cucchiarelli</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Sandro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Fioretti</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and Christian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Morbidoni</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Machine Learning for Detection of Muscular Activity from Surface EMG Signals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Sensors, 22(3393), pp. 1-17, April 2022</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[2] Ankita L.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Dharmik</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S. K. Atre, S. J. Sharma,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Design of an Exoskeleton for Hand Rehabilitation</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IEEE Conference and Interdisciplinary Approach in Technology and Management for Social Innovation (IATMS), 1(1), pp. 1-4, 2022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[3]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Mailyn</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Calderon-Diaz, Rony Silvestre Aguirre, Juan P.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Vasconez</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Roberto Yanez, Matias Roby, Marvin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Querales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Rodrigo Salas,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Explainable Machine Learning Techniques to Predict Muscle Injuries in Professional Soccer Players through Biomechanical Analysis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Sensors, 24(119), pp. 1-13, 2024;</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[4] Ching Yee YONG and Terence Tien Lok SIA,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I Want to Control Your Move: Human-Human Interface (HHI) Neuromuscular Electrical Stimulator (NMES)”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Conference of Electronics, Communication and Networks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CECNet</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1(1), pp. 724-730, 2022</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736524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E5FA1-07D5-0058-00BA-285898EA88BF}"/>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References </a:t>
            </a:r>
          </a:p>
        </p:txBody>
      </p:sp>
      <p:sp>
        <p:nvSpPr>
          <p:cNvPr id="3" name="Content Placeholder 2">
            <a:extLst>
              <a:ext uri="{FF2B5EF4-FFF2-40B4-BE49-F238E27FC236}">
                <a16:creationId xmlns:a16="http://schemas.microsoft.com/office/drawing/2014/main" id="{A0CD6023-6C14-17AA-DD27-4E16033F35E9}"/>
              </a:ext>
            </a:extLst>
          </p:cNvPr>
          <p:cNvSpPr>
            <a:spLocks noGrp="1"/>
          </p:cNvSpPr>
          <p:nvPr>
            <p:ph idx="1"/>
          </p:nvPr>
        </p:nvSpPr>
        <p:spPr>
          <a:xfrm>
            <a:off x="838200" y="1393005"/>
            <a:ext cx="10515600" cy="5099870"/>
          </a:xfrm>
        </p:spPr>
        <p:txBody>
          <a:bodyPr>
            <a:noAutofit/>
          </a:bodyPr>
          <a:lstStyle/>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[5] Nestor J. Jarque-Bou, Joaquin L.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Sanche-Bau</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Margarita Vergara,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A Systematic Review of EMG Applications for the Characterization of Forearm and Hand Muscle Activity during Activities of Daily Living: Results, Challenges, and Open Issues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Sensors, 21(3035), pp. 1-26, 2021</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[6] Yassine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Bouteraa</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Ismail Ben Abdallah, Khalil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Boukthir</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A New Wrist-forearm Rehabilitation Protocol Integrating Human Biomechanics and SVM-Based Machine Learning for Muscle Fatigue Estimation</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Bioengineering, 10(219), pp. 1-22, 2023</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[7] Md.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Latifur</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Rahman, Md.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Jahin</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Alam,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Nayeed</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Rashid,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Lamiya</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Hassan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Tithy</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Alfaj</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Uddin Ahmed, and M Tarik Arafat,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IoT Based Cost Efficient Muscle Stimulator for Biomedical Application</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2020 IEEE Region 10 Symposium (TENSYMP), 1(1), pp. 1-5, 2020</a:t>
            </a:r>
          </a:p>
          <a:p>
            <a:pPr marL="0" indent="0" algn="just">
              <a:lnSpc>
                <a:spcPct val="150000"/>
              </a:lnSpc>
              <a:spcBef>
                <a:spcPts val="0"/>
              </a:spcBef>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[8] Nat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Wannawas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and Aldo Faisal,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Towards AI-controlled FES-restoration of arm movements: Controlling for progressive muscular fatigue with Gaussian state-space models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11</a:t>
            </a:r>
            <a:r>
              <a:rPr lang="en-US" sz="1800" kern="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International IEEE/EMBS Conference on Neural Engineering (NER), 1(1), pp. 1-4, 2023</a:t>
            </a:r>
          </a:p>
          <a:p>
            <a:pPr marL="0" marR="0" indent="0" algn="just">
              <a:lnSpc>
                <a:spcPct val="150000"/>
              </a:lnSpc>
              <a:spcBef>
                <a:spcPts val="0"/>
              </a:spcBef>
              <a:spcAft>
                <a:spcPts val="0"/>
              </a:spcAft>
              <a:buNone/>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002511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A8A4B-F713-1F94-739C-7CB865214F35}"/>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References </a:t>
            </a:r>
          </a:p>
        </p:txBody>
      </p:sp>
      <p:sp>
        <p:nvSpPr>
          <p:cNvPr id="3" name="Content Placeholder 2">
            <a:extLst>
              <a:ext uri="{FF2B5EF4-FFF2-40B4-BE49-F238E27FC236}">
                <a16:creationId xmlns:a16="http://schemas.microsoft.com/office/drawing/2014/main" id="{CC337789-46B5-20D1-8F63-077CF9047F63}"/>
              </a:ext>
            </a:extLst>
          </p:cNvPr>
          <p:cNvSpPr>
            <a:spLocks noGrp="1"/>
          </p:cNvSpPr>
          <p:nvPr>
            <p:ph idx="1"/>
          </p:nvPr>
        </p:nvSpPr>
        <p:spPr/>
        <p:txBody>
          <a:bodyPr>
            <a:normAutofit/>
          </a:bodyPr>
          <a:lstStyle/>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[9] Dr. G. Sophia Reena,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Posture Guardian With Smart Muscle Strain Detection And Correction Using TINYML</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Journal of Propulsion Technology, 44(4), pp. 5187-5194, 2023</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[10] DERVİŞ PAŞA,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Development of Wireless Microcontroller Based Functional Electronic Stimulation Device for Drop Foot Correction</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Near East University, Nicosia, pp. 1-87, 2014</a:t>
            </a:r>
          </a:p>
          <a:p>
            <a:pPr marL="0" indent="0" algn="just">
              <a:lnSpc>
                <a:spcPct val="150000"/>
              </a:lnSpc>
              <a:spcBef>
                <a:spcPts val="0"/>
              </a:spcBef>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[11]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Xiaoshi</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Chen, Li Gong,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Lirong</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Zheng, and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Zhuo</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Zou,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“Soft Exoskeleton Glove for Hand Assistance Based on Human-Machine Interaction and Machine Learning”,</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IEEE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International Conference on Human-Machine </a:t>
            </a:r>
            <a:r>
              <a:rPr lang="en-US" sz="1800" u="none" strike="noStrike" kern="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Systems (ICHMS), </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Rome, Italy, 1(1), 2020</a:t>
            </a:r>
          </a:p>
          <a:p>
            <a:pPr marL="0" indent="0" algn="just">
              <a:lnSpc>
                <a:spcPct val="150000"/>
              </a:lnSpc>
              <a:spcBef>
                <a:spcPts val="0"/>
              </a:spcBef>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[12]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Xiaoshi</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Chen, Li Gong, Liang Wei, Shih-Ching Yeh, and Li Da Xu,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“A Wearable Hand Rehabilitation System with Soft Glove”</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IEEE Transactions on Industrial Information, 17(2), pp. 943-952, 2020</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spcBef>
                <a:spcPts val="0"/>
              </a:spcBef>
              <a:buNone/>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105642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249B6-5CB0-EB1D-B969-94ADE6C36D2E}"/>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References</a:t>
            </a:r>
            <a:r>
              <a:rPr lang="en-US" dirty="0"/>
              <a:t> </a:t>
            </a:r>
          </a:p>
        </p:txBody>
      </p:sp>
      <p:sp>
        <p:nvSpPr>
          <p:cNvPr id="3" name="Content Placeholder 2">
            <a:extLst>
              <a:ext uri="{FF2B5EF4-FFF2-40B4-BE49-F238E27FC236}">
                <a16:creationId xmlns:a16="http://schemas.microsoft.com/office/drawing/2014/main" id="{B2054521-E430-39F9-73E2-BF55A3278A2C}"/>
              </a:ext>
            </a:extLst>
          </p:cNvPr>
          <p:cNvSpPr>
            <a:spLocks noGrp="1"/>
          </p:cNvSpPr>
          <p:nvPr>
            <p:ph idx="1"/>
          </p:nvPr>
        </p:nvSpPr>
        <p:spPr>
          <a:xfrm>
            <a:off x="838200" y="1550322"/>
            <a:ext cx="10515600" cy="4351338"/>
          </a:xfrm>
        </p:spPr>
        <p:txBody>
          <a:bodyPr>
            <a:noAutofit/>
          </a:bodyPr>
          <a:lstStyle/>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[13] Alireza Mohammadi, Jim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Lavranos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Peter Choong, and Denny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Oetomo</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b="1" kern="0" dirty="0" err="1">
                <a:effectLst/>
                <a:latin typeface="Times New Roman" panose="02020603050405020304" pitchFamily="18" charset="0"/>
                <a:ea typeface="Calibri" panose="020F0502020204030204" pitchFamily="34" charset="0"/>
                <a:cs typeface="Times New Roman" panose="02020603050405020304" pitchFamily="18" charset="0"/>
              </a:rPr>
              <a:t>Flexo</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-glove: A 3D Printed Soft Exoskeleton Robotic Glove for Impaired Hand Rehabilitation and Assistance”</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40</a:t>
            </a:r>
            <a:r>
              <a:rPr lang="en-US" sz="1800" kern="0" baseline="30000" dirty="0">
                <a:effectLst/>
                <a:latin typeface="Times New Roman" panose="02020603050405020304" pitchFamily="18" charset="0"/>
                <a:ea typeface="Calibri" panose="020F0502020204030204" pitchFamily="34" charset="0"/>
                <a:cs typeface="Times New Roman" panose="02020603050405020304" pitchFamily="18" charset="0"/>
              </a:rPr>
              <a:t>th </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Annual International Conference of the IEEE Engineering in Medicine and Biology Society (EMBC), Honolulu, USA, pp. 2120-2123, 2018</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[14] Waqas Ahmed, Muhammad Kashif Sattar,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Wajeeha</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Shahnawaz, Umair Saeed, Shahbaz Mehmood Khan, and Neha Amon Khan,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“Wearable Hand-Rehabilitation System with Soft Gloves for Patient with Face Paralysis and Disability”</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Engineering Proceedings, 12(56), pp. 1-5, 2021</a:t>
            </a:r>
          </a:p>
          <a:p>
            <a:pPr marL="0" indent="0" algn="just">
              <a:lnSpc>
                <a:spcPct val="150000"/>
              </a:lnSpc>
              <a:spcBef>
                <a:spcPts val="0"/>
              </a:spcBef>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[15]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Xuanyi</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Zhou, Hoa Fu,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Baoqing</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Shentu</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Weidong</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Wang,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Shibo</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Cai, and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Guanjan</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Bao,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“Design and Control of a Tendon-Driven Robotic Finger Based on </a:t>
            </a:r>
            <a:r>
              <a:rPr lang="en-US" sz="1800" b="1" kern="0" dirty="0" err="1">
                <a:effectLst/>
                <a:latin typeface="Times New Roman" panose="02020603050405020304" pitchFamily="18" charset="0"/>
                <a:ea typeface="Calibri" panose="020F0502020204030204" pitchFamily="34" charset="0"/>
                <a:cs typeface="Times New Roman" panose="02020603050405020304" pitchFamily="18" charset="0"/>
              </a:rPr>
              <a:t>Frasping</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 Task Analysis”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Biomimetics, 9(370), pp. 1-17, 2024</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21761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E566D-FBE8-1B1C-734A-B548036AAED5}"/>
              </a:ext>
            </a:extLst>
          </p:cNvPr>
          <p:cNvSpPr>
            <a:spLocks noGrp="1"/>
          </p:cNvSpPr>
          <p:nvPr>
            <p:ph type="title"/>
          </p:nvPr>
        </p:nvSpPr>
        <p:spPr>
          <a:xfrm>
            <a:off x="838200" y="2766218"/>
            <a:ext cx="10515600" cy="1325563"/>
          </a:xfrm>
        </p:spPr>
        <p:txBody>
          <a:bodyPr/>
          <a:lstStyle/>
          <a:p>
            <a:pPr algn="ctr"/>
            <a:r>
              <a:rPr lang="en-US"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6530091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3796</TotalTime>
  <Words>2943</Words>
  <Application>Microsoft Office PowerPoint</Application>
  <PresentationFormat>Widescreen</PresentationFormat>
  <Paragraphs>257</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Calibri Light</vt:lpstr>
      <vt:lpstr>Symbol</vt:lpstr>
      <vt:lpstr>Times New Roman</vt:lpstr>
      <vt:lpstr>Wingdings</vt:lpstr>
      <vt:lpstr>Office Theme</vt:lpstr>
      <vt:lpstr>Design and Study of a Human-Human Interaction System to Control the Movement of Paralyzed Hand</vt:lpstr>
      <vt:lpstr>Contents </vt:lpstr>
      <vt:lpstr>Background  </vt:lpstr>
      <vt:lpstr>Literature Review</vt:lpstr>
      <vt:lpstr>Literature Review</vt:lpstr>
      <vt:lpstr>Literature Review</vt:lpstr>
      <vt:lpstr>Literature Review</vt:lpstr>
      <vt:lpstr>Literature Review</vt:lpstr>
      <vt:lpstr>Literature Review</vt:lpstr>
      <vt:lpstr>Problem Statement and Definition</vt:lpstr>
      <vt:lpstr>Significance of Proposed Work </vt:lpstr>
      <vt:lpstr>Objectives of the Proposed Work </vt:lpstr>
      <vt:lpstr>Orientation of the Proposed Work</vt:lpstr>
      <vt:lpstr>PowerPoint Presentation</vt:lpstr>
      <vt:lpstr>Requirement Specification</vt:lpstr>
      <vt:lpstr>PowerPoint Presentation</vt:lpstr>
      <vt:lpstr>PowerPoint Presentation</vt:lpstr>
      <vt:lpstr>PowerPoint Presentation</vt:lpstr>
      <vt:lpstr>Platform Required</vt:lpstr>
      <vt:lpstr>Libraries Required</vt:lpstr>
      <vt:lpstr>Planning and Scheduling </vt:lpstr>
      <vt:lpstr>PowerPoint Presentation</vt:lpstr>
      <vt:lpstr>PowerPoint Presentation</vt:lpstr>
      <vt:lpstr>Methodology </vt:lpstr>
      <vt:lpstr>PowerPoint Presentation</vt:lpstr>
      <vt:lpstr>2. Algorithms </vt:lpstr>
      <vt:lpstr> </vt:lpstr>
      <vt:lpstr>PowerPoint Presentation</vt:lpstr>
      <vt:lpstr>Alternative Technique</vt:lpstr>
      <vt:lpstr>PowerPoint Presentation</vt:lpstr>
      <vt:lpstr>References </vt:lpstr>
      <vt:lpstr>References </vt:lpstr>
      <vt:lpstr>References </vt:lpstr>
      <vt:lpstr>References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Study of a Human-Human Interaction System to Control the Movement of Paralyzed Hand</dc:title>
  <dc:creator>Ankita Giroti</dc:creator>
  <cp:lastModifiedBy>Ankita Giroti</cp:lastModifiedBy>
  <cp:revision>126</cp:revision>
  <dcterms:created xsi:type="dcterms:W3CDTF">2024-07-11T07:36:29Z</dcterms:created>
  <dcterms:modified xsi:type="dcterms:W3CDTF">2024-10-16T03:13:45Z</dcterms:modified>
</cp:coreProperties>
</file>