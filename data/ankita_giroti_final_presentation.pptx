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1" r:id="rId5"/>
    <p:sldId id="262" r:id="rId6"/>
    <p:sldId id="263" r:id="rId7"/>
    <p:sldId id="272" r:id="rId8"/>
    <p:sldId id="273" r:id="rId9"/>
    <p:sldId id="276" r:id="rId10"/>
    <p:sldId id="274" r:id="rId11"/>
    <p:sldId id="260" r:id="rId12"/>
    <p:sldId id="277" r:id="rId13"/>
    <p:sldId id="278" r:id="rId14"/>
    <p:sldId id="279" r:id="rId15"/>
    <p:sldId id="303" r:id="rId16"/>
    <p:sldId id="280" r:id="rId17"/>
    <p:sldId id="293" r:id="rId18"/>
    <p:sldId id="304" r:id="rId19"/>
    <p:sldId id="311" r:id="rId20"/>
    <p:sldId id="310" r:id="rId21"/>
    <p:sldId id="313" r:id="rId22"/>
    <p:sldId id="312" r:id="rId23"/>
    <p:sldId id="281" r:id="rId24"/>
    <p:sldId id="282" r:id="rId25"/>
    <p:sldId id="305" r:id="rId26"/>
    <p:sldId id="315" r:id="rId27"/>
    <p:sldId id="316" r:id="rId28"/>
    <p:sldId id="317" r:id="rId29"/>
    <p:sldId id="306" r:id="rId30"/>
    <p:sldId id="318" r:id="rId31"/>
    <p:sldId id="308" r:id="rId32"/>
    <p:sldId id="319" r:id="rId33"/>
    <p:sldId id="309" r:id="rId34"/>
    <p:sldId id="307" r:id="rId35"/>
    <p:sldId id="314" r:id="rId36"/>
    <p:sldId id="264" r:id="rId37"/>
    <p:sldId id="265" r:id="rId38"/>
    <p:sldId id="266" r:id="rId39"/>
    <p:sldId id="275" r:id="rId40"/>
    <p:sldId id="267"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C5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94660"/>
  </p:normalViewPr>
  <p:slideViewPr>
    <p:cSldViewPr snapToGrid="0">
      <p:cViewPr varScale="1">
        <p:scale>
          <a:sx n="78" d="100"/>
          <a:sy n="78" d="100"/>
        </p:scale>
        <p:origin x="62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B61EE-5F39-4756-4CF7-6DD5574EF6E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68025BA-713E-95F6-5274-48EFF709DC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1D43922-11F1-8692-634C-C4614625EB54}"/>
              </a:ext>
            </a:extLst>
          </p:cNvPr>
          <p:cNvSpPr>
            <a:spLocks noGrp="1"/>
          </p:cNvSpPr>
          <p:nvPr>
            <p:ph type="dt" sz="half" idx="10"/>
          </p:nvPr>
        </p:nvSpPr>
        <p:spPr/>
        <p:txBody>
          <a:bodyPr/>
          <a:lstStyle/>
          <a:p>
            <a:fld id="{17CAFAFC-9950-42A7-B66C-6BB05CE05B15}" type="datetimeFigureOut">
              <a:rPr lang="en-US" smtClean="0"/>
              <a:t>5/2/2025</a:t>
            </a:fld>
            <a:endParaRPr lang="en-US"/>
          </a:p>
        </p:txBody>
      </p:sp>
      <p:sp>
        <p:nvSpPr>
          <p:cNvPr id="5" name="Footer Placeholder 4">
            <a:extLst>
              <a:ext uri="{FF2B5EF4-FFF2-40B4-BE49-F238E27FC236}">
                <a16:creationId xmlns:a16="http://schemas.microsoft.com/office/drawing/2014/main" id="{1127D5E8-39B9-B58C-671D-1CE3FF3311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5B1C1D-49C1-C90C-66E8-350554759150}"/>
              </a:ext>
            </a:extLst>
          </p:cNvPr>
          <p:cNvSpPr>
            <a:spLocks noGrp="1"/>
          </p:cNvSpPr>
          <p:nvPr>
            <p:ph type="sldNum" sz="quarter" idx="12"/>
          </p:nvPr>
        </p:nvSpPr>
        <p:spPr/>
        <p:txBody>
          <a:bodyPr/>
          <a:lstStyle/>
          <a:p>
            <a:fld id="{049BD6C4-73A9-4D4E-A466-25D63B4A55ED}" type="slidenum">
              <a:rPr lang="en-US" smtClean="0"/>
              <a:t>‹#›</a:t>
            </a:fld>
            <a:endParaRPr lang="en-US"/>
          </a:p>
        </p:txBody>
      </p:sp>
    </p:spTree>
    <p:extLst>
      <p:ext uri="{BB962C8B-B14F-4D97-AF65-F5344CB8AC3E}">
        <p14:creationId xmlns:p14="http://schemas.microsoft.com/office/powerpoint/2010/main" val="6832917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B004A-80C3-E5C8-AAC2-3C6EA2A2401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80FE1F-3176-2BC2-7C5D-004BB968DA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6E2426-688E-5ED7-F456-242C591FDA18}"/>
              </a:ext>
            </a:extLst>
          </p:cNvPr>
          <p:cNvSpPr>
            <a:spLocks noGrp="1"/>
          </p:cNvSpPr>
          <p:nvPr>
            <p:ph type="dt" sz="half" idx="10"/>
          </p:nvPr>
        </p:nvSpPr>
        <p:spPr/>
        <p:txBody>
          <a:bodyPr/>
          <a:lstStyle/>
          <a:p>
            <a:fld id="{17CAFAFC-9950-42A7-B66C-6BB05CE05B15}" type="datetimeFigureOut">
              <a:rPr lang="en-US" smtClean="0"/>
              <a:t>5/2/2025</a:t>
            </a:fld>
            <a:endParaRPr lang="en-US"/>
          </a:p>
        </p:txBody>
      </p:sp>
      <p:sp>
        <p:nvSpPr>
          <p:cNvPr id="5" name="Footer Placeholder 4">
            <a:extLst>
              <a:ext uri="{FF2B5EF4-FFF2-40B4-BE49-F238E27FC236}">
                <a16:creationId xmlns:a16="http://schemas.microsoft.com/office/drawing/2014/main" id="{94C7C5AC-93BB-F054-8128-EDE3A41F8C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4FFF3-5DE7-8FAA-BE14-846304FEE8A9}"/>
              </a:ext>
            </a:extLst>
          </p:cNvPr>
          <p:cNvSpPr>
            <a:spLocks noGrp="1"/>
          </p:cNvSpPr>
          <p:nvPr>
            <p:ph type="sldNum" sz="quarter" idx="12"/>
          </p:nvPr>
        </p:nvSpPr>
        <p:spPr/>
        <p:txBody>
          <a:bodyPr/>
          <a:lstStyle/>
          <a:p>
            <a:fld id="{049BD6C4-73A9-4D4E-A466-25D63B4A55ED}" type="slidenum">
              <a:rPr lang="en-US" smtClean="0"/>
              <a:t>‹#›</a:t>
            </a:fld>
            <a:endParaRPr lang="en-US"/>
          </a:p>
        </p:txBody>
      </p:sp>
    </p:spTree>
    <p:extLst>
      <p:ext uri="{BB962C8B-B14F-4D97-AF65-F5344CB8AC3E}">
        <p14:creationId xmlns:p14="http://schemas.microsoft.com/office/powerpoint/2010/main" val="28696620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C8F69-D4B8-E9CB-365F-9E21CB3BB02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1D36840-A3BF-072E-5D38-762E845FBC4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EF4842-A5F3-632F-0FA6-068550067083}"/>
              </a:ext>
            </a:extLst>
          </p:cNvPr>
          <p:cNvSpPr>
            <a:spLocks noGrp="1"/>
          </p:cNvSpPr>
          <p:nvPr>
            <p:ph type="dt" sz="half" idx="10"/>
          </p:nvPr>
        </p:nvSpPr>
        <p:spPr/>
        <p:txBody>
          <a:bodyPr/>
          <a:lstStyle/>
          <a:p>
            <a:fld id="{17CAFAFC-9950-42A7-B66C-6BB05CE05B15}" type="datetimeFigureOut">
              <a:rPr lang="en-US" smtClean="0"/>
              <a:t>5/2/2025</a:t>
            </a:fld>
            <a:endParaRPr lang="en-US"/>
          </a:p>
        </p:txBody>
      </p:sp>
      <p:sp>
        <p:nvSpPr>
          <p:cNvPr id="5" name="Footer Placeholder 4">
            <a:extLst>
              <a:ext uri="{FF2B5EF4-FFF2-40B4-BE49-F238E27FC236}">
                <a16:creationId xmlns:a16="http://schemas.microsoft.com/office/drawing/2014/main" id="{49AE563F-B2C7-9243-5F09-2C08B76BD7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878857-0DEE-3169-6536-F8445C75FE04}"/>
              </a:ext>
            </a:extLst>
          </p:cNvPr>
          <p:cNvSpPr>
            <a:spLocks noGrp="1"/>
          </p:cNvSpPr>
          <p:nvPr>
            <p:ph type="sldNum" sz="quarter" idx="12"/>
          </p:nvPr>
        </p:nvSpPr>
        <p:spPr/>
        <p:txBody>
          <a:bodyPr/>
          <a:lstStyle/>
          <a:p>
            <a:fld id="{049BD6C4-73A9-4D4E-A466-25D63B4A55ED}" type="slidenum">
              <a:rPr lang="en-US" smtClean="0"/>
              <a:t>‹#›</a:t>
            </a:fld>
            <a:endParaRPr lang="en-US"/>
          </a:p>
        </p:txBody>
      </p:sp>
    </p:spTree>
    <p:extLst>
      <p:ext uri="{BB962C8B-B14F-4D97-AF65-F5344CB8AC3E}">
        <p14:creationId xmlns:p14="http://schemas.microsoft.com/office/powerpoint/2010/main" val="24847567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B5AFF-6E08-1B7E-63DC-92ACCEE1753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48C6A69-3050-2F7E-7F5A-07159C56BC9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FF43267-ECF1-9BB9-E0D5-CB23AE0D3A2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78243B3-B52E-8AFE-06A2-7B8351355921}"/>
              </a:ext>
            </a:extLst>
          </p:cNvPr>
          <p:cNvSpPr>
            <a:spLocks noGrp="1"/>
          </p:cNvSpPr>
          <p:nvPr>
            <p:ph type="dt" sz="half" idx="10"/>
          </p:nvPr>
        </p:nvSpPr>
        <p:spPr/>
        <p:txBody>
          <a:bodyPr/>
          <a:lstStyle/>
          <a:p>
            <a:fld id="{17CAFAFC-9950-42A7-B66C-6BB05CE05B15}" type="datetimeFigureOut">
              <a:rPr lang="en-US" smtClean="0"/>
              <a:t>5/2/2025</a:t>
            </a:fld>
            <a:endParaRPr lang="en-US"/>
          </a:p>
        </p:txBody>
      </p:sp>
      <p:sp>
        <p:nvSpPr>
          <p:cNvPr id="6" name="Footer Placeholder 5">
            <a:extLst>
              <a:ext uri="{FF2B5EF4-FFF2-40B4-BE49-F238E27FC236}">
                <a16:creationId xmlns:a16="http://schemas.microsoft.com/office/drawing/2014/main" id="{D7EB54C0-69C2-0BE5-BCFA-84A0ECBABD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5312B0-E700-8617-482E-EE53E87881D8}"/>
              </a:ext>
            </a:extLst>
          </p:cNvPr>
          <p:cNvSpPr>
            <a:spLocks noGrp="1"/>
          </p:cNvSpPr>
          <p:nvPr>
            <p:ph type="sldNum" sz="quarter" idx="12"/>
          </p:nvPr>
        </p:nvSpPr>
        <p:spPr/>
        <p:txBody>
          <a:bodyPr/>
          <a:lstStyle/>
          <a:p>
            <a:fld id="{049BD6C4-73A9-4D4E-A466-25D63B4A55ED}" type="slidenum">
              <a:rPr lang="en-US" smtClean="0"/>
              <a:t>‹#›</a:t>
            </a:fld>
            <a:endParaRPr lang="en-US"/>
          </a:p>
        </p:txBody>
      </p:sp>
    </p:spTree>
    <p:extLst>
      <p:ext uri="{BB962C8B-B14F-4D97-AF65-F5344CB8AC3E}">
        <p14:creationId xmlns:p14="http://schemas.microsoft.com/office/powerpoint/2010/main" val="22157169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66B5B-28D0-7539-D1A3-526F05DAE5B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221CA7D-A93A-8978-DA43-F00AB0528A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A9E1325-DAC0-95CA-DDF6-3D29F9751A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D4EE3A0-C0F5-0890-A770-F01E6AEAF7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8F6F3A8-A193-6087-4BCB-D4FCDD49487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217CF98-F2D6-F5FD-ECB8-AA616D3F1113}"/>
              </a:ext>
            </a:extLst>
          </p:cNvPr>
          <p:cNvSpPr>
            <a:spLocks noGrp="1"/>
          </p:cNvSpPr>
          <p:nvPr>
            <p:ph type="dt" sz="half" idx="10"/>
          </p:nvPr>
        </p:nvSpPr>
        <p:spPr/>
        <p:txBody>
          <a:bodyPr/>
          <a:lstStyle/>
          <a:p>
            <a:fld id="{17CAFAFC-9950-42A7-B66C-6BB05CE05B15}" type="datetimeFigureOut">
              <a:rPr lang="en-US" smtClean="0"/>
              <a:t>5/2/2025</a:t>
            </a:fld>
            <a:endParaRPr lang="en-US"/>
          </a:p>
        </p:txBody>
      </p:sp>
      <p:sp>
        <p:nvSpPr>
          <p:cNvPr id="8" name="Footer Placeholder 7">
            <a:extLst>
              <a:ext uri="{FF2B5EF4-FFF2-40B4-BE49-F238E27FC236}">
                <a16:creationId xmlns:a16="http://schemas.microsoft.com/office/drawing/2014/main" id="{AD6FC288-C883-9C26-39C3-2BDD0FCD51F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D72172F-BE50-C67D-9796-5BB7931AD9D4}"/>
              </a:ext>
            </a:extLst>
          </p:cNvPr>
          <p:cNvSpPr>
            <a:spLocks noGrp="1"/>
          </p:cNvSpPr>
          <p:nvPr>
            <p:ph type="sldNum" sz="quarter" idx="12"/>
          </p:nvPr>
        </p:nvSpPr>
        <p:spPr/>
        <p:txBody>
          <a:bodyPr/>
          <a:lstStyle/>
          <a:p>
            <a:fld id="{049BD6C4-73A9-4D4E-A466-25D63B4A55ED}" type="slidenum">
              <a:rPr lang="en-US" smtClean="0"/>
              <a:t>‹#›</a:t>
            </a:fld>
            <a:endParaRPr lang="en-US"/>
          </a:p>
        </p:txBody>
      </p:sp>
    </p:spTree>
    <p:extLst>
      <p:ext uri="{BB962C8B-B14F-4D97-AF65-F5344CB8AC3E}">
        <p14:creationId xmlns:p14="http://schemas.microsoft.com/office/powerpoint/2010/main" val="405369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A349A-050D-AD13-9D03-95334661B01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5894555-15DC-C1A4-F400-9A1B0A0D6547}"/>
              </a:ext>
            </a:extLst>
          </p:cNvPr>
          <p:cNvSpPr>
            <a:spLocks noGrp="1"/>
          </p:cNvSpPr>
          <p:nvPr>
            <p:ph type="dt" sz="half" idx="10"/>
          </p:nvPr>
        </p:nvSpPr>
        <p:spPr/>
        <p:txBody>
          <a:bodyPr/>
          <a:lstStyle/>
          <a:p>
            <a:fld id="{17CAFAFC-9950-42A7-B66C-6BB05CE05B15}" type="datetimeFigureOut">
              <a:rPr lang="en-US" smtClean="0"/>
              <a:t>5/2/2025</a:t>
            </a:fld>
            <a:endParaRPr lang="en-US"/>
          </a:p>
        </p:txBody>
      </p:sp>
      <p:sp>
        <p:nvSpPr>
          <p:cNvPr id="4" name="Footer Placeholder 3">
            <a:extLst>
              <a:ext uri="{FF2B5EF4-FFF2-40B4-BE49-F238E27FC236}">
                <a16:creationId xmlns:a16="http://schemas.microsoft.com/office/drawing/2014/main" id="{D0A61EB2-8BEA-8F38-8CCE-2AE72AE7C90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4850C9A-7398-9F0E-5667-564E1C5B708B}"/>
              </a:ext>
            </a:extLst>
          </p:cNvPr>
          <p:cNvSpPr>
            <a:spLocks noGrp="1"/>
          </p:cNvSpPr>
          <p:nvPr>
            <p:ph type="sldNum" sz="quarter" idx="12"/>
          </p:nvPr>
        </p:nvSpPr>
        <p:spPr/>
        <p:txBody>
          <a:bodyPr/>
          <a:lstStyle/>
          <a:p>
            <a:fld id="{049BD6C4-73A9-4D4E-A466-25D63B4A55ED}" type="slidenum">
              <a:rPr lang="en-US" smtClean="0"/>
              <a:t>‹#›</a:t>
            </a:fld>
            <a:endParaRPr lang="en-US"/>
          </a:p>
        </p:txBody>
      </p:sp>
    </p:spTree>
    <p:extLst>
      <p:ext uri="{BB962C8B-B14F-4D97-AF65-F5344CB8AC3E}">
        <p14:creationId xmlns:p14="http://schemas.microsoft.com/office/powerpoint/2010/main" val="36200688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6F29B8-E74B-E266-A47E-26497C559280}"/>
              </a:ext>
            </a:extLst>
          </p:cNvPr>
          <p:cNvSpPr>
            <a:spLocks noGrp="1"/>
          </p:cNvSpPr>
          <p:nvPr>
            <p:ph type="dt" sz="half" idx="10"/>
          </p:nvPr>
        </p:nvSpPr>
        <p:spPr/>
        <p:txBody>
          <a:bodyPr/>
          <a:lstStyle/>
          <a:p>
            <a:fld id="{17CAFAFC-9950-42A7-B66C-6BB05CE05B15}" type="datetimeFigureOut">
              <a:rPr lang="en-US" smtClean="0"/>
              <a:t>5/2/2025</a:t>
            </a:fld>
            <a:endParaRPr lang="en-US"/>
          </a:p>
        </p:txBody>
      </p:sp>
      <p:sp>
        <p:nvSpPr>
          <p:cNvPr id="3" name="Footer Placeholder 2">
            <a:extLst>
              <a:ext uri="{FF2B5EF4-FFF2-40B4-BE49-F238E27FC236}">
                <a16:creationId xmlns:a16="http://schemas.microsoft.com/office/drawing/2014/main" id="{B01D0625-BF65-EB9B-4391-046C1B14031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733777E-DFD4-4055-5F90-E23F25D79B8A}"/>
              </a:ext>
            </a:extLst>
          </p:cNvPr>
          <p:cNvSpPr>
            <a:spLocks noGrp="1"/>
          </p:cNvSpPr>
          <p:nvPr>
            <p:ph type="sldNum" sz="quarter" idx="12"/>
          </p:nvPr>
        </p:nvSpPr>
        <p:spPr/>
        <p:txBody>
          <a:bodyPr/>
          <a:lstStyle/>
          <a:p>
            <a:fld id="{049BD6C4-73A9-4D4E-A466-25D63B4A55ED}" type="slidenum">
              <a:rPr lang="en-US" smtClean="0"/>
              <a:t>‹#›</a:t>
            </a:fld>
            <a:endParaRPr lang="en-US"/>
          </a:p>
        </p:txBody>
      </p:sp>
    </p:spTree>
    <p:extLst>
      <p:ext uri="{BB962C8B-B14F-4D97-AF65-F5344CB8AC3E}">
        <p14:creationId xmlns:p14="http://schemas.microsoft.com/office/powerpoint/2010/main" val="13090583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B61C2-7816-3A85-646A-95BB2E57E8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CED3FBB-50EF-76FB-A12D-45B18F799E0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514BC9-1C04-60DF-2DEB-D1AB533F90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E51CEF-819F-0EC1-29A5-2F9E2F62F517}"/>
              </a:ext>
            </a:extLst>
          </p:cNvPr>
          <p:cNvSpPr>
            <a:spLocks noGrp="1"/>
          </p:cNvSpPr>
          <p:nvPr>
            <p:ph type="dt" sz="half" idx="10"/>
          </p:nvPr>
        </p:nvSpPr>
        <p:spPr/>
        <p:txBody>
          <a:bodyPr/>
          <a:lstStyle/>
          <a:p>
            <a:fld id="{17CAFAFC-9950-42A7-B66C-6BB05CE05B15}" type="datetimeFigureOut">
              <a:rPr lang="en-US" smtClean="0"/>
              <a:t>5/2/2025</a:t>
            </a:fld>
            <a:endParaRPr lang="en-US"/>
          </a:p>
        </p:txBody>
      </p:sp>
      <p:sp>
        <p:nvSpPr>
          <p:cNvPr id="6" name="Footer Placeholder 5">
            <a:extLst>
              <a:ext uri="{FF2B5EF4-FFF2-40B4-BE49-F238E27FC236}">
                <a16:creationId xmlns:a16="http://schemas.microsoft.com/office/drawing/2014/main" id="{E8B491E4-10EC-EC5E-93E6-1C8E3849B3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EDE368-91F9-68D4-B9F2-8A8B983BBD31}"/>
              </a:ext>
            </a:extLst>
          </p:cNvPr>
          <p:cNvSpPr>
            <a:spLocks noGrp="1"/>
          </p:cNvSpPr>
          <p:nvPr>
            <p:ph type="sldNum" sz="quarter" idx="12"/>
          </p:nvPr>
        </p:nvSpPr>
        <p:spPr/>
        <p:txBody>
          <a:bodyPr/>
          <a:lstStyle/>
          <a:p>
            <a:fld id="{049BD6C4-73A9-4D4E-A466-25D63B4A55ED}" type="slidenum">
              <a:rPr lang="en-US" smtClean="0"/>
              <a:t>‹#›</a:t>
            </a:fld>
            <a:endParaRPr lang="en-US"/>
          </a:p>
        </p:txBody>
      </p:sp>
    </p:spTree>
    <p:extLst>
      <p:ext uri="{BB962C8B-B14F-4D97-AF65-F5344CB8AC3E}">
        <p14:creationId xmlns:p14="http://schemas.microsoft.com/office/powerpoint/2010/main" val="3939724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84AB7-B9B8-DEC8-A6B3-06C03ABAB8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25465B9-D022-75F9-082F-4270199CFF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0A1C962-1B74-88E9-7777-A60F318509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F42732-1E84-562B-507D-FEFAE914736F}"/>
              </a:ext>
            </a:extLst>
          </p:cNvPr>
          <p:cNvSpPr>
            <a:spLocks noGrp="1"/>
          </p:cNvSpPr>
          <p:nvPr>
            <p:ph type="dt" sz="half" idx="10"/>
          </p:nvPr>
        </p:nvSpPr>
        <p:spPr/>
        <p:txBody>
          <a:bodyPr/>
          <a:lstStyle/>
          <a:p>
            <a:fld id="{17CAFAFC-9950-42A7-B66C-6BB05CE05B15}" type="datetimeFigureOut">
              <a:rPr lang="en-US" smtClean="0"/>
              <a:t>5/2/2025</a:t>
            </a:fld>
            <a:endParaRPr lang="en-US"/>
          </a:p>
        </p:txBody>
      </p:sp>
      <p:sp>
        <p:nvSpPr>
          <p:cNvPr id="6" name="Footer Placeholder 5">
            <a:extLst>
              <a:ext uri="{FF2B5EF4-FFF2-40B4-BE49-F238E27FC236}">
                <a16:creationId xmlns:a16="http://schemas.microsoft.com/office/drawing/2014/main" id="{DAD3F07E-C9DA-434A-E114-5CA0F915AB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D65872-1D7F-19B6-E27B-A2BB66E46DEE}"/>
              </a:ext>
            </a:extLst>
          </p:cNvPr>
          <p:cNvSpPr>
            <a:spLocks noGrp="1"/>
          </p:cNvSpPr>
          <p:nvPr>
            <p:ph type="sldNum" sz="quarter" idx="12"/>
          </p:nvPr>
        </p:nvSpPr>
        <p:spPr/>
        <p:txBody>
          <a:bodyPr/>
          <a:lstStyle/>
          <a:p>
            <a:fld id="{049BD6C4-73A9-4D4E-A466-25D63B4A55ED}" type="slidenum">
              <a:rPr lang="en-US" smtClean="0"/>
              <a:t>‹#›</a:t>
            </a:fld>
            <a:endParaRPr lang="en-US"/>
          </a:p>
        </p:txBody>
      </p:sp>
    </p:spTree>
    <p:extLst>
      <p:ext uri="{BB962C8B-B14F-4D97-AF65-F5344CB8AC3E}">
        <p14:creationId xmlns:p14="http://schemas.microsoft.com/office/powerpoint/2010/main" val="33514226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33DBF-524A-5609-D502-4BBE81D5004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F8D296-1CB5-57A5-81A1-ED69D5088F4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803B51-4D4A-5793-D8D8-444535B362C8}"/>
              </a:ext>
            </a:extLst>
          </p:cNvPr>
          <p:cNvSpPr>
            <a:spLocks noGrp="1"/>
          </p:cNvSpPr>
          <p:nvPr>
            <p:ph type="dt" sz="half" idx="10"/>
          </p:nvPr>
        </p:nvSpPr>
        <p:spPr/>
        <p:txBody>
          <a:bodyPr/>
          <a:lstStyle/>
          <a:p>
            <a:fld id="{17CAFAFC-9950-42A7-B66C-6BB05CE05B15}" type="datetimeFigureOut">
              <a:rPr lang="en-US" smtClean="0"/>
              <a:t>5/2/2025</a:t>
            </a:fld>
            <a:endParaRPr lang="en-US"/>
          </a:p>
        </p:txBody>
      </p:sp>
      <p:sp>
        <p:nvSpPr>
          <p:cNvPr id="5" name="Footer Placeholder 4">
            <a:extLst>
              <a:ext uri="{FF2B5EF4-FFF2-40B4-BE49-F238E27FC236}">
                <a16:creationId xmlns:a16="http://schemas.microsoft.com/office/drawing/2014/main" id="{C5741517-BFB9-3193-4B03-09F67F1278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A86DD9-C829-C976-C284-99C17F2BC91C}"/>
              </a:ext>
            </a:extLst>
          </p:cNvPr>
          <p:cNvSpPr>
            <a:spLocks noGrp="1"/>
          </p:cNvSpPr>
          <p:nvPr>
            <p:ph type="sldNum" sz="quarter" idx="12"/>
          </p:nvPr>
        </p:nvSpPr>
        <p:spPr/>
        <p:txBody>
          <a:bodyPr/>
          <a:lstStyle/>
          <a:p>
            <a:fld id="{049BD6C4-73A9-4D4E-A466-25D63B4A55ED}" type="slidenum">
              <a:rPr lang="en-US" smtClean="0"/>
              <a:t>‹#›</a:t>
            </a:fld>
            <a:endParaRPr lang="en-US"/>
          </a:p>
        </p:txBody>
      </p:sp>
    </p:spTree>
    <p:extLst>
      <p:ext uri="{BB962C8B-B14F-4D97-AF65-F5344CB8AC3E}">
        <p14:creationId xmlns:p14="http://schemas.microsoft.com/office/powerpoint/2010/main" val="364517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B966C77-9A4C-AD5C-6FA6-351EDC3969A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69062EB-BB03-5C58-1321-EDF44F7A3C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904C0A-548D-1BED-C546-93D96E67D934}"/>
              </a:ext>
            </a:extLst>
          </p:cNvPr>
          <p:cNvSpPr>
            <a:spLocks noGrp="1"/>
          </p:cNvSpPr>
          <p:nvPr>
            <p:ph type="dt" sz="half" idx="10"/>
          </p:nvPr>
        </p:nvSpPr>
        <p:spPr/>
        <p:txBody>
          <a:bodyPr/>
          <a:lstStyle/>
          <a:p>
            <a:fld id="{17CAFAFC-9950-42A7-B66C-6BB05CE05B15}" type="datetimeFigureOut">
              <a:rPr lang="en-US" smtClean="0"/>
              <a:t>5/2/2025</a:t>
            </a:fld>
            <a:endParaRPr lang="en-US"/>
          </a:p>
        </p:txBody>
      </p:sp>
      <p:sp>
        <p:nvSpPr>
          <p:cNvPr id="5" name="Footer Placeholder 4">
            <a:extLst>
              <a:ext uri="{FF2B5EF4-FFF2-40B4-BE49-F238E27FC236}">
                <a16:creationId xmlns:a16="http://schemas.microsoft.com/office/drawing/2014/main" id="{E70E00FF-AA15-4100-3373-0DA6C3B235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D2EC53-466F-1742-8B12-DDDD4E8C53AA}"/>
              </a:ext>
            </a:extLst>
          </p:cNvPr>
          <p:cNvSpPr>
            <a:spLocks noGrp="1"/>
          </p:cNvSpPr>
          <p:nvPr>
            <p:ph type="sldNum" sz="quarter" idx="12"/>
          </p:nvPr>
        </p:nvSpPr>
        <p:spPr/>
        <p:txBody>
          <a:bodyPr/>
          <a:lstStyle/>
          <a:p>
            <a:fld id="{049BD6C4-73A9-4D4E-A466-25D63B4A55ED}" type="slidenum">
              <a:rPr lang="en-US" smtClean="0"/>
              <a:t>‹#›</a:t>
            </a:fld>
            <a:endParaRPr lang="en-US"/>
          </a:p>
        </p:txBody>
      </p:sp>
    </p:spTree>
    <p:extLst>
      <p:ext uri="{BB962C8B-B14F-4D97-AF65-F5344CB8AC3E}">
        <p14:creationId xmlns:p14="http://schemas.microsoft.com/office/powerpoint/2010/main" val="29716708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DCC5ED"/>
            </a:gs>
            <a:gs pos="65000">
              <a:srgbClr val="F7F2FB"/>
            </a:gs>
            <a:gs pos="48000">
              <a:srgbClr val="EFE5F7"/>
            </a:gs>
            <a:gs pos="30000">
              <a:srgbClr val="E4D3F1"/>
            </a:gs>
            <a:gs pos="100000">
              <a:schemeClr val="bg1"/>
            </a:gs>
          </a:gsLst>
          <a:lin ang="162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1273C91-720F-3CCA-DB3D-E5A123ACFC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0A3C618-192B-BAEB-B9F5-C6B56C88D3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03A20B-EA03-2ABC-F8C6-C7998056FFB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CAFAFC-9950-42A7-B66C-6BB05CE05B15}" type="datetimeFigureOut">
              <a:rPr lang="en-US" smtClean="0"/>
              <a:t>5/2/2025</a:t>
            </a:fld>
            <a:endParaRPr lang="en-US"/>
          </a:p>
        </p:txBody>
      </p:sp>
      <p:sp>
        <p:nvSpPr>
          <p:cNvPr id="5" name="Footer Placeholder 4">
            <a:extLst>
              <a:ext uri="{FF2B5EF4-FFF2-40B4-BE49-F238E27FC236}">
                <a16:creationId xmlns:a16="http://schemas.microsoft.com/office/drawing/2014/main" id="{328285CF-A646-15D0-B164-926201E9E4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32CAE98-0322-A11A-9576-1AA63CB549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9BD6C4-73A9-4D4E-A466-25D63B4A55ED}" type="slidenum">
              <a:rPr lang="en-US" smtClean="0"/>
              <a:t>‹#›</a:t>
            </a:fld>
            <a:endParaRPr lang="en-US"/>
          </a:p>
        </p:txBody>
      </p:sp>
    </p:spTree>
    <p:extLst>
      <p:ext uri="{BB962C8B-B14F-4D97-AF65-F5344CB8AC3E}">
        <p14:creationId xmlns:p14="http://schemas.microsoft.com/office/powerpoint/2010/main" val="8914300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1.png"/></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7AA7B-DB5A-941E-9DB2-E6D9D3870363}"/>
              </a:ext>
            </a:extLst>
          </p:cNvPr>
          <p:cNvSpPr>
            <a:spLocks noGrp="1"/>
          </p:cNvSpPr>
          <p:nvPr>
            <p:ph type="ctrTitle"/>
          </p:nvPr>
        </p:nvSpPr>
        <p:spPr>
          <a:xfrm>
            <a:off x="862781" y="1032387"/>
            <a:ext cx="10466438" cy="1285569"/>
          </a:xfrm>
        </p:spPr>
        <p:txBody>
          <a:bodyPr>
            <a:noAutofit/>
          </a:bodyPr>
          <a:lstStyle/>
          <a:p>
            <a:r>
              <a:rPr lang="en-US" sz="3600" b="1" dirty="0">
                <a:latin typeface="Times New Roman" panose="02020603050405020304" pitchFamily="18" charset="0"/>
                <a:cs typeface="Times New Roman" panose="02020603050405020304" pitchFamily="18" charset="0"/>
              </a:rPr>
              <a:t>Design and Study of a Human-Human Interaction System to Control the Movement of Paralyzed Hand</a:t>
            </a:r>
          </a:p>
        </p:txBody>
      </p:sp>
      <p:sp>
        <p:nvSpPr>
          <p:cNvPr id="3" name="Subtitle 2">
            <a:extLst>
              <a:ext uri="{FF2B5EF4-FFF2-40B4-BE49-F238E27FC236}">
                <a16:creationId xmlns:a16="http://schemas.microsoft.com/office/drawing/2014/main" id="{46A09204-78D4-7D7A-FA0C-363E15DD9CD6}"/>
              </a:ext>
            </a:extLst>
          </p:cNvPr>
          <p:cNvSpPr>
            <a:spLocks noGrp="1"/>
          </p:cNvSpPr>
          <p:nvPr>
            <p:ph type="subTitle" idx="1"/>
          </p:nvPr>
        </p:nvSpPr>
        <p:spPr>
          <a:xfrm>
            <a:off x="1524000" y="2923612"/>
            <a:ext cx="9144000" cy="3369033"/>
          </a:xfrm>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Presented by</a:t>
            </a:r>
          </a:p>
          <a:p>
            <a:r>
              <a:rPr lang="en-US" b="1" dirty="0">
                <a:latin typeface="Times New Roman" panose="02020603050405020304" pitchFamily="18" charset="0"/>
                <a:cs typeface="Times New Roman" panose="02020603050405020304" pitchFamily="18" charset="0"/>
              </a:rPr>
              <a:t>Ankita Sanjiv Giroti</a:t>
            </a:r>
          </a:p>
          <a:p>
            <a:r>
              <a:rPr lang="en-US" dirty="0">
                <a:latin typeface="Times New Roman" panose="02020603050405020304" pitchFamily="18" charset="0"/>
                <a:cs typeface="Times New Roman" panose="02020603050405020304" pitchFamily="18" charset="0"/>
              </a:rPr>
              <a:t>M. Sc. Semester IV</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Under the Guidance of </a:t>
            </a:r>
          </a:p>
          <a:p>
            <a:r>
              <a:rPr lang="en-US" b="1" dirty="0">
                <a:latin typeface="Times New Roman" panose="02020603050405020304" pitchFamily="18" charset="0"/>
                <a:cs typeface="Times New Roman" panose="02020603050405020304" pitchFamily="18" charset="0"/>
              </a:rPr>
              <a:t>Dr. Mrs. A. D. Sakhare</a:t>
            </a:r>
          </a:p>
          <a:p>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Department of Electronics and Computer Science, </a:t>
            </a:r>
          </a:p>
          <a:p>
            <a:r>
              <a:rPr lang="en-US" dirty="0" err="1">
                <a:latin typeface="Times New Roman" panose="02020603050405020304" pitchFamily="18" charset="0"/>
                <a:cs typeface="Times New Roman" panose="02020603050405020304" pitchFamily="18" charset="0"/>
              </a:rPr>
              <a:t>Rashtrasant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Tukadoji</a:t>
            </a:r>
            <a:r>
              <a:rPr lang="en-US" dirty="0">
                <a:latin typeface="Times New Roman" panose="02020603050405020304" pitchFamily="18" charset="0"/>
                <a:cs typeface="Times New Roman" panose="02020603050405020304" pitchFamily="18" charset="0"/>
              </a:rPr>
              <a:t> Maharaj Nagpur University, Nagpur</a:t>
            </a:r>
          </a:p>
        </p:txBody>
      </p:sp>
    </p:spTree>
    <p:extLst>
      <p:ext uri="{BB962C8B-B14F-4D97-AF65-F5344CB8AC3E}">
        <p14:creationId xmlns:p14="http://schemas.microsoft.com/office/powerpoint/2010/main" val="2526871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4260A-55F5-A37E-D223-F83DA2775A42}"/>
              </a:ext>
            </a:extLst>
          </p:cNvPr>
          <p:cNvSpPr>
            <a:spLocks noGrp="1"/>
          </p:cNvSpPr>
          <p:nvPr>
            <p:ph type="title"/>
          </p:nvPr>
        </p:nvSpPr>
        <p:spPr>
          <a:xfrm>
            <a:off x="838200" y="167148"/>
            <a:ext cx="10515600" cy="766916"/>
          </a:xfrm>
        </p:spPr>
        <p:txBody>
          <a:bodyPr>
            <a:normAutofit/>
          </a:bodyPr>
          <a:lstStyle/>
          <a:p>
            <a:r>
              <a:rPr lang="en-US" sz="4000" b="1" dirty="0">
                <a:latin typeface="Times New Roman" panose="02020603050405020304" pitchFamily="18" charset="0"/>
                <a:cs typeface="Times New Roman" panose="02020603050405020304" pitchFamily="18" charset="0"/>
              </a:rPr>
              <a:t>Contents </a:t>
            </a:r>
          </a:p>
        </p:txBody>
      </p:sp>
      <p:sp>
        <p:nvSpPr>
          <p:cNvPr id="3" name="Content Placeholder 2">
            <a:extLst>
              <a:ext uri="{FF2B5EF4-FFF2-40B4-BE49-F238E27FC236}">
                <a16:creationId xmlns:a16="http://schemas.microsoft.com/office/drawing/2014/main" id="{9E361D64-F7FC-AF7E-AB97-246C5737D4EE}"/>
              </a:ext>
            </a:extLst>
          </p:cNvPr>
          <p:cNvSpPr>
            <a:spLocks noGrp="1"/>
          </p:cNvSpPr>
          <p:nvPr>
            <p:ph idx="1"/>
          </p:nvPr>
        </p:nvSpPr>
        <p:spPr>
          <a:xfrm>
            <a:off x="838200" y="934064"/>
            <a:ext cx="10515600" cy="5923936"/>
          </a:xfrm>
        </p:spPr>
        <p:txBody>
          <a:bodyPr>
            <a:noAutofit/>
          </a:bodyPr>
          <a:lstStyle/>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Introduction</a:t>
            </a: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Review of Literature</a:t>
            </a: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Problem Statement</a:t>
            </a: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Objectives</a:t>
            </a: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Requirement Specifications</a:t>
            </a: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Planning and Scheduling</a:t>
            </a: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System Design</a:t>
            </a: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Experimental Work</a:t>
            </a: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Results</a:t>
            </a: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Future Scope</a:t>
            </a: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26700536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BA4E8-580A-C45F-E230-C20F4647AFF5}"/>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Introduction  </a:t>
            </a:r>
          </a:p>
        </p:txBody>
      </p:sp>
      <p:sp>
        <p:nvSpPr>
          <p:cNvPr id="3" name="Content Placeholder 2">
            <a:extLst>
              <a:ext uri="{FF2B5EF4-FFF2-40B4-BE49-F238E27FC236}">
                <a16:creationId xmlns:a16="http://schemas.microsoft.com/office/drawing/2014/main" id="{D76D71F8-689D-8E61-F177-BCF69BBAF19E}"/>
              </a:ext>
            </a:extLst>
          </p:cNvPr>
          <p:cNvSpPr>
            <a:spLocks noGrp="1"/>
          </p:cNvSpPr>
          <p:nvPr>
            <p:ph idx="1"/>
          </p:nvPr>
        </p:nvSpPr>
        <p:spPr/>
        <p:txBody>
          <a:bodyPr>
            <a:normAutofit/>
          </a:bodyPr>
          <a:lstStyle/>
          <a:p>
            <a:pPr algn="just">
              <a:lnSpc>
                <a:spcPct val="150000"/>
              </a:lnSpc>
            </a:pPr>
            <a:r>
              <a:rPr lang="en-US" sz="2600" dirty="0">
                <a:latin typeface="Times New Roman" panose="02020603050405020304" pitchFamily="18" charset="0"/>
                <a:cs typeface="Times New Roman" panose="02020603050405020304" pitchFamily="18" charset="0"/>
              </a:rPr>
              <a:t>Arm and hand paralysis can lead to permanent damage if does not treat properly</a:t>
            </a:r>
          </a:p>
          <a:p>
            <a:pPr algn="just">
              <a:lnSpc>
                <a:spcPct val="150000"/>
              </a:lnSpc>
            </a:pPr>
            <a:r>
              <a:rPr lang="en-US" sz="2600" dirty="0">
                <a:latin typeface="Times New Roman" panose="02020603050405020304" pitchFamily="18" charset="0"/>
                <a:cs typeface="Times New Roman" panose="02020603050405020304" pitchFamily="18" charset="0"/>
              </a:rPr>
              <a:t>Traditional methods like mirror therapy can be used to regain muscle strength, but are not that effective</a:t>
            </a:r>
          </a:p>
          <a:p>
            <a:pPr algn="just">
              <a:lnSpc>
                <a:spcPct val="150000"/>
              </a:lnSpc>
            </a:pPr>
            <a:r>
              <a:rPr lang="en-US" sz="2600" dirty="0">
                <a:latin typeface="Times New Roman" panose="02020603050405020304" pitchFamily="18" charset="0"/>
                <a:cs typeface="Times New Roman" panose="02020603050405020304" pitchFamily="18" charset="0"/>
              </a:rPr>
              <a:t>A system is designed to control the movements of the patient with hand paralysis by replicating  the therapist actions</a:t>
            </a:r>
          </a:p>
        </p:txBody>
      </p:sp>
    </p:spTree>
    <p:extLst>
      <p:ext uri="{BB962C8B-B14F-4D97-AF65-F5344CB8AC3E}">
        <p14:creationId xmlns:p14="http://schemas.microsoft.com/office/powerpoint/2010/main" val="28567135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10EE4-8E47-E8A8-84F0-BF89EDB800F7}"/>
              </a:ext>
            </a:extLst>
          </p:cNvPr>
          <p:cNvSpPr>
            <a:spLocks noGrp="1"/>
          </p:cNvSpPr>
          <p:nvPr>
            <p:ph type="title"/>
          </p:nvPr>
        </p:nvSpPr>
        <p:spPr>
          <a:xfrm>
            <a:off x="383458" y="0"/>
            <a:ext cx="10515600" cy="795081"/>
          </a:xfrm>
        </p:spPr>
        <p:txBody>
          <a:bodyPr>
            <a:noAutofit/>
          </a:bodyPr>
          <a:lstStyle/>
          <a:p>
            <a:pPr>
              <a:lnSpc>
                <a:spcPct val="150000"/>
              </a:lnSpc>
            </a:pPr>
            <a:r>
              <a:rPr lang="en-US" sz="4000" b="1" dirty="0">
                <a:latin typeface="Times New Roman" panose="02020603050405020304" pitchFamily="18" charset="0"/>
                <a:cs typeface="Times New Roman" panose="02020603050405020304" pitchFamily="18" charset="0"/>
              </a:rPr>
              <a:t>Review of Literature</a:t>
            </a:r>
          </a:p>
        </p:txBody>
      </p:sp>
      <p:graphicFrame>
        <p:nvGraphicFramePr>
          <p:cNvPr id="3" name="Table 2">
            <a:extLst>
              <a:ext uri="{FF2B5EF4-FFF2-40B4-BE49-F238E27FC236}">
                <a16:creationId xmlns:a16="http://schemas.microsoft.com/office/drawing/2014/main" id="{2E5E1A5A-A1A9-30A3-C886-4AE20CEE5F19}"/>
              </a:ext>
            </a:extLst>
          </p:cNvPr>
          <p:cNvGraphicFramePr>
            <a:graphicFrameLocks noGrp="1"/>
          </p:cNvGraphicFramePr>
          <p:nvPr>
            <p:extLst>
              <p:ext uri="{D42A27DB-BD31-4B8C-83A1-F6EECF244321}">
                <p14:modId xmlns:p14="http://schemas.microsoft.com/office/powerpoint/2010/main" val="1212845300"/>
              </p:ext>
            </p:extLst>
          </p:nvPr>
        </p:nvGraphicFramePr>
        <p:xfrm>
          <a:off x="383458" y="1022554"/>
          <a:ext cx="11425084" cy="5074484"/>
        </p:xfrm>
        <a:graphic>
          <a:graphicData uri="http://schemas.openxmlformats.org/drawingml/2006/table">
            <a:tbl>
              <a:tblPr firstRow="1" bandRow="1">
                <a:tableStyleId>{5940675A-B579-460E-94D1-54222C63F5DA}</a:tableStyleId>
              </a:tblPr>
              <a:tblGrid>
                <a:gridCol w="862624">
                  <a:extLst>
                    <a:ext uri="{9D8B030D-6E8A-4147-A177-3AD203B41FA5}">
                      <a16:colId xmlns:a16="http://schemas.microsoft.com/office/drawing/2014/main" val="953839930"/>
                    </a:ext>
                  </a:extLst>
                </a:gridCol>
                <a:gridCol w="2805413">
                  <a:extLst>
                    <a:ext uri="{9D8B030D-6E8A-4147-A177-3AD203B41FA5}">
                      <a16:colId xmlns:a16="http://schemas.microsoft.com/office/drawing/2014/main" val="925246630"/>
                    </a:ext>
                  </a:extLst>
                </a:gridCol>
                <a:gridCol w="2236763">
                  <a:extLst>
                    <a:ext uri="{9D8B030D-6E8A-4147-A177-3AD203B41FA5}">
                      <a16:colId xmlns:a16="http://schemas.microsoft.com/office/drawing/2014/main" val="1563842135"/>
                    </a:ext>
                  </a:extLst>
                </a:gridCol>
                <a:gridCol w="2590271">
                  <a:extLst>
                    <a:ext uri="{9D8B030D-6E8A-4147-A177-3AD203B41FA5}">
                      <a16:colId xmlns:a16="http://schemas.microsoft.com/office/drawing/2014/main" val="2663004866"/>
                    </a:ext>
                  </a:extLst>
                </a:gridCol>
                <a:gridCol w="2930013">
                  <a:extLst>
                    <a:ext uri="{9D8B030D-6E8A-4147-A177-3AD203B41FA5}">
                      <a16:colId xmlns:a16="http://schemas.microsoft.com/office/drawing/2014/main" val="3169655752"/>
                    </a:ext>
                  </a:extLst>
                </a:gridCol>
              </a:tblGrid>
              <a:tr h="411044">
                <a:tc>
                  <a:txBody>
                    <a:bodyPr/>
                    <a:lstStyle/>
                    <a:p>
                      <a:r>
                        <a:rPr lang="en-US" sz="1600" b="1" dirty="0"/>
                        <a:t>Sr. No.</a:t>
                      </a:r>
                      <a:endParaRPr lang="en-US" sz="1600" b="1"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t>Title</a:t>
                      </a:r>
                      <a:r>
                        <a:rPr lang="en-US" sz="1600" dirty="0"/>
                        <a:t> </a:t>
                      </a:r>
                      <a:endParaRPr lang="en-US" sz="1600"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t>Author</a:t>
                      </a:r>
                      <a:r>
                        <a:rPr lang="en-US" sz="1600" dirty="0"/>
                        <a:t> </a:t>
                      </a:r>
                      <a:endParaRPr lang="en-US" sz="1600"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t>Source</a:t>
                      </a:r>
                      <a:r>
                        <a:rPr lang="en-US" sz="1600" dirty="0"/>
                        <a:t> </a:t>
                      </a:r>
                      <a:endParaRPr lang="en-US" sz="1600"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t>Description</a:t>
                      </a:r>
                      <a:r>
                        <a:rPr lang="en-US" sz="1600" dirty="0"/>
                        <a:t> </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34366022"/>
                  </a:ext>
                </a:extLst>
              </a:tr>
              <a:tr h="370840">
                <a:tc>
                  <a:txBody>
                    <a:bodyPr/>
                    <a:lstStyle/>
                    <a:p>
                      <a:r>
                        <a:rPr lang="en-US" sz="1600" dirty="0"/>
                        <a:t>1</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b="0" kern="0" dirty="0">
                          <a:effectLst/>
                          <a:latin typeface="Times New Roman" panose="02020603050405020304" pitchFamily="18" charset="0"/>
                          <a:ea typeface="Calibri" panose="020F0502020204030204" pitchFamily="34" charset="0"/>
                          <a:cs typeface="Times New Roman" panose="02020603050405020304" pitchFamily="18" charset="0"/>
                        </a:rPr>
                        <a:t>Machine Learning for Detection of Muscular Activity from Surface EMG Signals</a:t>
                      </a:r>
                      <a:endParaRPr lang="en-US" sz="1400" b="0" dirty="0">
                        <a:latin typeface="Times New Roman" panose="02020603050405020304" pitchFamily="18" charset="0"/>
                        <a:cs typeface="Times New Roman" panose="02020603050405020304" pitchFamily="18" charset="0"/>
                      </a:endParaRPr>
                    </a:p>
                  </a:txBody>
                  <a:tcPr/>
                </a:tc>
                <a:tc>
                  <a:txBody>
                    <a:bodyPr/>
                    <a:lstStyle/>
                    <a:p>
                      <a:r>
                        <a:rPr lang="en-US" sz="1600" kern="1200" dirty="0">
                          <a:solidFill>
                            <a:schemeClr val="tx1"/>
                          </a:solidFill>
                          <a:effectLst/>
                          <a:latin typeface="Times New Roman" panose="02020603050405020304" pitchFamily="18" charset="0"/>
                          <a:ea typeface="+mn-ea"/>
                          <a:cs typeface="Times New Roman" panose="02020603050405020304" pitchFamily="18" charset="0"/>
                        </a:rPr>
                        <a:t>Francesco Di </a:t>
                      </a: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Nardo</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 Antonio Nocera, Alessandro </a:t>
                      </a: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Cucchiarelli</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 Sandro </a:t>
                      </a: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Fioretti</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 and Christian </a:t>
                      </a: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Morbidoni</a:t>
                      </a:r>
                      <a:endParaRPr lang="en-US" sz="1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Sensors, </a:t>
                      </a:r>
                      <a:r>
                        <a:rPr lang="en-US" sz="1600" kern="0" dirty="0">
                          <a:effectLst/>
                          <a:latin typeface="Times New Roman" panose="02020603050405020304" pitchFamily="18" charset="0"/>
                          <a:ea typeface="Calibri" panose="020F0502020204030204" pitchFamily="34" charset="0"/>
                          <a:cs typeface="Times New Roman" panose="02020603050405020304" pitchFamily="18" charset="0"/>
                        </a:rPr>
                        <a:t>1(1), pp. 1-4, 2022  </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Surface EMG was used to detect muscle contraction. The researcher predicted onset/offset timing of muscular recruitment of the machine learning based methods.</a:t>
                      </a:r>
                    </a:p>
                  </a:txBody>
                  <a:tcPr/>
                </a:tc>
                <a:extLst>
                  <a:ext uri="{0D108BD9-81ED-4DB2-BD59-A6C34878D82A}">
                    <a16:rowId xmlns:a16="http://schemas.microsoft.com/office/drawing/2014/main" val="2326309122"/>
                  </a:ext>
                </a:extLst>
              </a:tr>
              <a:tr h="370840">
                <a:tc>
                  <a:txBody>
                    <a:bodyPr/>
                    <a:lstStyle/>
                    <a:p>
                      <a:r>
                        <a:rPr lang="en-US" sz="1600" dirty="0">
                          <a:latin typeface="Times New Roman" panose="02020603050405020304" pitchFamily="18" charset="0"/>
                          <a:cs typeface="Times New Roman" panose="02020603050405020304" pitchFamily="18" charset="0"/>
                        </a:rPr>
                        <a:t>2</a:t>
                      </a:r>
                    </a:p>
                  </a:txBody>
                  <a:tcPr/>
                </a:tc>
                <a:tc>
                  <a:txBody>
                    <a:bodyPr/>
                    <a:lstStyle/>
                    <a:p>
                      <a:r>
                        <a:rPr lang="en-US" sz="1600" b="0" kern="0" dirty="0">
                          <a:effectLst/>
                          <a:latin typeface="Times New Roman" panose="02020603050405020304" pitchFamily="18" charset="0"/>
                          <a:ea typeface="Calibri" panose="020F0502020204030204" pitchFamily="34" charset="0"/>
                          <a:cs typeface="Times New Roman" panose="02020603050405020304" pitchFamily="18" charset="0"/>
                        </a:rPr>
                        <a:t>Design of an Exoskeleton for Hand Rehabilitation</a:t>
                      </a:r>
                      <a:endParaRPr lang="en-US" sz="1400" b="0" dirty="0">
                        <a:latin typeface="Times New Roman" panose="02020603050405020304" pitchFamily="18" charset="0"/>
                        <a:cs typeface="Times New Roman" panose="02020603050405020304" pitchFamily="18" charset="0"/>
                      </a:endParaRPr>
                    </a:p>
                  </a:txBody>
                  <a:tcPr/>
                </a:tc>
                <a:tc>
                  <a:txBody>
                    <a:bodyPr/>
                    <a:lstStyle/>
                    <a:p>
                      <a:r>
                        <a:rPr lang="en-US" sz="1600" kern="1200" dirty="0">
                          <a:solidFill>
                            <a:schemeClr val="tx1"/>
                          </a:solidFill>
                          <a:effectLst/>
                          <a:latin typeface="Times New Roman" panose="02020603050405020304" pitchFamily="18" charset="0"/>
                          <a:ea typeface="+mn-ea"/>
                          <a:cs typeface="Times New Roman" panose="02020603050405020304" pitchFamily="18" charset="0"/>
                        </a:rPr>
                        <a:t>Ankita L. </a:t>
                      </a: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Dharmik</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 </a:t>
                      </a:r>
                    </a:p>
                    <a:p>
                      <a:r>
                        <a:rPr lang="en-US" sz="1600" kern="1200" dirty="0">
                          <a:solidFill>
                            <a:schemeClr val="tx1"/>
                          </a:solidFill>
                          <a:effectLst/>
                          <a:latin typeface="Times New Roman" panose="02020603050405020304" pitchFamily="18" charset="0"/>
                          <a:ea typeface="+mn-ea"/>
                          <a:cs typeface="Times New Roman" panose="02020603050405020304" pitchFamily="18" charset="0"/>
                        </a:rPr>
                        <a:t>S. K. Atre, S. J. Sharma</a:t>
                      </a:r>
                      <a:endParaRPr lang="en-US" sz="1400" dirty="0">
                        <a:latin typeface="Times New Roman" panose="02020603050405020304" pitchFamily="18" charset="0"/>
                        <a:cs typeface="Times New Roman" panose="02020603050405020304" pitchFamily="18" charset="0"/>
                      </a:endParaRPr>
                    </a:p>
                  </a:txBody>
                  <a:tcPr/>
                </a:tc>
                <a:tc>
                  <a:txBody>
                    <a:bodyPr/>
                    <a:lstStyle/>
                    <a:p>
                      <a:r>
                        <a:rPr lang="en-US" sz="1600" kern="1200" dirty="0">
                          <a:solidFill>
                            <a:schemeClr val="tx1"/>
                          </a:solidFill>
                          <a:effectLst/>
                          <a:latin typeface="Times New Roman" panose="02020603050405020304" pitchFamily="18" charset="0"/>
                          <a:ea typeface="+mn-ea"/>
                          <a:cs typeface="Times New Roman" panose="02020603050405020304" pitchFamily="18" charset="0"/>
                        </a:rPr>
                        <a:t>IEEE Conference and Interdisciplinary Approach in Technology and Management for Social Innovation (IATMS), </a:t>
                      </a:r>
                      <a:r>
                        <a:rPr lang="en-US" sz="1600" kern="0" dirty="0">
                          <a:effectLst/>
                          <a:latin typeface="Times New Roman" panose="02020603050405020304" pitchFamily="18" charset="0"/>
                          <a:ea typeface="Calibri" panose="020F0502020204030204" pitchFamily="34" charset="0"/>
                          <a:cs typeface="Times New Roman" panose="02020603050405020304" pitchFamily="18" charset="0"/>
                        </a:rPr>
                        <a:t>1(1), pp. </a:t>
                      </a:r>
                      <a:r>
                        <a:rPr lang="en-US" sz="1600" kern="0">
                          <a:effectLst/>
                          <a:latin typeface="Times New Roman" panose="02020603050405020304" pitchFamily="18" charset="0"/>
                          <a:ea typeface="Calibri" panose="020F0502020204030204" pitchFamily="34" charset="0"/>
                          <a:cs typeface="Times New Roman" panose="02020603050405020304" pitchFamily="18" charset="0"/>
                        </a:rPr>
                        <a:t>1-4, 2022 </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An exoskeleton was designed to assist a person with disability using EMG sensor. Microcontroller was programmed to rotate servo motor.</a:t>
                      </a:r>
                    </a:p>
                  </a:txBody>
                  <a:tcPr/>
                </a:tc>
                <a:extLst>
                  <a:ext uri="{0D108BD9-81ED-4DB2-BD59-A6C34878D82A}">
                    <a16:rowId xmlns:a16="http://schemas.microsoft.com/office/drawing/2014/main" val="430516258"/>
                  </a:ext>
                </a:extLst>
              </a:tr>
              <a:tr h="370840">
                <a:tc>
                  <a:txBody>
                    <a:bodyPr/>
                    <a:lstStyle/>
                    <a:p>
                      <a:r>
                        <a:rPr lang="en-US" sz="1600" dirty="0">
                          <a:latin typeface="Times New Roman" panose="02020603050405020304" pitchFamily="18" charset="0"/>
                          <a:cs typeface="Times New Roman" panose="02020603050405020304" pitchFamily="18" charset="0"/>
                        </a:rPr>
                        <a:t>3</a:t>
                      </a:r>
                    </a:p>
                  </a:txBody>
                  <a:tcPr/>
                </a:tc>
                <a:tc>
                  <a:txBody>
                    <a:bodyPr/>
                    <a:lstStyle/>
                    <a:p>
                      <a:r>
                        <a:rPr lang="en-US" sz="1600" b="0" kern="0" dirty="0">
                          <a:effectLst/>
                          <a:latin typeface="Times New Roman" panose="02020603050405020304" pitchFamily="18" charset="0"/>
                          <a:ea typeface="Calibri" panose="020F0502020204030204" pitchFamily="34" charset="0"/>
                          <a:cs typeface="Times New Roman" panose="02020603050405020304" pitchFamily="18" charset="0"/>
                        </a:rPr>
                        <a:t>Explainable Machine Learning Techniques to Predict Muscle Injuries in Professional Soccer Players through Biomechanical Analysis</a:t>
                      </a:r>
                      <a:endParaRPr lang="en-US" sz="1400" b="0" dirty="0">
                        <a:latin typeface="Times New Roman" panose="02020603050405020304" pitchFamily="18" charset="0"/>
                        <a:cs typeface="Times New Roman" panose="02020603050405020304" pitchFamily="18" charset="0"/>
                      </a:endParaRPr>
                    </a:p>
                  </a:txBody>
                  <a:tcPr/>
                </a:tc>
                <a:tc>
                  <a:txBody>
                    <a:bodyPr/>
                    <a:lstStyle/>
                    <a:p>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Mailyn</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 Calderon-Diaz, Rony Silvestre Aguirre, Juan P. </a:t>
                      </a: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Vasconez</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 Roberto Yanez, Matias Roby, Marvin </a:t>
                      </a: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Querales</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 Rodrigo Salas</a:t>
                      </a:r>
                      <a:endParaRPr lang="en-US" sz="1400" dirty="0">
                        <a:latin typeface="Times New Roman" panose="02020603050405020304" pitchFamily="18" charset="0"/>
                        <a:cs typeface="Times New Roman" panose="02020603050405020304" pitchFamily="18" charset="0"/>
                      </a:endParaRPr>
                    </a:p>
                  </a:txBody>
                  <a:tcPr/>
                </a:tc>
                <a:tc>
                  <a:txBody>
                    <a:bodyPr/>
                    <a:lstStyle/>
                    <a:p>
                      <a:r>
                        <a:rPr lang="en-US" sz="1600" kern="1200" dirty="0">
                          <a:solidFill>
                            <a:schemeClr val="tx1"/>
                          </a:solidFill>
                          <a:effectLst/>
                          <a:latin typeface="Times New Roman" panose="02020603050405020304" pitchFamily="18" charset="0"/>
                          <a:ea typeface="+mn-ea"/>
                          <a:cs typeface="Times New Roman" panose="02020603050405020304" pitchFamily="18" charset="0"/>
                        </a:rPr>
                        <a:t>Sensors, </a:t>
                      </a:r>
                      <a:r>
                        <a:rPr lang="en-US" sz="1600" kern="0" dirty="0">
                          <a:effectLst/>
                          <a:latin typeface="Times New Roman" panose="02020603050405020304" pitchFamily="18" charset="0"/>
                          <a:ea typeface="Calibri" panose="020F0502020204030204" pitchFamily="34" charset="0"/>
                          <a:cs typeface="Times New Roman" panose="02020603050405020304" pitchFamily="18" charset="0"/>
                        </a:rPr>
                        <a:t>24(119), pp. 1-13, 2024</a:t>
                      </a:r>
                      <a:endParaRPr lang="en-US" sz="14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Paper presented a Hamstring strain injury detection technique using various Machine Learning techniques to find the accurate result.</a:t>
                      </a:r>
                    </a:p>
                  </a:txBody>
                  <a:tcPr/>
                </a:tc>
                <a:extLst>
                  <a:ext uri="{0D108BD9-81ED-4DB2-BD59-A6C34878D82A}">
                    <a16:rowId xmlns:a16="http://schemas.microsoft.com/office/drawing/2014/main" val="1219722590"/>
                  </a:ext>
                </a:extLst>
              </a:tr>
            </a:tbl>
          </a:graphicData>
        </a:graphic>
      </p:graphicFrame>
    </p:spTree>
    <p:extLst>
      <p:ext uri="{BB962C8B-B14F-4D97-AF65-F5344CB8AC3E}">
        <p14:creationId xmlns:p14="http://schemas.microsoft.com/office/powerpoint/2010/main" val="38290055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10EE4-8E47-E8A8-84F0-BF89EDB800F7}"/>
              </a:ext>
            </a:extLst>
          </p:cNvPr>
          <p:cNvSpPr>
            <a:spLocks noGrp="1"/>
          </p:cNvSpPr>
          <p:nvPr>
            <p:ph type="title"/>
          </p:nvPr>
        </p:nvSpPr>
        <p:spPr>
          <a:xfrm>
            <a:off x="749709" y="610266"/>
            <a:ext cx="10515600" cy="795081"/>
          </a:xfrm>
        </p:spPr>
        <p:txBody>
          <a:bodyPr>
            <a:normAutofit/>
          </a:bodyPr>
          <a:lstStyle/>
          <a:p>
            <a:r>
              <a:rPr lang="en-US" sz="4000" b="1" dirty="0">
                <a:latin typeface="Times New Roman" panose="02020603050405020304" pitchFamily="18" charset="0"/>
                <a:cs typeface="Times New Roman" panose="02020603050405020304" pitchFamily="18" charset="0"/>
              </a:rPr>
              <a:t>Review of Literature</a:t>
            </a:r>
          </a:p>
        </p:txBody>
      </p:sp>
      <p:graphicFrame>
        <p:nvGraphicFramePr>
          <p:cNvPr id="3" name="Table 2">
            <a:extLst>
              <a:ext uri="{FF2B5EF4-FFF2-40B4-BE49-F238E27FC236}">
                <a16:creationId xmlns:a16="http://schemas.microsoft.com/office/drawing/2014/main" id="{2E5E1A5A-A1A9-30A3-C886-4AE20CEE5F19}"/>
              </a:ext>
            </a:extLst>
          </p:cNvPr>
          <p:cNvGraphicFramePr>
            <a:graphicFrameLocks noGrp="1"/>
          </p:cNvGraphicFramePr>
          <p:nvPr>
            <p:extLst>
              <p:ext uri="{D42A27DB-BD31-4B8C-83A1-F6EECF244321}">
                <p14:modId xmlns:p14="http://schemas.microsoft.com/office/powerpoint/2010/main" val="2418512253"/>
              </p:ext>
            </p:extLst>
          </p:nvPr>
        </p:nvGraphicFramePr>
        <p:xfrm>
          <a:off x="838200" y="1671482"/>
          <a:ext cx="10515600" cy="4178711"/>
        </p:xfrm>
        <a:graphic>
          <a:graphicData uri="http://schemas.openxmlformats.org/drawingml/2006/table">
            <a:tbl>
              <a:tblPr firstRow="1" bandRow="1">
                <a:tableStyleId>{5940675A-B579-460E-94D1-54222C63F5DA}</a:tableStyleId>
              </a:tblPr>
              <a:tblGrid>
                <a:gridCol w="793956">
                  <a:extLst>
                    <a:ext uri="{9D8B030D-6E8A-4147-A177-3AD203B41FA5}">
                      <a16:colId xmlns:a16="http://schemas.microsoft.com/office/drawing/2014/main" val="953839930"/>
                    </a:ext>
                  </a:extLst>
                </a:gridCol>
                <a:gridCol w="2743200">
                  <a:extLst>
                    <a:ext uri="{9D8B030D-6E8A-4147-A177-3AD203B41FA5}">
                      <a16:colId xmlns:a16="http://schemas.microsoft.com/office/drawing/2014/main" val="925246630"/>
                    </a:ext>
                  </a:extLst>
                </a:gridCol>
                <a:gridCol w="1744090">
                  <a:extLst>
                    <a:ext uri="{9D8B030D-6E8A-4147-A177-3AD203B41FA5}">
                      <a16:colId xmlns:a16="http://schemas.microsoft.com/office/drawing/2014/main" val="1563842135"/>
                    </a:ext>
                  </a:extLst>
                </a:gridCol>
                <a:gridCol w="2025748">
                  <a:extLst>
                    <a:ext uri="{9D8B030D-6E8A-4147-A177-3AD203B41FA5}">
                      <a16:colId xmlns:a16="http://schemas.microsoft.com/office/drawing/2014/main" val="2663004866"/>
                    </a:ext>
                  </a:extLst>
                </a:gridCol>
                <a:gridCol w="3208606">
                  <a:extLst>
                    <a:ext uri="{9D8B030D-6E8A-4147-A177-3AD203B41FA5}">
                      <a16:colId xmlns:a16="http://schemas.microsoft.com/office/drawing/2014/main" val="3169655752"/>
                    </a:ext>
                  </a:extLst>
                </a:gridCol>
              </a:tblGrid>
              <a:tr h="456351">
                <a:tc>
                  <a:txBody>
                    <a:bodyPr/>
                    <a:lstStyle/>
                    <a:p>
                      <a:r>
                        <a:rPr lang="en-US" sz="1600" b="1" dirty="0"/>
                        <a:t>Sr. No.</a:t>
                      </a:r>
                      <a:endParaRPr lang="en-US" sz="1600" b="1"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t>Title</a:t>
                      </a:r>
                      <a:r>
                        <a:rPr lang="en-US" sz="1600" dirty="0"/>
                        <a:t> </a:t>
                      </a:r>
                      <a:endParaRPr lang="en-US" sz="1600"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t>Author</a:t>
                      </a:r>
                      <a:r>
                        <a:rPr lang="en-US" sz="1600" dirty="0"/>
                        <a:t> </a:t>
                      </a:r>
                      <a:endParaRPr lang="en-US" sz="1600"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t>Source</a:t>
                      </a:r>
                      <a:r>
                        <a:rPr lang="en-US" sz="1600" dirty="0"/>
                        <a:t> </a:t>
                      </a:r>
                      <a:endParaRPr lang="en-US" sz="1600"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t>Description</a:t>
                      </a:r>
                      <a:r>
                        <a:rPr lang="en-US" sz="1600" dirty="0"/>
                        <a:t> </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34366022"/>
                  </a:ext>
                </a:extLst>
              </a:tr>
              <a:tr h="1725821">
                <a:tc>
                  <a:txBody>
                    <a:bodyPr/>
                    <a:lstStyle/>
                    <a:p>
                      <a:r>
                        <a:rPr lang="en-US" sz="1600" dirty="0">
                          <a:latin typeface="Times New Roman" panose="02020603050405020304" pitchFamily="18" charset="0"/>
                          <a:cs typeface="Times New Roman" panose="02020603050405020304" pitchFamily="18" charset="0"/>
                        </a:rPr>
                        <a:t>4</a:t>
                      </a:r>
                    </a:p>
                  </a:txBody>
                  <a:tcPr/>
                </a:tc>
                <a:tc>
                  <a:txBody>
                    <a:bodyPr/>
                    <a:lstStyle/>
                    <a:p>
                      <a:r>
                        <a:rPr lang="en-US" sz="1600" b="0" kern="0" dirty="0">
                          <a:effectLst/>
                          <a:latin typeface="Times New Roman" panose="02020603050405020304" pitchFamily="18" charset="0"/>
                          <a:ea typeface="Calibri" panose="020F0502020204030204" pitchFamily="34" charset="0"/>
                          <a:cs typeface="Times New Roman" panose="02020603050405020304" pitchFamily="18" charset="0"/>
                        </a:rPr>
                        <a:t>I Want to Control Your Move: Human-Human Interface (HHI) Neuromuscular Electrical Stimulator (NMES)</a:t>
                      </a:r>
                      <a:endParaRPr lang="en-US" sz="1200" b="0" dirty="0">
                        <a:latin typeface="Times New Roman" panose="02020603050405020304" pitchFamily="18" charset="0"/>
                        <a:cs typeface="Times New Roman" panose="02020603050405020304" pitchFamily="18" charset="0"/>
                      </a:endParaRPr>
                    </a:p>
                  </a:txBody>
                  <a:tcPr/>
                </a:tc>
                <a:tc>
                  <a:txBody>
                    <a:bodyPr/>
                    <a:lstStyle/>
                    <a:p>
                      <a:r>
                        <a:rPr lang="en-US" sz="1600" kern="1200" dirty="0">
                          <a:solidFill>
                            <a:schemeClr val="tx1"/>
                          </a:solidFill>
                          <a:effectLst/>
                          <a:latin typeface="Times New Roman" panose="02020603050405020304" pitchFamily="18" charset="0"/>
                          <a:ea typeface="+mn-ea"/>
                          <a:cs typeface="Times New Roman" panose="02020603050405020304" pitchFamily="18" charset="0"/>
                        </a:rPr>
                        <a:t>Ching Yee YONG and Terence Tien Lok SIA</a:t>
                      </a:r>
                      <a:endParaRPr lang="en-US" sz="1200" dirty="0">
                        <a:latin typeface="Times New Roman" panose="02020603050405020304" pitchFamily="18" charset="0"/>
                        <a:cs typeface="Times New Roman" panose="02020603050405020304" pitchFamily="18" charset="0"/>
                      </a:endParaRPr>
                    </a:p>
                  </a:txBody>
                  <a:tcPr/>
                </a:tc>
                <a:tc>
                  <a:txBody>
                    <a:bodyPr/>
                    <a:lstStyle/>
                    <a:p>
                      <a:r>
                        <a:rPr lang="en-US" sz="1600" kern="1200" dirty="0">
                          <a:solidFill>
                            <a:schemeClr val="tx1"/>
                          </a:solidFill>
                          <a:effectLst/>
                          <a:latin typeface="Times New Roman" panose="02020603050405020304" pitchFamily="18" charset="0"/>
                          <a:ea typeface="+mn-ea"/>
                          <a:cs typeface="Times New Roman" panose="02020603050405020304" pitchFamily="18" charset="0"/>
                        </a:rPr>
                        <a:t>Conference of Electronics, Communication and Networks (</a:t>
                      </a: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CECNet</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600" kern="0" dirty="0">
                          <a:effectLst/>
                          <a:latin typeface="Times New Roman" panose="02020603050405020304" pitchFamily="18" charset="0"/>
                          <a:ea typeface="Calibri" panose="020F0502020204030204" pitchFamily="34" charset="0"/>
                          <a:cs typeface="Times New Roman" panose="02020603050405020304" pitchFamily="18" charset="0"/>
                        </a:rPr>
                        <a:t>1(1), pp. 724-730, 2022</a:t>
                      </a:r>
                      <a:endParaRPr lang="en-US" sz="14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The system implemented Neuromuscular Electrical Stimulator (NMES) integrated with Human-Human Interaction (HHI)</a:t>
                      </a:r>
                      <a:r>
                        <a:rPr lang="en-US" sz="1600" b="0" dirty="0">
                          <a:latin typeface="Times New Roman" panose="02020603050405020304" pitchFamily="18" charset="0"/>
                          <a:cs typeface="Times New Roman" panose="02020603050405020304" pitchFamily="18" charset="0"/>
                        </a:rPr>
                        <a:t> for hand rehabilitation using IoT.</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26309122"/>
                  </a:ext>
                </a:extLst>
              </a:tr>
              <a:tr h="1996539">
                <a:tc>
                  <a:txBody>
                    <a:bodyPr/>
                    <a:lstStyle/>
                    <a:p>
                      <a:r>
                        <a:rPr lang="en-US" sz="1600" dirty="0">
                          <a:latin typeface="Times New Roman" panose="02020603050405020304" pitchFamily="18" charset="0"/>
                          <a:cs typeface="Times New Roman" panose="02020603050405020304" pitchFamily="18" charset="0"/>
                        </a:rPr>
                        <a:t>5</a:t>
                      </a:r>
                    </a:p>
                  </a:txBody>
                  <a:tcPr/>
                </a:tc>
                <a:tc>
                  <a:txBody>
                    <a:bodyPr/>
                    <a:lstStyle/>
                    <a:p>
                      <a:r>
                        <a:rPr lang="en-US" sz="1600" b="0" kern="0" dirty="0">
                          <a:effectLst/>
                          <a:latin typeface="Times New Roman" panose="02020603050405020304" pitchFamily="18" charset="0"/>
                          <a:ea typeface="Calibri" panose="020F0502020204030204" pitchFamily="34" charset="0"/>
                          <a:cs typeface="Times New Roman" panose="02020603050405020304" pitchFamily="18" charset="0"/>
                        </a:rPr>
                        <a:t>A Systematic Review of EMG Applications for the Characterization of Forearm and Hand Muscle Activity during Activities of Daily Living: Results, Challenges, and Open Issues</a:t>
                      </a:r>
                      <a:endParaRPr lang="en-US" sz="1200" b="0" dirty="0">
                        <a:latin typeface="Times New Roman" panose="02020603050405020304" pitchFamily="18" charset="0"/>
                        <a:cs typeface="Times New Roman" panose="02020603050405020304" pitchFamily="18" charset="0"/>
                      </a:endParaRPr>
                    </a:p>
                  </a:txBody>
                  <a:tcPr/>
                </a:tc>
                <a:tc>
                  <a:txBody>
                    <a:bodyPr/>
                    <a:lstStyle/>
                    <a:p>
                      <a:r>
                        <a:rPr lang="en-US" sz="1600" kern="1200" dirty="0">
                          <a:solidFill>
                            <a:schemeClr val="tx1"/>
                          </a:solidFill>
                          <a:effectLst/>
                          <a:latin typeface="Times New Roman" panose="02020603050405020304" pitchFamily="18" charset="0"/>
                          <a:ea typeface="+mn-ea"/>
                          <a:cs typeface="Times New Roman" panose="02020603050405020304" pitchFamily="18" charset="0"/>
                        </a:rPr>
                        <a:t>Nestor J. Jarque-Bou, Joaquin L. </a:t>
                      </a: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Sanche-Bau</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 Margarita Vergara</a:t>
                      </a:r>
                      <a:endParaRPr lang="en-US" sz="12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Sensors, </a:t>
                      </a:r>
                      <a:r>
                        <a:rPr lang="en-US" sz="1600" kern="0" dirty="0">
                          <a:effectLst/>
                          <a:latin typeface="Times New Roman" panose="02020603050405020304" pitchFamily="18" charset="0"/>
                          <a:ea typeface="Calibri" panose="020F0502020204030204" pitchFamily="34" charset="0"/>
                          <a:cs typeface="Times New Roman" panose="02020603050405020304" pitchFamily="18" charset="0"/>
                        </a:rPr>
                        <a:t>24(119), pp. 1-13, 2024</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The paper had studied EMG to characterized muscle activity of the hand. It focuses on human hand behavior , improve rehabilitation, control prothesis, etc.</a:t>
                      </a:r>
                    </a:p>
                  </a:txBody>
                  <a:tcPr/>
                </a:tc>
                <a:extLst>
                  <a:ext uri="{0D108BD9-81ED-4DB2-BD59-A6C34878D82A}">
                    <a16:rowId xmlns:a16="http://schemas.microsoft.com/office/drawing/2014/main" val="430516258"/>
                  </a:ext>
                </a:extLst>
              </a:tr>
            </a:tbl>
          </a:graphicData>
        </a:graphic>
      </p:graphicFrame>
    </p:spTree>
    <p:extLst>
      <p:ext uri="{BB962C8B-B14F-4D97-AF65-F5344CB8AC3E}">
        <p14:creationId xmlns:p14="http://schemas.microsoft.com/office/powerpoint/2010/main" val="24131686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10EE4-8E47-E8A8-84F0-BF89EDB800F7}"/>
              </a:ext>
            </a:extLst>
          </p:cNvPr>
          <p:cNvSpPr>
            <a:spLocks noGrp="1"/>
          </p:cNvSpPr>
          <p:nvPr>
            <p:ph type="title"/>
          </p:nvPr>
        </p:nvSpPr>
        <p:spPr>
          <a:xfrm>
            <a:off x="83574" y="164174"/>
            <a:ext cx="10515600" cy="795081"/>
          </a:xfrm>
        </p:spPr>
        <p:txBody>
          <a:bodyPr>
            <a:normAutofit/>
          </a:bodyPr>
          <a:lstStyle/>
          <a:p>
            <a:r>
              <a:rPr lang="en-US" sz="4000" b="1" dirty="0">
                <a:latin typeface="Times New Roman" panose="02020603050405020304" pitchFamily="18" charset="0"/>
                <a:cs typeface="Times New Roman" panose="02020603050405020304" pitchFamily="18" charset="0"/>
              </a:rPr>
              <a:t>Review of Literature</a:t>
            </a:r>
          </a:p>
        </p:txBody>
      </p:sp>
      <p:graphicFrame>
        <p:nvGraphicFramePr>
          <p:cNvPr id="3" name="Table 2">
            <a:extLst>
              <a:ext uri="{FF2B5EF4-FFF2-40B4-BE49-F238E27FC236}">
                <a16:creationId xmlns:a16="http://schemas.microsoft.com/office/drawing/2014/main" id="{2E5E1A5A-A1A9-30A3-C886-4AE20CEE5F19}"/>
              </a:ext>
            </a:extLst>
          </p:cNvPr>
          <p:cNvGraphicFramePr>
            <a:graphicFrameLocks noGrp="1"/>
          </p:cNvGraphicFramePr>
          <p:nvPr>
            <p:extLst>
              <p:ext uri="{D42A27DB-BD31-4B8C-83A1-F6EECF244321}">
                <p14:modId xmlns:p14="http://schemas.microsoft.com/office/powerpoint/2010/main" val="2277127623"/>
              </p:ext>
            </p:extLst>
          </p:nvPr>
        </p:nvGraphicFramePr>
        <p:xfrm>
          <a:off x="162232" y="959255"/>
          <a:ext cx="11867536" cy="5324242"/>
        </p:xfrm>
        <a:graphic>
          <a:graphicData uri="http://schemas.openxmlformats.org/drawingml/2006/table">
            <a:tbl>
              <a:tblPr firstRow="1" bandRow="1">
                <a:tableStyleId>{5940675A-B579-460E-94D1-54222C63F5DA}</a:tableStyleId>
              </a:tblPr>
              <a:tblGrid>
                <a:gridCol w="896031">
                  <a:extLst>
                    <a:ext uri="{9D8B030D-6E8A-4147-A177-3AD203B41FA5}">
                      <a16:colId xmlns:a16="http://schemas.microsoft.com/office/drawing/2014/main" val="953839930"/>
                    </a:ext>
                  </a:extLst>
                </a:gridCol>
                <a:gridCol w="2968047">
                  <a:extLst>
                    <a:ext uri="{9D8B030D-6E8A-4147-A177-3AD203B41FA5}">
                      <a16:colId xmlns:a16="http://schemas.microsoft.com/office/drawing/2014/main" val="925246630"/>
                    </a:ext>
                  </a:extLst>
                </a:gridCol>
                <a:gridCol w="2050933">
                  <a:extLst>
                    <a:ext uri="{9D8B030D-6E8A-4147-A177-3AD203B41FA5}">
                      <a16:colId xmlns:a16="http://schemas.microsoft.com/office/drawing/2014/main" val="1563842135"/>
                    </a:ext>
                  </a:extLst>
                </a:gridCol>
                <a:gridCol w="1690241">
                  <a:extLst>
                    <a:ext uri="{9D8B030D-6E8A-4147-A177-3AD203B41FA5}">
                      <a16:colId xmlns:a16="http://schemas.microsoft.com/office/drawing/2014/main" val="2663004866"/>
                    </a:ext>
                  </a:extLst>
                </a:gridCol>
                <a:gridCol w="4262284">
                  <a:extLst>
                    <a:ext uri="{9D8B030D-6E8A-4147-A177-3AD203B41FA5}">
                      <a16:colId xmlns:a16="http://schemas.microsoft.com/office/drawing/2014/main" val="3169655752"/>
                    </a:ext>
                  </a:extLst>
                </a:gridCol>
              </a:tblGrid>
              <a:tr h="463275">
                <a:tc>
                  <a:txBody>
                    <a:bodyPr/>
                    <a:lstStyle/>
                    <a:p>
                      <a:r>
                        <a:rPr lang="en-US" sz="1600" b="1" dirty="0"/>
                        <a:t>Sr. No.</a:t>
                      </a:r>
                      <a:endParaRPr lang="en-US" sz="1600" b="1"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t>Title</a:t>
                      </a:r>
                      <a:r>
                        <a:rPr lang="en-US" sz="1600" dirty="0"/>
                        <a:t> </a:t>
                      </a:r>
                      <a:endParaRPr lang="en-US" sz="1600"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t>Author</a:t>
                      </a:r>
                      <a:r>
                        <a:rPr lang="en-US" sz="1600" dirty="0"/>
                        <a:t> </a:t>
                      </a:r>
                      <a:endParaRPr lang="en-US" sz="1600"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t>Source</a:t>
                      </a:r>
                      <a:r>
                        <a:rPr lang="en-US" sz="1600" dirty="0"/>
                        <a:t> </a:t>
                      </a:r>
                      <a:endParaRPr lang="en-US" sz="1600"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t>Description</a:t>
                      </a:r>
                      <a:r>
                        <a:rPr lang="en-US" sz="1600" dirty="0"/>
                        <a:t> </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34366022"/>
                  </a:ext>
                </a:extLst>
              </a:tr>
              <a:tr h="1527147">
                <a:tc>
                  <a:txBody>
                    <a:bodyPr/>
                    <a:lstStyle/>
                    <a:p>
                      <a:r>
                        <a:rPr lang="en-US" sz="1600" dirty="0">
                          <a:latin typeface="Times New Roman" panose="02020603050405020304" pitchFamily="18" charset="0"/>
                          <a:cs typeface="Times New Roman" panose="02020603050405020304" pitchFamily="18" charset="0"/>
                        </a:rPr>
                        <a:t>6 </a:t>
                      </a:r>
                    </a:p>
                  </a:txBody>
                  <a:tcPr/>
                </a:tc>
                <a:tc>
                  <a:txBody>
                    <a:bodyPr/>
                    <a:lstStyle/>
                    <a:p>
                      <a:r>
                        <a:rPr lang="en-US" sz="1600" b="0" kern="0" dirty="0">
                          <a:effectLst/>
                          <a:latin typeface="Times New Roman" panose="02020603050405020304" pitchFamily="18" charset="0"/>
                          <a:ea typeface="Calibri" panose="020F0502020204030204" pitchFamily="34" charset="0"/>
                          <a:cs typeface="Times New Roman" panose="02020603050405020304" pitchFamily="18" charset="0"/>
                        </a:rPr>
                        <a:t>A New Wrist-forearm Rehabilitation Protocol Integrating Human Biomechanics and SVM-Based Machine Learning for Muscle Fatigue Estimation</a:t>
                      </a:r>
                      <a:endParaRPr lang="en-US" sz="1200" b="0" dirty="0">
                        <a:latin typeface="Times New Roman" panose="02020603050405020304" pitchFamily="18" charset="0"/>
                        <a:cs typeface="Times New Roman" panose="02020603050405020304" pitchFamily="18" charset="0"/>
                      </a:endParaRPr>
                    </a:p>
                  </a:txBody>
                  <a:tcPr/>
                </a:tc>
                <a:tc>
                  <a:txBody>
                    <a:bodyPr/>
                    <a:lstStyle/>
                    <a:p>
                      <a:r>
                        <a:rPr lang="en-US" sz="1600" kern="1200" dirty="0">
                          <a:solidFill>
                            <a:schemeClr val="tx1"/>
                          </a:solidFill>
                          <a:effectLst/>
                          <a:latin typeface="Times New Roman" panose="02020603050405020304" pitchFamily="18" charset="0"/>
                          <a:ea typeface="+mn-ea"/>
                          <a:cs typeface="Times New Roman" panose="02020603050405020304" pitchFamily="18" charset="0"/>
                        </a:rPr>
                        <a:t>Yassine </a:t>
                      </a: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Bouteraa</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 Ismail Ben Abdallah, Khalil </a:t>
                      </a: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Boukthir</a:t>
                      </a:r>
                      <a:endParaRPr lang="en-US" sz="12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Bioengineering, </a:t>
                      </a:r>
                      <a:r>
                        <a:rPr lang="en-US" sz="1400" kern="0" dirty="0">
                          <a:effectLst/>
                          <a:latin typeface="Times New Roman" panose="02020603050405020304" pitchFamily="18" charset="0"/>
                          <a:ea typeface="Calibri" panose="020F0502020204030204" pitchFamily="34" charset="0"/>
                          <a:cs typeface="Times New Roman" panose="02020603050405020304" pitchFamily="18" charset="0"/>
                        </a:rPr>
                        <a:t>10(219), pp. 1-22, 2023</a:t>
                      </a:r>
                      <a:endParaRPr lang="en-US" sz="14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Designed a remote rehabilitation system that integrates IoT based connected robot for wrist and forearm rehabilitation using Support Vector Machine (SVM) to predict muscle strain from the feature extracted from the EMG signals of the patient. </a:t>
                      </a:r>
                    </a:p>
                  </a:txBody>
                  <a:tcPr/>
                </a:tc>
                <a:extLst>
                  <a:ext uri="{0D108BD9-81ED-4DB2-BD59-A6C34878D82A}">
                    <a16:rowId xmlns:a16="http://schemas.microsoft.com/office/drawing/2014/main" val="4001962659"/>
                  </a:ext>
                </a:extLst>
              </a:tr>
              <a:tr h="1477183">
                <a:tc>
                  <a:txBody>
                    <a:bodyPr/>
                    <a:lstStyle/>
                    <a:p>
                      <a:r>
                        <a:rPr lang="en-US" sz="1600" dirty="0">
                          <a:latin typeface="Times New Roman" panose="02020603050405020304" pitchFamily="18" charset="0"/>
                          <a:cs typeface="Times New Roman" panose="02020603050405020304" pitchFamily="18" charset="0"/>
                        </a:rPr>
                        <a:t>7</a:t>
                      </a:r>
                    </a:p>
                  </a:txBody>
                  <a:tcPr/>
                </a:tc>
                <a:tc>
                  <a:txBody>
                    <a:bodyPr/>
                    <a:lstStyle/>
                    <a:p>
                      <a:r>
                        <a:rPr lang="en-US" sz="1600" b="0" kern="0" dirty="0">
                          <a:effectLst/>
                          <a:latin typeface="Times New Roman" panose="02020603050405020304" pitchFamily="18" charset="0"/>
                          <a:ea typeface="Calibri" panose="020F0502020204030204" pitchFamily="34" charset="0"/>
                          <a:cs typeface="Times New Roman" panose="02020603050405020304" pitchFamily="18" charset="0"/>
                        </a:rPr>
                        <a:t>IoT Based Cost Efficient Muscle Stimulator for Biomedical Application</a:t>
                      </a:r>
                      <a:endParaRPr lang="en-US" sz="1100" b="0" dirty="0">
                        <a:latin typeface="Times New Roman" panose="02020603050405020304" pitchFamily="18" charset="0"/>
                        <a:cs typeface="Times New Roman" panose="02020603050405020304" pitchFamily="18" charset="0"/>
                      </a:endParaRPr>
                    </a:p>
                  </a:txBody>
                  <a:tcPr/>
                </a:tc>
                <a:tc>
                  <a:txBody>
                    <a:bodyPr/>
                    <a:lstStyle/>
                    <a:p>
                      <a:r>
                        <a:rPr lang="en-US" sz="1600" kern="1200" dirty="0">
                          <a:solidFill>
                            <a:schemeClr val="tx1"/>
                          </a:solidFill>
                          <a:effectLst/>
                          <a:latin typeface="Times New Roman" panose="02020603050405020304" pitchFamily="18" charset="0"/>
                          <a:ea typeface="+mn-ea"/>
                          <a:cs typeface="Times New Roman" panose="02020603050405020304" pitchFamily="18" charset="0"/>
                        </a:rPr>
                        <a:t>Md. </a:t>
                      </a: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Latifur</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 Rahman, Md. </a:t>
                      </a: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Jahin</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 Alam, </a:t>
                      </a: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Nayeed</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 Rashid, </a:t>
                      </a: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Lamiya</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 Hassan </a:t>
                      </a: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Tithy</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Alfaj</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 Uddin Ahmed, and M Tarik Arafat</a:t>
                      </a:r>
                      <a:endParaRPr lang="en-US" sz="1100" dirty="0">
                        <a:latin typeface="Times New Roman" panose="02020603050405020304" pitchFamily="18" charset="0"/>
                        <a:cs typeface="Times New Roman" panose="02020603050405020304" pitchFamily="18" charset="0"/>
                      </a:endParaRPr>
                    </a:p>
                  </a:txBody>
                  <a:tcPr/>
                </a:tc>
                <a:tc>
                  <a:txBody>
                    <a:bodyPr/>
                    <a:lstStyle/>
                    <a:p>
                      <a:r>
                        <a:rPr lang="en-US" sz="1600" kern="1200" dirty="0">
                          <a:solidFill>
                            <a:schemeClr val="tx1"/>
                          </a:solidFill>
                          <a:effectLst/>
                          <a:latin typeface="Times New Roman" panose="02020603050405020304" pitchFamily="18" charset="0"/>
                          <a:ea typeface="+mn-ea"/>
                          <a:cs typeface="Times New Roman" panose="02020603050405020304" pitchFamily="18" charset="0"/>
                        </a:rPr>
                        <a:t>2020 IEEE Region 10 Symposium (TENSYMP), </a:t>
                      </a:r>
                      <a:r>
                        <a:rPr lang="en-US" sz="1600" kern="0" dirty="0">
                          <a:effectLst/>
                          <a:latin typeface="Times New Roman" panose="02020603050405020304" pitchFamily="18" charset="0"/>
                          <a:ea typeface="Calibri" panose="020F0502020204030204" pitchFamily="34" charset="0"/>
                          <a:cs typeface="Times New Roman" panose="02020603050405020304" pitchFamily="18" charset="0"/>
                        </a:rPr>
                        <a:t>1(1), pp. 1-5, 2020</a:t>
                      </a:r>
                      <a:endParaRPr lang="en-US" sz="12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Design </a:t>
                      </a:r>
                      <a:r>
                        <a:rPr lang="en-US" sz="1600">
                          <a:latin typeface="Times New Roman" panose="02020603050405020304" pitchFamily="18" charset="0"/>
                          <a:cs typeface="Times New Roman" panose="02020603050405020304" pitchFamily="18" charset="0"/>
                        </a:rPr>
                        <a:t>a low-cost </a:t>
                      </a:r>
                      <a:r>
                        <a:rPr lang="en-US" sz="1600" dirty="0">
                          <a:latin typeface="Times New Roman" panose="02020603050405020304" pitchFamily="18" charset="0"/>
                          <a:cs typeface="Times New Roman" panose="02020603050405020304" pitchFamily="18" charset="0"/>
                        </a:rPr>
                        <a:t>muscle stimulator integrated with IoT and a feedback system to receive voltages which was send to the IoT device to determine muscle strength.</a:t>
                      </a:r>
                    </a:p>
                  </a:txBody>
                  <a:tcPr/>
                </a:tc>
                <a:extLst>
                  <a:ext uri="{0D108BD9-81ED-4DB2-BD59-A6C34878D82A}">
                    <a16:rowId xmlns:a16="http://schemas.microsoft.com/office/drawing/2014/main" val="2326309122"/>
                  </a:ext>
                </a:extLst>
              </a:tr>
              <a:tr h="1752007">
                <a:tc>
                  <a:txBody>
                    <a:bodyPr/>
                    <a:lstStyle/>
                    <a:p>
                      <a:r>
                        <a:rPr lang="en-US" sz="1600" dirty="0">
                          <a:latin typeface="Times New Roman" panose="02020603050405020304" pitchFamily="18" charset="0"/>
                          <a:cs typeface="Times New Roman" panose="02020603050405020304" pitchFamily="18" charset="0"/>
                        </a:rPr>
                        <a:t>8</a:t>
                      </a:r>
                    </a:p>
                  </a:txBody>
                  <a:tcPr/>
                </a:tc>
                <a:tc>
                  <a:txBody>
                    <a:bodyPr/>
                    <a:lstStyle/>
                    <a:p>
                      <a:r>
                        <a:rPr lang="en-US" sz="1600" b="0" kern="0" dirty="0">
                          <a:effectLst/>
                          <a:latin typeface="Times New Roman" panose="02020603050405020304" pitchFamily="18" charset="0"/>
                          <a:ea typeface="Calibri" panose="020F0502020204030204" pitchFamily="34" charset="0"/>
                          <a:cs typeface="Times New Roman" panose="02020603050405020304" pitchFamily="18" charset="0"/>
                        </a:rPr>
                        <a:t>Towards AI-controlled FES-restoration of arm movements: Controlling for progressive muscular fatigue with Gaussian state-space models</a:t>
                      </a:r>
                      <a:endParaRPr lang="en-US" sz="1100" b="0" dirty="0">
                        <a:latin typeface="Times New Roman" panose="02020603050405020304" pitchFamily="18" charset="0"/>
                        <a:cs typeface="Times New Roman" panose="02020603050405020304" pitchFamily="18" charset="0"/>
                      </a:endParaRPr>
                    </a:p>
                  </a:txBody>
                  <a:tcPr/>
                </a:tc>
                <a:tc>
                  <a:txBody>
                    <a:bodyPr/>
                    <a:lstStyle/>
                    <a:p>
                      <a:r>
                        <a:rPr lang="en-US" sz="1600" kern="1200" dirty="0">
                          <a:solidFill>
                            <a:schemeClr val="tx1"/>
                          </a:solidFill>
                          <a:effectLst/>
                          <a:latin typeface="Times New Roman" panose="02020603050405020304" pitchFamily="18" charset="0"/>
                          <a:ea typeface="+mn-ea"/>
                          <a:cs typeface="Times New Roman" panose="02020603050405020304" pitchFamily="18" charset="0"/>
                        </a:rPr>
                        <a:t>Nat </a:t>
                      </a: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Wannawas</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 and Aldo Faisal</a:t>
                      </a:r>
                      <a:endParaRPr lang="en-US" sz="1100" dirty="0">
                        <a:latin typeface="Times New Roman" panose="02020603050405020304" pitchFamily="18" charset="0"/>
                        <a:cs typeface="Times New Roman" panose="02020603050405020304" pitchFamily="18" charset="0"/>
                      </a:endParaRPr>
                    </a:p>
                  </a:txBody>
                  <a:tcPr/>
                </a:tc>
                <a:tc>
                  <a:txBody>
                    <a:bodyPr/>
                    <a:lstStyle/>
                    <a:p>
                      <a:r>
                        <a:rPr lang="en-US" sz="1600" kern="1200" dirty="0">
                          <a:solidFill>
                            <a:schemeClr val="tx1"/>
                          </a:solidFill>
                          <a:effectLst/>
                          <a:latin typeface="Times New Roman" panose="02020603050405020304" pitchFamily="18" charset="0"/>
                          <a:ea typeface="+mn-ea"/>
                          <a:cs typeface="Times New Roman" panose="02020603050405020304" pitchFamily="18" charset="0"/>
                        </a:rPr>
                        <a:t>11</a:t>
                      </a:r>
                      <a:r>
                        <a:rPr lang="en-US" sz="1600" kern="1200" baseline="30000" dirty="0">
                          <a:solidFill>
                            <a:schemeClr val="tx1"/>
                          </a:solidFill>
                          <a:effectLst/>
                          <a:latin typeface="Times New Roman" panose="02020603050405020304" pitchFamily="18" charset="0"/>
                          <a:ea typeface="+mn-ea"/>
                          <a:cs typeface="Times New Roman" panose="02020603050405020304" pitchFamily="18" charset="0"/>
                        </a:rPr>
                        <a:t>th</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 International IEEE Conference on Neural Engineering (NER), </a:t>
                      </a:r>
                      <a:r>
                        <a:rPr lang="en-US" sz="1400" kern="0" dirty="0">
                          <a:effectLst/>
                          <a:latin typeface="Times New Roman" panose="02020603050405020304" pitchFamily="18" charset="0"/>
                          <a:ea typeface="Calibri" panose="020F0502020204030204" pitchFamily="34" charset="0"/>
                          <a:cs typeface="Times New Roman" panose="02020603050405020304" pitchFamily="18" charset="0"/>
                        </a:rPr>
                        <a:t>1(1), pp. 1-4, 2023</a:t>
                      </a:r>
                      <a:endParaRPr lang="en-US" sz="14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Used Reinforcement Learning to observe muscle strength. The Reinforcement Learning – </a:t>
                      </a:r>
                      <a:r>
                        <a:rPr lang="en-US" sz="1600" dirty="0" err="1">
                          <a:latin typeface="Times New Roman" panose="02020603050405020304" pitchFamily="18" charset="0"/>
                          <a:cs typeface="Times New Roman" panose="02020603050405020304" pitchFamily="18" charset="0"/>
                        </a:rPr>
                        <a:t>Gaussain</a:t>
                      </a:r>
                      <a:r>
                        <a:rPr lang="en-US" sz="1600" dirty="0">
                          <a:latin typeface="Times New Roman" panose="02020603050405020304" pitchFamily="18" charset="0"/>
                          <a:cs typeface="Times New Roman" panose="02020603050405020304" pitchFamily="18" charset="0"/>
                        </a:rPr>
                        <a:t> State Space Model (RL-GSSM) was trained to control arm movements through muscle stimulator.</a:t>
                      </a:r>
                    </a:p>
                  </a:txBody>
                  <a:tcPr/>
                </a:tc>
                <a:extLst>
                  <a:ext uri="{0D108BD9-81ED-4DB2-BD59-A6C34878D82A}">
                    <a16:rowId xmlns:a16="http://schemas.microsoft.com/office/drawing/2014/main" val="430516258"/>
                  </a:ext>
                </a:extLst>
              </a:tr>
            </a:tbl>
          </a:graphicData>
        </a:graphic>
      </p:graphicFrame>
    </p:spTree>
    <p:extLst>
      <p:ext uri="{BB962C8B-B14F-4D97-AF65-F5344CB8AC3E}">
        <p14:creationId xmlns:p14="http://schemas.microsoft.com/office/powerpoint/2010/main" val="18522470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10EE4-8E47-E8A8-84F0-BF89EDB800F7}"/>
              </a:ext>
            </a:extLst>
          </p:cNvPr>
          <p:cNvSpPr>
            <a:spLocks noGrp="1"/>
          </p:cNvSpPr>
          <p:nvPr>
            <p:ph type="title"/>
          </p:nvPr>
        </p:nvSpPr>
        <p:spPr>
          <a:xfrm>
            <a:off x="157316" y="34984"/>
            <a:ext cx="10515600" cy="795081"/>
          </a:xfrm>
        </p:spPr>
        <p:txBody>
          <a:bodyPr>
            <a:normAutofit/>
          </a:bodyPr>
          <a:lstStyle/>
          <a:p>
            <a:r>
              <a:rPr lang="en-US" sz="4000" b="1" dirty="0">
                <a:latin typeface="Times New Roman" panose="02020603050405020304" pitchFamily="18" charset="0"/>
                <a:cs typeface="Times New Roman" panose="02020603050405020304" pitchFamily="18" charset="0"/>
              </a:rPr>
              <a:t>Review of Literature</a:t>
            </a:r>
          </a:p>
        </p:txBody>
      </p:sp>
      <p:graphicFrame>
        <p:nvGraphicFramePr>
          <p:cNvPr id="3" name="Table 2">
            <a:extLst>
              <a:ext uri="{FF2B5EF4-FFF2-40B4-BE49-F238E27FC236}">
                <a16:creationId xmlns:a16="http://schemas.microsoft.com/office/drawing/2014/main" id="{2E5E1A5A-A1A9-30A3-C886-4AE20CEE5F19}"/>
              </a:ext>
            </a:extLst>
          </p:cNvPr>
          <p:cNvGraphicFramePr>
            <a:graphicFrameLocks noGrp="1"/>
          </p:cNvGraphicFramePr>
          <p:nvPr>
            <p:extLst>
              <p:ext uri="{D42A27DB-BD31-4B8C-83A1-F6EECF244321}">
                <p14:modId xmlns:p14="http://schemas.microsoft.com/office/powerpoint/2010/main" val="1843563738"/>
              </p:ext>
            </p:extLst>
          </p:nvPr>
        </p:nvGraphicFramePr>
        <p:xfrm>
          <a:off x="235974" y="1016879"/>
          <a:ext cx="11720052" cy="5246270"/>
        </p:xfrm>
        <a:graphic>
          <a:graphicData uri="http://schemas.openxmlformats.org/drawingml/2006/table">
            <a:tbl>
              <a:tblPr firstRow="1" bandRow="1">
                <a:tableStyleId>{5940675A-B579-460E-94D1-54222C63F5DA}</a:tableStyleId>
              </a:tblPr>
              <a:tblGrid>
                <a:gridCol w="884895">
                  <a:extLst>
                    <a:ext uri="{9D8B030D-6E8A-4147-A177-3AD203B41FA5}">
                      <a16:colId xmlns:a16="http://schemas.microsoft.com/office/drawing/2014/main" val="953839930"/>
                    </a:ext>
                  </a:extLst>
                </a:gridCol>
                <a:gridCol w="2497402">
                  <a:extLst>
                    <a:ext uri="{9D8B030D-6E8A-4147-A177-3AD203B41FA5}">
                      <a16:colId xmlns:a16="http://schemas.microsoft.com/office/drawing/2014/main" val="925246630"/>
                    </a:ext>
                  </a:extLst>
                </a:gridCol>
                <a:gridCol w="1445342">
                  <a:extLst>
                    <a:ext uri="{9D8B030D-6E8A-4147-A177-3AD203B41FA5}">
                      <a16:colId xmlns:a16="http://schemas.microsoft.com/office/drawing/2014/main" val="1563842135"/>
                    </a:ext>
                  </a:extLst>
                </a:gridCol>
                <a:gridCol w="1927122">
                  <a:extLst>
                    <a:ext uri="{9D8B030D-6E8A-4147-A177-3AD203B41FA5}">
                      <a16:colId xmlns:a16="http://schemas.microsoft.com/office/drawing/2014/main" val="2663004866"/>
                    </a:ext>
                  </a:extLst>
                </a:gridCol>
                <a:gridCol w="4965291">
                  <a:extLst>
                    <a:ext uri="{9D8B030D-6E8A-4147-A177-3AD203B41FA5}">
                      <a16:colId xmlns:a16="http://schemas.microsoft.com/office/drawing/2014/main" val="3169655752"/>
                    </a:ext>
                  </a:extLst>
                </a:gridCol>
              </a:tblGrid>
              <a:tr h="492076">
                <a:tc>
                  <a:txBody>
                    <a:bodyPr/>
                    <a:lstStyle/>
                    <a:p>
                      <a:r>
                        <a:rPr lang="en-US" sz="1600" b="1" dirty="0"/>
                        <a:t>Sr. No.</a:t>
                      </a:r>
                      <a:endParaRPr lang="en-US" sz="1600" b="1"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t>Title</a:t>
                      </a:r>
                      <a:r>
                        <a:rPr lang="en-US" sz="1600" dirty="0"/>
                        <a:t> </a:t>
                      </a:r>
                      <a:endParaRPr lang="en-US" sz="1600"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t>Author</a:t>
                      </a:r>
                      <a:r>
                        <a:rPr lang="en-US" sz="1600" dirty="0"/>
                        <a:t> </a:t>
                      </a:r>
                      <a:endParaRPr lang="en-US" sz="1600"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t>Source</a:t>
                      </a:r>
                      <a:r>
                        <a:rPr lang="en-US" sz="1600" dirty="0"/>
                        <a:t> </a:t>
                      </a:r>
                      <a:endParaRPr lang="en-US" sz="1600"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t>Description</a:t>
                      </a:r>
                      <a:r>
                        <a:rPr lang="en-US" sz="1600" dirty="0"/>
                        <a:t> </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34366022"/>
                  </a:ext>
                </a:extLst>
              </a:tr>
              <a:tr h="1230866">
                <a:tc>
                  <a:txBody>
                    <a:bodyPr/>
                    <a:lstStyle/>
                    <a:p>
                      <a:r>
                        <a:rPr lang="en-US" sz="1600" dirty="0">
                          <a:latin typeface="Times New Roman" panose="02020603050405020304" pitchFamily="18" charset="0"/>
                          <a:cs typeface="Times New Roman" panose="02020603050405020304" pitchFamily="18" charset="0"/>
                        </a:rPr>
                        <a:t>9</a:t>
                      </a:r>
                    </a:p>
                  </a:txBody>
                  <a:tcPr/>
                </a:tc>
                <a:tc>
                  <a:txBody>
                    <a:bodyPr/>
                    <a:lstStyle/>
                    <a:p>
                      <a:r>
                        <a:rPr lang="en-US" sz="1600" b="0" kern="0" dirty="0">
                          <a:effectLst/>
                          <a:latin typeface="Times New Roman" panose="02020603050405020304" pitchFamily="18" charset="0"/>
                          <a:ea typeface="Calibri" panose="020F0502020204030204" pitchFamily="34" charset="0"/>
                          <a:cs typeface="Times New Roman" panose="02020603050405020304" pitchFamily="18" charset="0"/>
                        </a:rPr>
                        <a:t>Posture Guardian With Smart Muscle Strain Detection And Correction Using TINYML</a:t>
                      </a:r>
                      <a:endParaRPr lang="en-US" sz="1100" b="0" dirty="0">
                        <a:latin typeface="Times New Roman" panose="02020603050405020304" pitchFamily="18" charset="0"/>
                        <a:cs typeface="Times New Roman" panose="02020603050405020304" pitchFamily="18" charset="0"/>
                      </a:endParaRPr>
                    </a:p>
                  </a:txBody>
                  <a:tcPr/>
                </a:tc>
                <a:tc>
                  <a:txBody>
                    <a:bodyPr/>
                    <a:lstStyle/>
                    <a:p>
                      <a:r>
                        <a:rPr lang="en-US" sz="1600" kern="1200" dirty="0">
                          <a:solidFill>
                            <a:schemeClr val="tx1"/>
                          </a:solidFill>
                          <a:effectLst/>
                          <a:latin typeface="Times New Roman" panose="02020603050405020304" pitchFamily="18" charset="0"/>
                          <a:ea typeface="+mn-ea"/>
                          <a:cs typeface="Times New Roman" panose="02020603050405020304" pitchFamily="18" charset="0"/>
                        </a:rPr>
                        <a:t>Dr. G. Sophia Reena</a:t>
                      </a:r>
                      <a:endParaRPr lang="en-US" sz="1100" dirty="0">
                        <a:latin typeface="Times New Roman" panose="02020603050405020304" pitchFamily="18" charset="0"/>
                        <a:cs typeface="Times New Roman" panose="02020603050405020304" pitchFamily="18" charset="0"/>
                      </a:endParaRPr>
                    </a:p>
                  </a:txBody>
                  <a:tcPr/>
                </a:tc>
                <a:tc>
                  <a:txBody>
                    <a:bodyPr/>
                    <a:lstStyle/>
                    <a:p>
                      <a:r>
                        <a:rPr lang="en-US" sz="1600" kern="1200" dirty="0">
                          <a:solidFill>
                            <a:schemeClr val="tx1"/>
                          </a:solidFill>
                          <a:effectLst/>
                          <a:latin typeface="Times New Roman" panose="02020603050405020304" pitchFamily="18" charset="0"/>
                          <a:ea typeface="+mn-ea"/>
                          <a:cs typeface="Times New Roman" panose="02020603050405020304" pitchFamily="18" charset="0"/>
                        </a:rPr>
                        <a:t>Journal of Propulsion Technology, </a:t>
                      </a:r>
                      <a:r>
                        <a:rPr lang="en-US" sz="1600" kern="0" dirty="0">
                          <a:effectLst/>
                          <a:latin typeface="Times New Roman" panose="02020603050405020304" pitchFamily="18" charset="0"/>
                          <a:ea typeface="Calibri" panose="020F0502020204030204" pitchFamily="34" charset="0"/>
                          <a:cs typeface="Times New Roman" panose="02020603050405020304" pitchFamily="18" charset="0"/>
                        </a:rPr>
                        <a:t>44(4), pp. 5187-5194, 2023</a:t>
                      </a:r>
                      <a:endParaRPr lang="en-US" sz="1200" dirty="0">
                        <a:latin typeface="Times New Roman" panose="02020603050405020304" pitchFamily="18" charset="0"/>
                        <a:cs typeface="Times New Roman" panose="02020603050405020304" pitchFamily="18" charset="0"/>
                      </a:endParaRPr>
                    </a:p>
                  </a:txBody>
                  <a:tcPr/>
                </a:tc>
                <a:tc>
                  <a:txBody>
                    <a:bodyPr/>
                    <a:lstStyle/>
                    <a:p>
                      <a:r>
                        <a:rPr lang="en-US" sz="1600" dirty="0" err="1">
                          <a:latin typeface="Times New Roman" panose="02020603050405020304" pitchFamily="18" charset="0"/>
                          <a:cs typeface="Times New Roman" panose="02020603050405020304" pitchFamily="18" charset="0"/>
                        </a:rPr>
                        <a:t>TinyML</a:t>
                      </a:r>
                      <a:r>
                        <a:rPr lang="en-US" sz="1600" dirty="0">
                          <a:latin typeface="Times New Roman" panose="02020603050405020304" pitchFamily="18" charset="0"/>
                          <a:cs typeface="Times New Roman" panose="02020603050405020304" pitchFamily="18" charset="0"/>
                        </a:rPr>
                        <a:t> was used to detect and correct improper posture using wearable EMG and Flex sensors. The data fed to the Arduino UNO for signal processing.</a:t>
                      </a:r>
                    </a:p>
                  </a:txBody>
                  <a:tcPr/>
                </a:tc>
                <a:extLst>
                  <a:ext uri="{0D108BD9-81ED-4DB2-BD59-A6C34878D82A}">
                    <a16:rowId xmlns:a16="http://schemas.microsoft.com/office/drawing/2014/main" val="2326309122"/>
                  </a:ext>
                </a:extLst>
              </a:tr>
              <a:tr h="1494415">
                <a:tc>
                  <a:txBody>
                    <a:bodyPr/>
                    <a:lstStyle/>
                    <a:p>
                      <a:r>
                        <a:rPr lang="en-US" sz="1600" dirty="0">
                          <a:latin typeface="Times New Roman" panose="02020603050405020304" pitchFamily="18" charset="0"/>
                          <a:cs typeface="Times New Roman" panose="02020603050405020304" pitchFamily="18" charset="0"/>
                        </a:rPr>
                        <a:t>10</a:t>
                      </a:r>
                    </a:p>
                  </a:txBody>
                  <a:tcPr/>
                </a:tc>
                <a:tc>
                  <a:txBody>
                    <a:bodyPr/>
                    <a:lstStyle/>
                    <a:p>
                      <a:r>
                        <a:rPr lang="en-US" sz="1600" b="0" kern="0" dirty="0">
                          <a:effectLst/>
                          <a:latin typeface="Times New Roman" panose="02020603050405020304" pitchFamily="18" charset="0"/>
                          <a:ea typeface="Calibri" panose="020F0502020204030204" pitchFamily="34" charset="0"/>
                          <a:cs typeface="Times New Roman" panose="02020603050405020304" pitchFamily="18" charset="0"/>
                        </a:rPr>
                        <a:t>Development of Wireless Microcontroller Based Functional Electronic Stimulation Device for Drop Foot Correction</a:t>
                      </a:r>
                      <a:endParaRPr lang="en-US" sz="1050" b="0" dirty="0">
                        <a:latin typeface="Times New Roman" panose="02020603050405020304" pitchFamily="18" charset="0"/>
                        <a:cs typeface="Times New Roman" panose="02020603050405020304" pitchFamily="18" charset="0"/>
                      </a:endParaRPr>
                    </a:p>
                  </a:txBody>
                  <a:tcPr/>
                </a:tc>
                <a:tc>
                  <a:txBody>
                    <a:bodyPr/>
                    <a:lstStyle/>
                    <a:p>
                      <a:r>
                        <a:rPr lang="en-US" sz="1600" kern="1200" dirty="0">
                          <a:solidFill>
                            <a:schemeClr val="tx1"/>
                          </a:solidFill>
                          <a:effectLst/>
                          <a:latin typeface="Times New Roman" panose="02020603050405020304" pitchFamily="18" charset="0"/>
                          <a:ea typeface="+mn-ea"/>
                          <a:cs typeface="Times New Roman" panose="02020603050405020304" pitchFamily="18" charset="0"/>
                        </a:rPr>
                        <a:t>DERVİŞ PAŞA</a:t>
                      </a:r>
                      <a:endParaRPr lang="en-US" sz="1050" dirty="0">
                        <a:latin typeface="Times New Roman" panose="02020603050405020304" pitchFamily="18" charset="0"/>
                        <a:cs typeface="Times New Roman" panose="02020603050405020304" pitchFamily="18" charset="0"/>
                      </a:endParaRPr>
                    </a:p>
                  </a:txBody>
                  <a:tcPr/>
                </a:tc>
                <a:tc>
                  <a:txBody>
                    <a:bodyPr/>
                    <a:lstStyle/>
                    <a:p>
                      <a:r>
                        <a:rPr lang="en-US" sz="1600" kern="0" dirty="0">
                          <a:effectLst/>
                          <a:latin typeface="Times New Roman" panose="02020603050405020304" pitchFamily="18" charset="0"/>
                          <a:ea typeface="Calibri" panose="020F0502020204030204" pitchFamily="34" charset="0"/>
                          <a:cs typeface="Times New Roman" panose="02020603050405020304" pitchFamily="18" charset="0"/>
                        </a:rPr>
                        <a:t>Near East University, Nicosia, pp. 1-87, 2014</a:t>
                      </a:r>
                      <a:endParaRPr lang="en-US" sz="11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A stimulator was developed for a person with drop foot problem using Force Sensitive Resistor (FSR), programmable microcontroller, transmitter, receiver, and electrodes.</a:t>
                      </a:r>
                    </a:p>
                  </a:txBody>
                  <a:tcPr/>
                </a:tc>
                <a:extLst>
                  <a:ext uri="{0D108BD9-81ED-4DB2-BD59-A6C34878D82A}">
                    <a16:rowId xmlns:a16="http://schemas.microsoft.com/office/drawing/2014/main" val="430516258"/>
                  </a:ext>
                </a:extLst>
              </a:tr>
              <a:tr h="2028913">
                <a:tc>
                  <a:txBody>
                    <a:bodyPr/>
                    <a:lstStyle/>
                    <a:p>
                      <a:r>
                        <a:rPr lang="en-US" sz="1600" dirty="0">
                          <a:latin typeface="Times New Roman" panose="02020603050405020304" pitchFamily="18" charset="0"/>
                          <a:cs typeface="Times New Roman" panose="02020603050405020304" pitchFamily="18" charset="0"/>
                        </a:rPr>
                        <a:t>11</a:t>
                      </a:r>
                    </a:p>
                  </a:txBody>
                  <a:tcPr/>
                </a:tc>
                <a:tc>
                  <a:txBody>
                    <a:bodyPr/>
                    <a:lstStyle/>
                    <a:p>
                      <a:r>
                        <a:rPr lang="en-US" sz="1600" b="0" kern="1200" dirty="0">
                          <a:solidFill>
                            <a:schemeClr val="tx1"/>
                          </a:solidFill>
                          <a:effectLst/>
                          <a:latin typeface="Times New Roman" panose="02020603050405020304" pitchFamily="18" charset="0"/>
                          <a:ea typeface="+mn-ea"/>
                          <a:cs typeface="Times New Roman" panose="02020603050405020304" pitchFamily="18" charset="0"/>
                        </a:rPr>
                        <a:t>Soft Exoskeleton Glove for Hand Assistance Based on Human-Machine Interaction and Machine Learning</a:t>
                      </a:r>
                      <a:endParaRPr lang="en-US" sz="1600" b="0" dirty="0">
                        <a:latin typeface="Times New Roman" panose="02020603050405020304" pitchFamily="18" charset="0"/>
                        <a:cs typeface="Times New Roman" panose="02020603050405020304" pitchFamily="18" charset="0"/>
                      </a:endParaRPr>
                    </a:p>
                  </a:txBody>
                  <a:tcPr/>
                </a:tc>
                <a:tc>
                  <a:txBody>
                    <a:bodyPr/>
                    <a:lstStyle/>
                    <a:p>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Xiaoshi</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 Chen, Li Gong, </a:t>
                      </a: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Lirong</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 Zheng, and </a:t>
                      </a: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Zhuo</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 Zou</a:t>
                      </a:r>
                      <a:endParaRPr lang="en-US" sz="105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i="0" u="none" strike="noStrike" kern="1200" dirty="0">
                          <a:solidFill>
                            <a:schemeClr val="tx1"/>
                          </a:solidFill>
                          <a:effectLst/>
                          <a:latin typeface="Times New Roman" panose="02020603050405020304" pitchFamily="18" charset="0"/>
                          <a:ea typeface="+mn-ea"/>
                          <a:cs typeface="Times New Roman" panose="02020603050405020304" pitchFamily="18" charset="0"/>
                        </a:rPr>
                        <a:t>IEEE International Conference on Human-Machine Systems (ICHMS)</a:t>
                      </a:r>
                      <a:r>
                        <a:rPr lang="en-US" sz="1600" u="none" kern="1200" dirty="0">
                          <a:solidFill>
                            <a:schemeClr val="tx1"/>
                          </a:solidFill>
                          <a:effectLst/>
                          <a:latin typeface="Times New Roman" panose="02020603050405020304" pitchFamily="18" charset="0"/>
                          <a:ea typeface="+mn-ea"/>
                          <a:cs typeface="Times New Roman" panose="02020603050405020304" pitchFamily="18" charset="0"/>
                        </a:rPr>
                        <a:t>, Rome, Italy, 1(1), 2020</a:t>
                      </a:r>
                    </a:p>
                    <a:p>
                      <a:endParaRPr lang="en-US" sz="11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Developed a human-machine interaction system based on the concept of mirror therapy. Surface EMG were used to collect muscle signals by training a ML model. Flex and pressure sensors were used to process the EMG signals. SVM, k-NN, and subspace k-NN were used for pattern recognition.</a:t>
                      </a:r>
                    </a:p>
                  </a:txBody>
                  <a:tcPr/>
                </a:tc>
                <a:extLst>
                  <a:ext uri="{0D108BD9-81ED-4DB2-BD59-A6C34878D82A}">
                    <a16:rowId xmlns:a16="http://schemas.microsoft.com/office/drawing/2014/main" val="32285398"/>
                  </a:ext>
                </a:extLst>
              </a:tr>
            </a:tbl>
          </a:graphicData>
        </a:graphic>
      </p:graphicFrame>
    </p:spTree>
    <p:extLst>
      <p:ext uri="{BB962C8B-B14F-4D97-AF65-F5344CB8AC3E}">
        <p14:creationId xmlns:p14="http://schemas.microsoft.com/office/powerpoint/2010/main" val="23200124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D7A36-5ABC-52F2-3685-EB7C89EBB8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646215-013D-68AB-9A85-395C4A62AEF8}"/>
              </a:ext>
            </a:extLst>
          </p:cNvPr>
          <p:cNvSpPr>
            <a:spLocks noGrp="1"/>
          </p:cNvSpPr>
          <p:nvPr>
            <p:ph type="title"/>
          </p:nvPr>
        </p:nvSpPr>
        <p:spPr>
          <a:xfrm>
            <a:off x="516192" y="261167"/>
            <a:ext cx="10515600" cy="795081"/>
          </a:xfrm>
        </p:spPr>
        <p:txBody>
          <a:bodyPr>
            <a:normAutofit/>
          </a:bodyPr>
          <a:lstStyle/>
          <a:p>
            <a:r>
              <a:rPr lang="en-US" sz="4000" b="1" dirty="0">
                <a:latin typeface="Times New Roman" panose="02020603050405020304" pitchFamily="18" charset="0"/>
                <a:cs typeface="Times New Roman" panose="02020603050405020304" pitchFamily="18" charset="0"/>
              </a:rPr>
              <a:t>Review of Literature</a:t>
            </a:r>
          </a:p>
        </p:txBody>
      </p:sp>
      <p:graphicFrame>
        <p:nvGraphicFramePr>
          <p:cNvPr id="3" name="Table 2">
            <a:extLst>
              <a:ext uri="{FF2B5EF4-FFF2-40B4-BE49-F238E27FC236}">
                <a16:creationId xmlns:a16="http://schemas.microsoft.com/office/drawing/2014/main" id="{926C6674-CDBB-2A9B-BB04-4E90B128DBAC}"/>
              </a:ext>
            </a:extLst>
          </p:cNvPr>
          <p:cNvGraphicFramePr>
            <a:graphicFrameLocks noGrp="1"/>
          </p:cNvGraphicFramePr>
          <p:nvPr>
            <p:extLst>
              <p:ext uri="{D42A27DB-BD31-4B8C-83A1-F6EECF244321}">
                <p14:modId xmlns:p14="http://schemas.microsoft.com/office/powerpoint/2010/main" val="4268358650"/>
              </p:ext>
            </p:extLst>
          </p:nvPr>
        </p:nvGraphicFramePr>
        <p:xfrm>
          <a:off x="594851" y="1364961"/>
          <a:ext cx="11002298" cy="4529402"/>
        </p:xfrm>
        <a:graphic>
          <a:graphicData uri="http://schemas.openxmlformats.org/drawingml/2006/table">
            <a:tbl>
              <a:tblPr firstRow="1" bandRow="1">
                <a:tableStyleId>{5940675A-B579-460E-94D1-54222C63F5DA}</a:tableStyleId>
              </a:tblPr>
              <a:tblGrid>
                <a:gridCol w="830703">
                  <a:extLst>
                    <a:ext uri="{9D8B030D-6E8A-4147-A177-3AD203B41FA5}">
                      <a16:colId xmlns:a16="http://schemas.microsoft.com/office/drawing/2014/main" val="953839930"/>
                    </a:ext>
                  </a:extLst>
                </a:gridCol>
                <a:gridCol w="2471197">
                  <a:extLst>
                    <a:ext uri="{9D8B030D-6E8A-4147-A177-3AD203B41FA5}">
                      <a16:colId xmlns:a16="http://schemas.microsoft.com/office/drawing/2014/main" val="925246630"/>
                    </a:ext>
                  </a:extLst>
                </a:gridCol>
                <a:gridCol w="2124221">
                  <a:extLst>
                    <a:ext uri="{9D8B030D-6E8A-4147-A177-3AD203B41FA5}">
                      <a16:colId xmlns:a16="http://schemas.microsoft.com/office/drawing/2014/main" val="1563842135"/>
                    </a:ext>
                  </a:extLst>
                </a:gridCol>
                <a:gridCol w="2236763">
                  <a:extLst>
                    <a:ext uri="{9D8B030D-6E8A-4147-A177-3AD203B41FA5}">
                      <a16:colId xmlns:a16="http://schemas.microsoft.com/office/drawing/2014/main" val="2663004866"/>
                    </a:ext>
                  </a:extLst>
                </a:gridCol>
                <a:gridCol w="3339414">
                  <a:extLst>
                    <a:ext uri="{9D8B030D-6E8A-4147-A177-3AD203B41FA5}">
                      <a16:colId xmlns:a16="http://schemas.microsoft.com/office/drawing/2014/main" val="3169655752"/>
                    </a:ext>
                  </a:extLst>
                </a:gridCol>
              </a:tblGrid>
              <a:tr h="583102">
                <a:tc>
                  <a:txBody>
                    <a:bodyPr/>
                    <a:lstStyle/>
                    <a:p>
                      <a:r>
                        <a:rPr lang="en-US" sz="1600" b="1" dirty="0"/>
                        <a:t>Sr. No.</a:t>
                      </a:r>
                      <a:endParaRPr lang="en-US" sz="1600" b="1"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t>Title</a:t>
                      </a:r>
                      <a:r>
                        <a:rPr lang="en-US" sz="1600" dirty="0"/>
                        <a:t> </a:t>
                      </a:r>
                      <a:endParaRPr lang="en-US" sz="1600"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t>Author</a:t>
                      </a:r>
                      <a:r>
                        <a:rPr lang="en-US" sz="1600" dirty="0"/>
                        <a:t> </a:t>
                      </a:r>
                      <a:endParaRPr lang="en-US" sz="1600"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t>Source</a:t>
                      </a:r>
                      <a:r>
                        <a:rPr lang="en-US" sz="1600" dirty="0"/>
                        <a:t> </a:t>
                      </a:r>
                      <a:endParaRPr lang="en-US" sz="1600"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t>Description</a:t>
                      </a:r>
                      <a:r>
                        <a:rPr lang="en-US" sz="1600" dirty="0"/>
                        <a:t> </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34366022"/>
                  </a:ext>
                </a:extLst>
              </a:tr>
              <a:tr h="1705604">
                <a:tc>
                  <a:txBody>
                    <a:bodyPr/>
                    <a:lstStyle/>
                    <a:p>
                      <a:r>
                        <a:rPr lang="en-US" sz="1600" dirty="0">
                          <a:latin typeface="Times New Roman" panose="02020603050405020304" pitchFamily="18" charset="0"/>
                          <a:cs typeface="Times New Roman" panose="02020603050405020304" pitchFamily="18" charset="0"/>
                        </a:rPr>
                        <a:t>12</a:t>
                      </a:r>
                    </a:p>
                  </a:txBody>
                  <a:tcPr/>
                </a:tc>
                <a:tc>
                  <a:txBody>
                    <a:bodyPr/>
                    <a:lstStyle/>
                    <a:p>
                      <a:r>
                        <a:rPr lang="en-US" sz="1600" b="0" kern="1200" dirty="0">
                          <a:solidFill>
                            <a:schemeClr val="tx1"/>
                          </a:solidFill>
                          <a:effectLst/>
                          <a:latin typeface="Times New Roman" panose="02020603050405020304" pitchFamily="18" charset="0"/>
                          <a:ea typeface="+mn-ea"/>
                          <a:cs typeface="Times New Roman" panose="02020603050405020304" pitchFamily="18" charset="0"/>
                        </a:rPr>
                        <a:t>A Wearable Hand Rehabilitation System with Soft Glove</a:t>
                      </a:r>
                      <a:endParaRPr lang="en-US" sz="1050" b="0" dirty="0">
                        <a:latin typeface="Times New Roman" panose="02020603050405020304" pitchFamily="18" charset="0"/>
                        <a:cs typeface="Times New Roman" panose="02020603050405020304" pitchFamily="18" charset="0"/>
                      </a:endParaRPr>
                    </a:p>
                  </a:txBody>
                  <a:tcPr/>
                </a:tc>
                <a:tc>
                  <a:txBody>
                    <a:bodyPr/>
                    <a:lstStyle/>
                    <a:p>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Xiaoshi</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 Chen, Li Gong, Liang Wei, Shih-Ching Yeh, and Li Da Xu</a:t>
                      </a:r>
                      <a:endParaRPr lang="en-US" sz="105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tx1"/>
                          </a:solidFill>
                          <a:effectLst/>
                          <a:latin typeface="Times New Roman" panose="02020603050405020304" pitchFamily="18" charset="0"/>
                          <a:ea typeface="+mn-ea"/>
                          <a:cs typeface="Times New Roman" panose="02020603050405020304" pitchFamily="18" charset="0"/>
                        </a:rPr>
                        <a:t>IEEE Transactions on Industrial Information, 17(2), pp. 943-952, 2020</a:t>
                      </a:r>
                    </a:p>
                  </a:txBody>
                  <a:tcPr/>
                </a:tc>
                <a:tc>
                  <a:txBody>
                    <a:bodyPr/>
                    <a:lstStyle/>
                    <a:p>
                      <a:r>
                        <a:rPr lang="en-US" sz="1600" dirty="0">
                          <a:latin typeface="Times New Roman" panose="02020603050405020304" pitchFamily="18" charset="0"/>
                          <a:cs typeface="Times New Roman" panose="02020603050405020304" pitchFamily="18" charset="0"/>
                        </a:rPr>
                        <a:t>A tendon-driven motor glove was designed using DC motor controlled by </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STM32F103 microcontroller. Wi-Fi sensors were implemented on both sides to send and receive EMG signals.</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26309122"/>
                  </a:ext>
                </a:extLst>
              </a:tr>
              <a:tr h="2240696">
                <a:tc>
                  <a:txBody>
                    <a:bodyPr/>
                    <a:lstStyle/>
                    <a:p>
                      <a:r>
                        <a:rPr lang="en-US" sz="1600" dirty="0">
                          <a:latin typeface="Times New Roman" panose="02020603050405020304" pitchFamily="18" charset="0"/>
                          <a:cs typeface="Times New Roman" panose="02020603050405020304" pitchFamily="18" charset="0"/>
                        </a:rPr>
                        <a:t>13</a:t>
                      </a:r>
                    </a:p>
                  </a:txBody>
                  <a:tcPr/>
                </a:tc>
                <a:tc>
                  <a:txBody>
                    <a:bodyPr/>
                    <a:lstStyle/>
                    <a:p>
                      <a:r>
                        <a:rPr lang="en-US" sz="1600" b="0" kern="1200" dirty="0" err="1">
                          <a:solidFill>
                            <a:schemeClr val="tx1"/>
                          </a:solidFill>
                          <a:effectLst/>
                          <a:latin typeface="Times New Roman" panose="02020603050405020304" pitchFamily="18" charset="0"/>
                          <a:ea typeface="+mn-ea"/>
                          <a:cs typeface="Times New Roman" panose="02020603050405020304" pitchFamily="18" charset="0"/>
                        </a:rPr>
                        <a:t>Flexo</a:t>
                      </a:r>
                      <a:r>
                        <a:rPr lang="en-US" sz="1600" b="0" kern="1200" dirty="0">
                          <a:solidFill>
                            <a:schemeClr val="tx1"/>
                          </a:solidFill>
                          <a:effectLst/>
                          <a:latin typeface="Times New Roman" panose="02020603050405020304" pitchFamily="18" charset="0"/>
                          <a:ea typeface="+mn-ea"/>
                          <a:cs typeface="Times New Roman" panose="02020603050405020304" pitchFamily="18" charset="0"/>
                        </a:rPr>
                        <a:t>-glove: A 3D Printed Soft Exoskeleton Robotic Glove for Impaired Hand Rehabilitation and Assistance</a:t>
                      </a:r>
                      <a:endParaRPr lang="en-US" sz="1000" b="0" dirty="0">
                        <a:latin typeface="Times New Roman" panose="02020603050405020304" pitchFamily="18" charset="0"/>
                        <a:cs typeface="Times New Roman" panose="02020603050405020304" pitchFamily="18" charset="0"/>
                      </a:endParaRPr>
                    </a:p>
                  </a:txBody>
                  <a:tcPr/>
                </a:tc>
                <a:tc>
                  <a:txBody>
                    <a:bodyPr/>
                    <a:lstStyle/>
                    <a:p>
                      <a:r>
                        <a:rPr lang="en-US" sz="1600" b="0" kern="1200" dirty="0">
                          <a:solidFill>
                            <a:schemeClr val="tx1"/>
                          </a:solidFill>
                          <a:effectLst/>
                          <a:latin typeface="Times New Roman" panose="02020603050405020304" pitchFamily="18" charset="0"/>
                          <a:ea typeface="+mn-ea"/>
                          <a:cs typeface="Times New Roman" panose="02020603050405020304" pitchFamily="18" charset="0"/>
                        </a:rPr>
                        <a:t>Alireza Mohammadi, Jim </a:t>
                      </a:r>
                      <a:r>
                        <a:rPr lang="en-US" sz="1600" b="0" kern="1200" dirty="0" err="1">
                          <a:solidFill>
                            <a:schemeClr val="tx1"/>
                          </a:solidFill>
                          <a:effectLst/>
                          <a:latin typeface="Times New Roman" panose="02020603050405020304" pitchFamily="18" charset="0"/>
                          <a:ea typeface="+mn-ea"/>
                          <a:cs typeface="Times New Roman" panose="02020603050405020304" pitchFamily="18" charset="0"/>
                        </a:rPr>
                        <a:t>Lavranos</a:t>
                      </a:r>
                      <a:r>
                        <a:rPr lang="en-US" sz="1600" b="0" kern="1200" dirty="0">
                          <a:solidFill>
                            <a:schemeClr val="tx1"/>
                          </a:solidFill>
                          <a:effectLst/>
                          <a:latin typeface="Times New Roman" panose="02020603050405020304" pitchFamily="18" charset="0"/>
                          <a:ea typeface="+mn-ea"/>
                          <a:cs typeface="Times New Roman" panose="02020603050405020304" pitchFamily="18" charset="0"/>
                        </a:rPr>
                        <a:t>, Peter Choong, and Denny </a:t>
                      </a:r>
                      <a:r>
                        <a:rPr lang="en-US" sz="1600" b="0" kern="1200" dirty="0" err="1">
                          <a:solidFill>
                            <a:schemeClr val="tx1"/>
                          </a:solidFill>
                          <a:effectLst/>
                          <a:latin typeface="Times New Roman" panose="02020603050405020304" pitchFamily="18" charset="0"/>
                          <a:ea typeface="+mn-ea"/>
                          <a:cs typeface="Times New Roman" panose="02020603050405020304" pitchFamily="18" charset="0"/>
                        </a:rPr>
                        <a:t>Oetomo</a:t>
                      </a:r>
                      <a:endParaRPr lang="en-US" sz="1000" b="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kern="1200" dirty="0">
                          <a:solidFill>
                            <a:schemeClr val="tx1"/>
                          </a:solidFill>
                          <a:effectLst/>
                          <a:latin typeface="Times New Roman" panose="02020603050405020304" pitchFamily="18" charset="0"/>
                          <a:ea typeface="+mn-ea"/>
                          <a:cs typeface="Times New Roman" panose="02020603050405020304" pitchFamily="18" charset="0"/>
                        </a:rPr>
                        <a:t>40</a:t>
                      </a:r>
                      <a:r>
                        <a:rPr lang="en-US" sz="1600" b="0" kern="1200" baseline="30000" dirty="0">
                          <a:solidFill>
                            <a:schemeClr val="tx1"/>
                          </a:solidFill>
                          <a:effectLst/>
                          <a:latin typeface="Times New Roman" panose="02020603050405020304" pitchFamily="18" charset="0"/>
                          <a:ea typeface="+mn-ea"/>
                          <a:cs typeface="Times New Roman" panose="02020603050405020304" pitchFamily="18" charset="0"/>
                        </a:rPr>
                        <a:t>th </a:t>
                      </a:r>
                      <a:r>
                        <a:rPr lang="en-US" sz="1600" b="0" kern="1200" dirty="0">
                          <a:solidFill>
                            <a:schemeClr val="tx1"/>
                          </a:solidFill>
                          <a:effectLst/>
                          <a:latin typeface="Times New Roman" panose="02020603050405020304" pitchFamily="18" charset="0"/>
                          <a:ea typeface="+mn-ea"/>
                          <a:cs typeface="Times New Roman" panose="02020603050405020304" pitchFamily="18" charset="0"/>
                        </a:rPr>
                        <a:t>Annual International Conference of the IEEE Engineering in Medicine and Biology Society (EMBC), Honolulu, USA, pp. 2120-2123, 2018</a:t>
                      </a:r>
                    </a:p>
                    <a:p>
                      <a:endParaRPr lang="en-US" sz="1050" b="0" dirty="0">
                        <a:latin typeface="Times New Roman" panose="02020603050405020304" pitchFamily="18" charset="0"/>
                        <a:cs typeface="Times New Roman" panose="02020603050405020304" pitchFamily="18" charset="0"/>
                      </a:endParaRPr>
                    </a:p>
                  </a:txBody>
                  <a:tcPr/>
                </a:tc>
                <a:tc>
                  <a:txBody>
                    <a:bodyPr/>
                    <a:lstStyle/>
                    <a:p>
                      <a:r>
                        <a:rPr lang="en-US" sz="1600" kern="1200" dirty="0">
                          <a:solidFill>
                            <a:schemeClr val="tx1"/>
                          </a:solidFill>
                          <a:effectLst/>
                          <a:latin typeface="Times New Roman" panose="02020603050405020304" pitchFamily="18" charset="0"/>
                          <a:ea typeface="+mn-ea"/>
                          <a:cs typeface="Times New Roman" panose="02020603050405020304" pitchFamily="18" charset="0"/>
                        </a:rPr>
                        <a:t>Designed the portable tendon-driven soft exoskeleton glove for hand rehabilitation and assistance using thermoplastic polyurethane. DC motor were implemented on each finger controlled by ATmega2500 microcontroller.</a:t>
                      </a:r>
                      <a:endParaRPr 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30516258"/>
                  </a:ext>
                </a:extLst>
              </a:tr>
            </a:tbl>
          </a:graphicData>
        </a:graphic>
      </p:graphicFrame>
    </p:spTree>
    <p:extLst>
      <p:ext uri="{BB962C8B-B14F-4D97-AF65-F5344CB8AC3E}">
        <p14:creationId xmlns:p14="http://schemas.microsoft.com/office/powerpoint/2010/main" val="24788716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8404E-B9A6-0F8E-F57B-8797B42DF2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C5F490-4EA1-0AA6-28F9-7427A0DD2A23}"/>
              </a:ext>
            </a:extLst>
          </p:cNvPr>
          <p:cNvSpPr>
            <a:spLocks noGrp="1"/>
          </p:cNvSpPr>
          <p:nvPr>
            <p:ph type="title"/>
          </p:nvPr>
        </p:nvSpPr>
        <p:spPr>
          <a:xfrm>
            <a:off x="235974" y="172677"/>
            <a:ext cx="10515600" cy="795081"/>
          </a:xfrm>
        </p:spPr>
        <p:txBody>
          <a:bodyPr>
            <a:normAutofit/>
          </a:bodyPr>
          <a:lstStyle/>
          <a:p>
            <a:r>
              <a:rPr lang="en-US" sz="4000" b="1" dirty="0">
                <a:latin typeface="Times New Roman" panose="02020603050405020304" pitchFamily="18" charset="0"/>
                <a:cs typeface="Times New Roman" panose="02020603050405020304" pitchFamily="18" charset="0"/>
              </a:rPr>
              <a:t>Review of Literature</a:t>
            </a:r>
          </a:p>
        </p:txBody>
      </p:sp>
      <p:graphicFrame>
        <p:nvGraphicFramePr>
          <p:cNvPr id="3" name="Table 2">
            <a:extLst>
              <a:ext uri="{FF2B5EF4-FFF2-40B4-BE49-F238E27FC236}">
                <a16:creationId xmlns:a16="http://schemas.microsoft.com/office/drawing/2014/main" id="{BAC90169-D5E2-B3DF-9D38-DB2F00C1774A}"/>
              </a:ext>
            </a:extLst>
          </p:cNvPr>
          <p:cNvGraphicFramePr>
            <a:graphicFrameLocks noGrp="1"/>
          </p:cNvGraphicFramePr>
          <p:nvPr>
            <p:extLst>
              <p:ext uri="{D42A27DB-BD31-4B8C-83A1-F6EECF244321}">
                <p14:modId xmlns:p14="http://schemas.microsoft.com/office/powerpoint/2010/main" val="4217381669"/>
              </p:ext>
            </p:extLst>
          </p:nvPr>
        </p:nvGraphicFramePr>
        <p:xfrm>
          <a:off x="383458" y="1272558"/>
          <a:ext cx="11474245" cy="4095699"/>
        </p:xfrm>
        <a:graphic>
          <a:graphicData uri="http://schemas.openxmlformats.org/drawingml/2006/table">
            <a:tbl>
              <a:tblPr firstRow="1" bandRow="1">
                <a:tableStyleId>{5940675A-B579-460E-94D1-54222C63F5DA}</a:tableStyleId>
              </a:tblPr>
              <a:tblGrid>
                <a:gridCol w="866336">
                  <a:extLst>
                    <a:ext uri="{9D8B030D-6E8A-4147-A177-3AD203B41FA5}">
                      <a16:colId xmlns:a16="http://schemas.microsoft.com/office/drawing/2014/main" val="953839930"/>
                    </a:ext>
                  </a:extLst>
                </a:gridCol>
                <a:gridCol w="2348812">
                  <a:extLst>
                    <a:ext uri="{9D8B030D-6E8A-4147-A177-3AD203B41FA5}">
                      <a16:colId xmlns:a16="http://schemas.microsoft.com/office/drawing/2014/main" val="925246630"/>
                    </a:ext>
                  </a:extLst>
                </a:gridCol>
                <a:gridCol w="2647449">
                  <a:extLst>
                    <a:ext uri="{9D8B030D-6E8A-4147-A177-3AD203B41FA5}">
                      <a16:colId xmlns:a16="http://schemas.microsoft.com/office/drawing/2014/main" val="1563842135"/>
                    </a:ext>
                  </a:extLst>
                </a:gridCol>
                <a:gridCol w="1845893">
                  <a:extLst>
                    <a:ext uri="{9D8B030D-6E8A-4147-A177-3AD203B41FA5}">
                      <a16:colId xmlns:a16="http://schemas.microsoft.com/office/drawing/2014/main" val="2663004866"/>
                    </a:ext>
                  </a:extLst>
                </a:gridCol>
                <a:gridCol w="3765755">
                  <a:extLst>
                    <a:ext uri="{9D8B030D-6E8A-4147-A177-3AD203B41FA5}">
                      <a16:colId xmlns:a16="http://schemas.microsoft.com/office/drawing/2014/main" val="3169655752"/>
                    </a:ext>
                  </a:extLst>
                </a:gridCol>
              </a:tblGrid>
              <a:tr h="531437">
                <a:tc>
                  <a:txBody>
                    <a:bodyPr/>
                    <a:lstStyle/>
                    <a:p>
                      <a:r>
                        <a:rPr lang="en-US" sz="1600" b="1" dirty="0"/>
                        <a:t>Sr. No.</a:t>
                      </a:r>
                      <a:endParaRPr lang="en-US" sz="1600" b="1"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t>Title</a:t>
                      </a:r>
                      <a:r>
                        <a:rPr lang="en-US" sz="1600" dirty="0"/>
                        <a:t> </a:t>
                      </a:r>
                      <a:endParaRPr lang="en-US" sz="1600"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t>Author</a:t>
                      </a:r>
                      <a:r>
                        <a:rPr lang="en-US" sz="1600" dirty="0"/>
                        <a:t> </a:t>
                      </a:r>
                      <a:endParaRPr lang="en-US" sz="1600"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t>Source</a:t>
                      </a:r>
                      <a:r>
                        <a:rPr lang="en-US" sz="1600" dirty="0"/>
                        <a:t> </a:t>
                      </a:r>
                      <a:endParaRPr lang="en-US" sz="1600"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t>Description</a:t>
                      </a:r>
                      <a:r>
                        <a:rPr lang="en-US" sz="1600" dirty="0"/>
                        <a:t> </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34366022"/>
                  </a:ext>
                </a:extLst>
              </a:tr>
              <a:tr h="1329322">
                <a:tc>
                  <a:txBody>
                    <a:bodyPr/>
                    <a:lstStyle/>
                    <a:p>
                      <a:r>
                        <a:rPr lang="en-US" sz="1600" dirty="0">
                          <a:latin typeface="Times New Roman" panose="02020603050405020304" pitchFamily="18" charset="0"/>
                          <a:cs typeface="Times New Roman" panose="02020603050405020304" pitchFamily="18" charset="0"/>
                        </a:rPr>
                        <a:t>14</a:t>
                      </a:r>
                    </a:p>
                  </a:txBody>
                  <a:tcPr/>
                </a:tc>
                <a:tc>
                  <a:txBody>
                    <a:bodyPr/>
                    <a:lstStyle/>
                    <a:p>
                      <a:r>
                        <a:rPr lang="en-US" sz="1600" b="0" kern="1200" dirty="0">
                          <a:solidFill>
                            <a:schemeClr val="tx1"/>
                          </a:solidFill>
                          <a:effectLst/>
                          <a:latin typeface="Times New Roman" panose="02020603050405020304" pitchFamily="18" charset="0"/>
                          <a:ea typeface="+mn-ea"/>
                          <a:cs typeface="Times New Roman" panose="02020603050405020304" pitchFamily="18" charset="0"/>
                        </a:rPr>
                        <a:t>Wearable Hand-Rehabilitation System with Soft Gloves for Patient with Face Paralysis and Disability</a:t>
                      </a:r>
                      <a:endParaRPr lang="en-US" sz="1400" b="0" dirty="0">
                        <a:latin typeface="Times New Roman" panose="02020603050405020304" pitchFamily="18" charset="0"/>
                        <a:cs typeface="Times New Roman" panose="02020603050405020304" pitchFamily="18" charset="0"/>
                      </a:endParaRPr>
                    </a:p>
                  </a:txBody>
                  <a:tcPr/>
                </a:tc>
                <a:tc>
                  <a:txBody>
                    <a:bodyPr/>
                    <a:lstStyle/>
                    <a:p>
                      <a:r>
                        <a:rPr lang="en-US" sz="1600" b="0" kern="1200" dirty="0">
                          <a:solidFill>
                            <a:schemeClr val="tx1"/>
                          </a:solidFill>
                          <a:effectLst/>
                          <a:latin typeface="Times New Roman" panose="02020603050405020304" pitchFamily="18" charset="0"/>
                          <a:ea typeface="+mn-ea"/>
                          <a:cs typeface="Times New Roman" panose="02020603050405020304" pitchFamily="18" charset="0"/>
                        </a:rPr>
                        <a:t>Waqas Ahmed, Muhammad Kashif Sattar, </a:t>
                      </a:r>
                      <a:r>
                        <a:rPr lang="en-US" sz="1600" b="0" kern="1200" dirty="0" err="1">
                          <a:solidFill>
                            <a:schemeClr val="tx1"/>
                          </a:solidFill>
                          <a:effectLst/>
                          <a:latin typeface="Times New Roman" panose="02020603050405020304" pitchFamily="18" charset="0"/>
                          <a:ea typeface="+mn-ea"/>
                          <a:cs typeface="Times New Roman" panose="02020603050405020304" pitchFamily="18" charset="0"/>
                        </a:rPr>
                        <a:t>Wajeeha</a:t>
                      </a:r>
                      <a:r>
                        <a:rPr lang="en-US" sz="1600" b="0" kern="1200" dirty="0">
                          <a:solidFill>
                            <a:schemeClr val="tx1"/>
                          </a:solidFill>
                          <a:effectLst/>
                          <a:latin typeface="Times New Roman" panose="02020603050405020304" pitchFamily="18" charset="0"/>
                          <a:ea typeface="+mn-ea"/>
                          <a:cs typeface="Times New Roman" panose="02020603050405020304" pitchFamily="18" charset="0"/>
                        </a:rPr>
                        <a:t> Shahnawaz, Umair Saeed, Shahbaz Mehmood Khan, and Neha Amon Khan</a:t>
                      </a:r>
                      <a:endParaRPr lang="en-US" sz="1000" b="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kern="1200" dirty="0">
                          <a:solidFill>
                            <a:schemeClr val="tx1"/>
                          </a:solidFill>
                          <a:effectLst/>
                          <a:latin typeface="Times New Roman" panose="02020603050405020304" pitchFamily="18" charset="0"/>
                          <a:ea typeface="+mn-ea"/>
                          <a:cs typeface="Times New Roman" panose="02020603050405020304" pitchFamily="18" charset="0"/>
                        </a:rPr>
                        <a:t>Engineering Proceedings, 12(56), pp. 1-5, 2021</a:t>
                      </a:r>
                    </a:p>
                  </a:txBody>
                  <a:tcPr/>
                </a:tc>
                <a:tc>
                  <a:txBody>
                    <a:bodyPr/>
                    <a:lstStyle/>
                    <a:p>
                      <a:r>
                        <a:rPr lang="en-US" sz="1600" dirty="0">
                          <a:latin typeface="Times New Roman" panose="02020603050405020304" pitchFamily="18" charset="0"/>
                          <a:cs typeface="Times New Roman" panose="02020603050405020304" pitchFamily="18" charset="0"/>
                        </a:rPr>
                        <a:t>D</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esigned a robotic hand controlled by the soft glove placed on the healthy hand. Used feature extraction to recognize different gestures. Servo motors was used to perform different hand movements implemented on robotic hand.</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26309122"/>
                  </a:ext>
                </a:extLst>
              </a:tr>
              <a:tr h="2009782">
                <a:tc>
                  <a:txBody>
                    <a:bodyPr/>
                    <a:lstStyle/>
                    <a:p>
                      <a:r>
                        <a:rPr lang="en-US" sz="1600" dirty="0">
                          <a:latin typeface="Times New Roman" panose="02020603050405020304" pitchFamily="18" charset="0"/>
                          <a:cs typeface="Times New Roman" panose="02020603050405020304" pitchFamily="18" charset="0"/>
                        </a:rPr>
                        <a:t>15</a:t>
                      </a:r>
                    </a:p>
                  </a:txBody>
                  <a:tcPr/>
                </a:tc>
                <a:tc>
                  <a:txBody>
                    <a:bodyPr/>
                    <a:lstStyle/>
                    <a:p>
                      <a:r>
                        <a:rPr lang="en-US" sz="1600" b="0" kern="1200" dirty="0">
                          <a:solidFill>
                            <a:schemeClr val="tx1"/>
                          </a:solidFill>
                          <a:effectLst/>
                          <a:latin typeface="Times New Roman" panose="02020603050405020304" pitchFamily="18" charset="0"/>
                          <a:ea typeface="+mn-ea"/>
                          <a:cs typeface="Times New Roman" panose="02020603050405020304" pitchFamily="18" charset="0"/>
                        </a:rPr>
                        <a:t>Design and Control of a Tendon-Driven Robotic Finger Based on Grasping Task Analysis</a:t>
                      </a:r>
                      <a:endParaRPr lang="en-US" sz="1200" b="0" dirty="0">
                        <a:latin typeface="Times New Roman" panose="02020603050405020304" pitchFamily="18" charset="0"/>
                        <a:cs typeface="Times New Roman" panose="02020603050405020304" pitchFamily="18" charset="0"/>
                      </a:endParaRPr>
                    </a:p>
                  </a:txBody>
                  <a:tcPr/>
                </a:tc>
                <a:tc>
                  <a:txBody>
                    <a:bodyPr/>
                    <a:lstStyle/>
                    <a:p>
                      <a:r>
                        <a:rPr lang="en-US" sz="1600" b="0" kern="1200" dirty="0" err="1">
                          <a:solidFill>
                            <a:schemeClr val="tx1"/>
                          </a:solidFill>
                          <a:effectLst/>
                          <a:latin typeface="Times New Roman" panose="02020603050405020304" pitchFamily="18" charset="0"/>
                          <a:ea typeface="+mn-ea"/>
                          <a:cs typeface="Times New Roman" panose="02020603050405020304" pitchFamily="18" charset="0"/>
                        </a:rPr>
                        <a:t>Xuanyi</a:t>
                      </a:r>
                      <a:r>
                        <a:rPr lang="en-US" sz="1600" b="0" kern="1200" dirty="0">
                          <a:solidFill>
                            <a:schemeClr val="tx1"/>
                          </a:solidFill>
                          <a:effectLst/>
                          <a:latin typeface="Times New Roman" panose="02020603050405020304" pitchFamily="18" charset="0"/>
                          <a:ea typeface="+mn-ea"/>
                          <a:cs typeface="Times New Roman" panose="02020603050405020304" pitchFamily="18" charset="0"/>
                        </a:rPr>
                        <a:t> Zhou, Hoa Fu, </a:t>
                      </a:r>
                      <a:r>
                        <a:rPr lang="en-US" sz="1600" b="0" kern="1200" dirty="0" err="1">
                          <a:solidFill>
                            <a:schemeClr val="tx1"/>
                          </a:solidFill>
                          <a:effectLst/>
                          <a:latin typeface="Times New Roman" panose="02020603050405020304" pitchFamily="18" charset="0"/>
                          <a:ea typeface="+mn-ea"/>
                          <a:cs typeface="Times New Roman" panose="02020603050405020304" pitchFamily="18" charset="0"/>
                        </a:rPr>
                        <a:t>Baoqing</a:t>
                      </a:r>
                      <a:r>
                        <a:rPr lang="en-US" sz="16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600" b="0" kern="1200" dirty="0" err="1">
                          <a:solidFill>
                            <a:schemeClr val="tx1"/>
                          </a:solidFill>
                          <a:effectLst/>
                          <a:latin typeface="Times New Roman" panose="02020603050405020304" pitchFamily="18" charset="0"/>
                          <a:ea typeface="+mn-ea"/>
                          <a:cs typeface="Times New Roman" panose="02020603050405020304" pitchFamily="18" charset="0"/>
                        </a:rPr>
                        <a:t>Shentu</a:t>
                      </a:r>
                      <a:r>
                        <a:rPr lang="en-US" sz="16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600" b="0" kern="1200" dirty="0" err="1">
                          <a:solidFill>
                            <a:schemeClr val="tx1"/>
                          </a:solidFill>
                          <a:effectLst/>
                          <a:latin typeface="Times New Roman" panose="02020603050405020304" pitchFamily="18" charset="0"/>
                          <a:ea typeface="+mn-ea"/>
                          <a:cs typeface="Times New Roman" panose="02020603050405020304" pitchFamily="18" charset="0"/>
                        </a:rPr>
                        <a:t>Weidong</a:t>
                      </a:r>
                      <a:r>
                        <a:rPr lang="en-US" sz="1600" b="0" kern="1200" dirty="0">
                          <a:solidFill>
                            <a:schemeClr val="tx1"/>
                          </a:solidFill>
                          <a:effectLst/>
                          <a:latin typeface="Times New Roman" panose="02020603050405020304" pitchFamily="18" charset="0"/>
                          <a:ea typeface="+mn-ea"/>
                          <a:cs typeface="Times New Roman" panose="02020603050405020304" pitchFamily="18" charset="0"/>
                        </a:rPr>
                        <a:t> Wang, </a:t>
                      </a:r>
                      <a:r>
                        <a:rPr lang="en-US" sz="1600" b="0" kern="1200" dirty="0" err="1">
                          <a:solidFill>
                            <a:schemeClr val="tx1"/>
                          </a:solidFill>
                          <a:effectLst/>
                          <a:latin typeface="Times New Roman" panose="02020603050405020304" pitchFamily="18" charset="0"/>
                          <a:ea typeface="+mn-ea"/>
                          <a:cs typeface="Times New Roman" panose="02020603050405020304" pitchFamily="18" charset="0"/>
                        </a:rPr>
                        <a:t>Shibo</a:t>
                      </a:r>
                      <a:r>
                        <a:rPr lang="en-US" sz="1600" b="0" kern="1200" dirty="0">
                          <a:solidFill>
                            <a:schemeClr val="tx1"/>
                          </a:solidFill>
                          <a:effectLst/>
                          <a:latin typeface="Times New Roman" panose="02020603050405020304" pitchFamily="18" charset="0"/>
                          <a:ea typeface="+mn-ea"/>
                          <a:cs typeface="Times New Roman" panose="02020603050405020304" pitchFamily="18" charset="0"/>
                        </a:rPr>
                        <a:t> Cai, and </a:t>
                      </a:r>
                      <a:r>
                        <a:rPr lang="en-US" sz="1600" b="0" kern="1200" dirty="0" err="1">
                          <a:solidFill>
                            <a:schemeClr val="tx1"/>
                          </a:solidFill>
                          <a:effectLst/>
                          <a:latin typeface="Times New Roman" panose="02020603050405020304" pitchFamily="18" charset="0"/>
                          <a:ea typeface="+mn-ea"/>
                          <a:cs typeface="Times New Roman" panose="02020603050405020304" pitchFamily="18" charset="0"/>
                        </a:rPr>
                        <a:t>Guanjan</a:t>
                      </a:r>
                      <a:r>
                        <a:rPr lang="en-US" sz="1600" b="0" kern="1200" dirty="0">
                          <a:solidFill>
                            <a:schemeClr val="tx1"/>
                          </a:solidFill>
                          <a:effectLst/>
                          <a:latin typeface="Times New Roman" panose="02020603050405020304" pitchFamily="18" charset="0"/>
                          <a:ea typeface="+mn-ea"/>
                          <a:cs typeface="Times New Roman" panose="02020603050405020304" pitchFamily="18" charset="0"/>
                        </a:rPr>
                        <a:t> Bao</a:t>
                      </a:r>
                      <a:endParaRPr lang="en-US" sz="900" b="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kern="1200" dirty="0">
                          <a:solidFill>
                            <a:schemeClr val="tx1"/>
                          </a:solidFill>
                          <a:effectLst/>
                          <a:latin typeface="Times New Roman" panose="02020603050405020304" pitchFamily="18" charset="0"/>
                          <a:ea typeface="+mn-ea"/>
                          <a:cs typeface="Times New Roman" panose="02020603050405020304" pitchFamily="18" charset="0"/>
                        </a:rPr>
                        <a:t>Biomimetics, 9(370), pp. 1-17, 2024</a:t>
                      </a:r>
                    </a:p>
                    <a:p>
                      <a:endParaRPr lang="en-US" sz="1000" b="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The tendon-driven robotic finger was developed, controlled by soft glove worn on a human hand to collect data from the hand. Servo motors were implemented on the base of the robotic finger to drive the motion of the tendons.</a:t>
                      </a:r>
                    </a:p>
                  </a:txBody>
                  <a:tcPr/>
                </a:tc>
                <a:extLst>
                  <a:ext uri="{0D108BD9-81ED-4DB2-BD59-A6C34878D82A}">
                    <a16:rowId xmlns:a16="http://schemas.microsoft.com/office/drawing/2014/main" val="32285398"/>
                  </a:ext>
                </a:extLst>
              </a:tr>
            </a:tbl>
          </a:graphicData>
        </a:graphic>
      </p:graphicFrame>
    </p:spTree>
    <p:extLst>
      <p:ext uri="{BB962C8B-B14F-4D97-AF65-F5344CB8AC3E}">
        <p14:creationId xmlns:p14="http://schemas.microsoft.com/office/powerpoint/2010/main" val="18916573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C68BA-F0BA-FC12-BA71-66A968555EA8}"/>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Problem Statement</a:t>
            </a:r>
            <a:endParaRPr lang="en-US" b="1" dirty="0"/>
          </a:p>
        </p:txBody>
      </p:sp>
      <p:sp>
        <p:nvSpPr>
          <p:cNvPr id="3" name="Content Placeholder 2">
            <a:extLst>
              <a:ext uri="{FF2B5EF4-FFF2-40B4-BE49-F238E27FC236}">
                <a16:creationId xmlns:a16="http://schemas.microsoft.com/office/drawing/2014/main" id="{8B42F6C1-A6F7-882B-4C34-0C799743EF8D}"/>
              </a:ext>
            </a:extLst>
          </p:cNvPr>
          <p:cNvSpPr>
            <a:spLocks noGrp="1"/>
          </p:cNvSpPr>
          <p:nvPr>
            <p:ph idx="1"/>
          </p:nvPr>
        </p:nvSpPr>
        <p:spPr/>
        <p:txBody>
          <a:bodyPr>
            <a:normAutofit/>
          </a:bodyPr>
          <a:lstStyle/>
          <a:p>
            <a:pPr marL="0" indent="0" algn="just">
              <a:lnSpc>
                <a:spcPct val="150000"/>
              </a:lnSpc>
              <a:buNone/>
            </a:pPr>
            <a:r>
              <a:rPr lang="en-US" sz="2600" dirty="0">
                <a:latin typeface="Times New Roman" panose="02020603050405020304" pitchFamily="18" charset="0"/>
                <a:cs typeface="Times New Roman" panose="02020603050405020304" pitchFamily="18" charset="0"/>
              </a:rPr>
              <a:t>The loss of hand function due to stroke, injury, neurological conditions, or other medical conditions presents a profound challenge affecting millions worldwide</a:t>
            </a:r>
            <a:r>
              <a:rPr lang="en-US" sz="2600" dirty="0">
                <a:effectLst/>
                <a:latin typeface="Times New Roman" panose="02020603050405020304" pitchFamily="18" charset="0"/>
                <a:ea typeface="Calibri" panose="020F0502020204030204" pitchFamily="34" charset="0"/>
                <a:cs typeface="Times New Roman" panose="02020603050405020304" pitchFamily="18" charset="0"/>
              </a:rPr>
              <a:t>. The present system aims to assist them in regaining hand functionality by facilitating fine-motor activities</a:t>
            </a:r>
            <a:r>
              <a:rPr lang="en-US" sz="2600" dirty="0">
                <a:latin typeface="Times New Roman" panose="02020603050405020304" pitchFamily="18" charset="0"/>
                <a:ea typeface="Calibri" panose="020F0502020204030204" pitchFamily="34" charset="0"/>
                <a:cs typeface="Times New Roman" panose="02020603050405020304" pitchFamily="18" charset="0"/>
              </a:rPr>
              <a:t> and</a:t>
            </a:r>
            <a:r>
              <a:rPr lang="en-US" sz="2600" kern="100" dirty="0">
                <a:effectLst/>
                <a:latin typeface="Times New Roman" panose="02020603050405020304" pitchFamily="18" charset="0"/>
                <a:ea typeface="Calibri" panose="020F0502020204030204" pitchFamily="34" charset="0"/>
                <a:cs typeface="Times New Roman" panose="02020603050405020304" pitchFamily="18" charset="0"/>
              </a:rPr>
              <a:t> mimic the movements of the unaffected hand.</a:t>
            </a:r>
          </a:p>
        </p:txBody>
      </p:sp>
    </p:spTree>
    <p:extLst>
      <p:ext uri="{BB962C8B-B14F-4D97-AF65-F5344CB8AC3E}">
        <p14:creationId xmlns:p14="http://schemas.microsoft.com/office/powerpoint/2010/main" val="12187746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E52A3-80EA-CFDC-0948-BF05E2DF93D2}"/>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Objectives</a:t>
            </a:r>
          </a:p>
        </p:txBody>
      </p:sp>
      <p:sp>
        <p:nvSpPr>
          <p:cNvPr id="3" name="Content Placeholder 2">
            <a:extLst>
              <a:ext uri="{FF2B5EF4-FFF2-40B4-BE49-F238E27FC236}">
                <a16:creationId xmlns:a16="http://schemas.microsoft.com/office/drawing/2014/main" id="{AD3EC7BC-E63D-6019-144A-8EA62E4913EF}"/>
              </a:ext>
            </a:extLst>
          </p:cNvPr>
          <p:cNvSpPr>
            <a:spLocks noGrp="1"/>
          </p:cNvSpPr>
          <p:nvPr>
            <p:ph idx="1"/>
          </p:nvPr>
        </p:nvSpPr>
        <p:spPr>
          <a:xfrm>
            <a:off x="838200" y="1769806"/>
            <a:ext cx="10515600" cy="4259673"/>
          </a:xfrm>
        </p:spPr>
        <p:txBody>
          <a:bodyPr>
            <a:normAutofit/>
          </a:bodyPr>
          <a:lstStyle/>
          <a:p>
            <a:pPr marL="342900" marR="0" lvl="0" indent="-342900" algn="just">
              <a:lnSpc>
                <a:spcPct val="150000"/>
              </a:lnSpc>
              <a:spcBef>
                <a:spcPts val="0"/>
              </a:spcBef>
              <a:spcAft>
                <a:spcPts val="0"/>
              </a:spcAft>
              <a:buFont typeface="Symbol" panose="05050102010706020507" pitchFamily="18" charset="2"/>
              <a:buChar char=""/>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To design a rehabilitation system for an individual with hand paralysis to regain functionality of their hand</a:t>
            </a:r>
          </a:p>
          <a:p>
            <a:pPr marL="342900" marR="0" lvl="0" indent="-342900" algn="just">
              <a:lnSpc>
                <a:spcPct val="150000"/>
              </a:lnSpc>
              <a:spcBef>
                <a:spcPts val="0"/>
              </a:spcBef>
              <a:spcAft>
                <a:spcPts val="0"/>
              </a:spcAft>
              <a:buFont typeface="Symbol" panose="05050102010706020507" pitchFamily="18" charset="2"/>
              <a:buChar char=""/>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To design a system that captures electromyography (EMG) signals of the hands of the therapist</a:t>
            </a:r>
          </a:p>
          <a:p>
            <a:pPr marL="342900" marR="0" lvl="0" indent="-342900" algn="just">
              <a:lnSpc>
                <a:spcPct val="150000"/>
              </a:lnSpc>
              <a:spcBef>
                <a:spcPts val="0"/>
              </a:spcBef>
              <a:spcAft>
                <a:spcPts val="0"/>
              </a:spcAft>
              <a:buFont typeface="Symbol" panose="05050102010706020507" pitchFamily="18" charset="2"/>
              <a:buChar char=""/>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To train a machine learning model to recognize hand movements</a:t>
            </a:r>
          </a:p>
          <a:p>
            <a:pPr marL="342900" marR="0" lvl="0" indent="-342900" algn="just">
              <a:lnSpc>
                <a:spcPct val="150000"/>
              </a:lnSpc>
              <a:spcBef>
                <a:spcPts val="0"/>
              </a:spcBef>
              <a:spcAft>
                <a:spcPts val="800"/>
              </a:spcAft>
              <a:buFont typeface="Symbol" panose="05050102010706020507" pitchFamily="18" charset="2"/>
              <a:buChar char=""/>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To mimic the hand movement of the therapist </a:t>
            </a:r>
          </a:p>
          <a:p>
            <a:pPr marL="342900" marR="0" lvl="0" indent="-342900" algn="just">
              <a:lnSpc>
                <a:spcPct val="150000"/>
              </a:lnSpc>
              <a:spcBef>
                <a:spcPts val="0"/>
              </a:spcBef>
              <a:spcAft>
                <a:spcPts val="800"/>
              </a:spcAft>
              <a:buFont typeface="Symbol" panose="05050102010706020507" pitchFamily="18" charset="2"/>
              <a:buChar char=""/>
            </a:pPr>
            <a:r>
              <a:rPr lang="en-US" sz="2400" kern="100" dirty="0">
                <a:latin typeface="Times New Roman" panose="02020603050405020304" pitchFamily="18" charset="0"/>
                <a:ea typeface="Calibri" panose="020F0502020204030204" pitchFamily="34" charset="0"/>
                <a:cs typeface="Times New Roman" panose="02020603050405020304" pitchFamily="18" charset="0"/>
              </a:rPr>
              <a:t>T</a:t>
            </a: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o increase flexibility of the patient’s hand</a:t>
            </a:r>
          </a:p>
        </p:txBody>
      </p:sp>
    </p:spTree>
    <p:extLst>
      <p:ext uri="{BB962C8B-B14F-4D97-AF65-F5344CB8AC3E}">
        <p14:creationId xmlns:p14="http://schemas.microsoft.com/office/powerpoint/2010/main" val="3671298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 b="1" dirty="0">
                <a:latin typeface="Times New Roman"/>
                <a:ea typeface="Times New Roman"/>
                <a:cs typeface="Times New Roman"/>
                <a:sym typeface="Times New Roman"/>
              </a:rPr>
              <a:t>Requirement Specification</a:t>
            </a:r>
            <a:endParaRPr lang="en-IN" dirty="0"/>
          </a:p>
        </p:txBody>
      </p:sp>
      <p:sp>
        <p:nvSpPr>
          <p:cNvPr id="3" name="Content Placeholder 2"/>
          <p:cNvSpPr>
            <a:spLocks noGrp="1"/>
          </p:cNvSpPr>
          <p:nvPr>
            <p:ph idx="1"/>
          </p:nvPr>
        </p:nvSpPr>
        <p:spPr>
          <a:xfrm>
            <a:off x="838200" y="1473933"/>
            <a:ext cx="5407855" cy="4351338"/>
          </a:xfrm>
        </p:spPr>
        <p:txBody>
          <a:bodyPr>
            <a:normAutofit/>
          </a:bodyPr>
          <a:lstStyle/>
          <a:p>
            <a:pPr marL="0" lvl="0" indent="0">
              <a:buNone/>
            </a:pPr>
            <a:r>
              <a:rPr lang="en-IN" b="1" dirty="0">
                <a:solidFill>
                  <a:schemeClr val="dk1"/>
                </a:solidFill>
                <a:latin typeface="Times New Roman" panose="02020603050405020304" pitchFamily="18" charset="0"/>
                <a:ea typeface="Times New Roman"/>
                <a:cs typeface="Times New Roman" panose="02020603050405020304" pitchFamily="18" charset="0"/>
                <a:sym typeface="Times New Roman"/>
              </a:rPr>
              <a:t>1. Hardware Required </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ESP32 WROOM</a:t>
            </a:r>
          </a:p>
          <a:p>
            <a:pPr lvl="1"/>
            <a:r>
              <a:rPr lang="en-US" dirty="0">
                <a:effectLst/>
                <a:latin typeface="Times New Roman" panose="02020603050405020304" pitchFamily="18" charset="0"/>
                <a:ea typeface="Calibri" panose="020F0502020204030204" pitchFamily="34" charset="0"/>
                <a:cs typeface="Times New Roman" panose="02020603050405020304" pitchFamily="18" charset="0"/>
              </a:rPr>
              <a:t>32-bit LX6 microprocessors</a:t>
            </a:r>
          </a:p>
          <a:p>
            <a:pPr lvl="1"/>
            <a:r>
              <a:rPr lang="en-US" dirty="0">
                <a:effectLst/>
                <a:latin typeface="Times New Roman" panose="02020603050405020304" pitchFamily="18" charset="0"/>
                <a:ea typeface="Calibri" panose="020F0502020204030204" pitchFamily="34" charset="0"/>
                <a:cs typeface="Times New Roman" panose="02020603050405020304" pitchFamily="18" charset="0"/>
              </a:rPr>
              <a:t>ROM: 448 KB (for booting and core functions)</a:t>
            </a:r>
          </a:p>
          <a:p>
            <a:pPr lvl="1"/>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SRAM: 520 KB</a:t>
            </a:r>
          </a:p>
          <a:p>
            <a:pPr lvl="1"/>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BLE (Bluetooth Low Energy) and Bluetooth Classic</a:t>
            </a:r>
          </a:p>
          <a:p>
            <a:pPr lvl="1"/>
            <a:r>
              <a:rPr lang="en-US" kern="0" dirty="0">
                <a:effectLst/>
                <a:latin typeface="Times New Roman" panose="02020603050405020304" pitchFamily="18" charset="0"/>
                <a:ea typeface="Times New Roman" panose="02020603050405020304" pitchFamily="18" charset="0"/>
                <a:cs typeface="Times New Roman" panose="02020603050405020304" pitchFamily="18" charset="0"/>
              </a:rPr>
              <a:t>Wi-Fi: 150.0 Mbps data rate with HT40</a:t>
            </a:r>
            <a:endParaRPr lang="en-US"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1"/>
            <a:r>
              <a:rPr lang="en-US" dirty="0">
                <a:effectLst/>
                <a:latin typeface="Times New Roman" panose="02020603050405020304" pitchFamily="18" charset="0"/>
                <a:ea typeface="Calibri" panose="020F0502020204030204" pitchFamily="34" charset="0"/>
                <a:cs typeface="Times New Roman" panose="02020603050405020304" pitchFamily="18" charset="0"/>
              </a:rPr>
              <a:t>Low power consumption</a:t>
            </a:r>
          </a:p>
        </p:txBody>
      </p:sp>
      <p:pic>
        <p:nvPicPr>
          <p:cNvPr id="4" name="Picture 3">
            <a:extLst>
              <a:ext uri="{FF2B5EF4-FFF2-40B4-BE49-F238E27FC236}">
                <a16:creationId xmlns:a16="http://schemas.microsoft.com/office/drawing/2014/main" id="{D94AC3C7-3FFB-4ABB-368B-F63C717AF7D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68363" y="1325563"/>
            <a:ext cx="2294603" cy="4197947"/>
          </a:xfrm>
          <a:prstGeom prst="rect">
            <a:avLst/>
          </a:prstGeom>
        </p:spPr>
      </p:pic>
      <p:sp>
        <p:nvSpPr>
          <p:cNvPr id="5" name="TextBox 4">
            <a:extLst>
              <a:ext uri="{FF2B5EF4-FFF2-40B4-BE49-F238E27FC236}">
                <a16:creationId xmlns:a16="http://schemas.microsoft.com/office/drawing/2014/main" id="{69F2D922-C30C-3598-F999-62491F5EAF9D}"/>
              </a:ext>
            </a:extLst>
          </p:cNvPr>
          <p:cNvSpPr txBox="1"/>
          <p:nvPr/>
        </p:nvSpPr>
        <p:spPr>
          <a:xfrm>
            <a:off x="8583561" y="5825271"/>
            <a:ext cx="2770239" cy="369332"/>
          </a:xfrm>
          <a:prstGeom prst="rect">
            <a:avLst/>
          </a:prstGeom>
          <a:noFill/>
        </p:spPr>
        <p:txBody>
          <a:bodyPr wrap="square" rtlCol="0">
            <a:spAutoFit/>
          </a:bodyPr>
          <a:lstStyle/>
          <a:p>
            <a:r>
              <a:rPr lang="en-US" sz="1800" b="1" dirty="0">
                <a:effectLst/>
                <a:latin typeface="Times New Roman" panose="02020603050405020304" pitchFamily="18" charset="0"/>
                <a:ea typeface="Calibri" panose="020F0502020204030204" pitchFamily="34" charset="0"/>
              </a:rPr>
              <a:t>Fig.</a:t>
            </a:r>
            <a:r>
              <a:rPr lang="en-US" b="1" spc="-10" dirty="0">
                <a:latin typeface="Times New Roman" panose="02020603050405020304" pitchFamily="18" charset="0"/>
                <a:ea typeface="Calibri" panose="020F0502020204030204" pitchFamily="34" charset="0"/>
              </a:rPr>
              <a:t> 1</a:t>
            </a:r>
            <a:r>
              <a:rPr lang="en-US" sz="1800" b="1" dirty="0">
                <a:effectLst/>
                <a:latin typeface="Times New Roman" panose="02020603050405020304" pitchFamily="18" charset="0"/>
                <a:ea typeface="Calibri" panose="020F0502020204030204" pitchFamily="34" charset="0"/>
              </a:rPr>
              <a:t>:</a:t>
            </a:r>
            <a:r>
              <a:rPr lang="en-US" sz="1800" b="1" spc="-70" dirty="0">
                <a:effectLst/>
                <a:latin typeface="Times New Roman" panose="02020603050405020304" pitchFamily="18" charset="0"/>
                <a:ea typeface="Calibri" panose="020F0502020204030204" pitchFamily="34" charset="0"/>
              </a:rPr>
              <a:t> </a:t>
            </a:r>
            <a:r>
              <a:rPr lang="en-US" sz="1800" b="1" dirty="0">
                <a:effectLst/>
                <a:latin typeface="Times New Roman" panose="02020603050405020304" pitchFamily="18" charset="0"/>
                <a:ea typeface="Calibri" panose="020F0502020204030204" pitchFamily="34" charset="0"/>
              </a:rPr>
              <a:t>ESP32 WROOM</a:t>
            </a:r>
            <a:endParaRPr lang="en-US" dirty="0"/>
          </a:p>
        </p:txBody>
      </p:sp>
    </p:spTree>
    <p:extLst>
      <p:ext uri="{BB962C8B-B14F-4D97-AF65-F5344CB8AC3E}">
        <p14:creationId xmlns:p14="http://schemas.microsoft.com/office/powerpoint/2010/main" val="26685101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5039" y="315455"/>
            <a:ext cx="6430145" cy="6227089"/>
          </a:xfrm>
          <a:prstGeom prst="rect">
            <a:avLst/>
          </a:prstGeom>
          <a:noFill/>
        </p:spPr>
        <p:txBody>
          <a:bodyPr wrap="square" rtlCol="0">
            <a:spAutoFit/>
          </a:bodyPr>
          <a:lstStyle/>
          <a:p>
            <a:pPr marL="457200" indent="-457200">
              <a:lnSpc>
                <a:spcPct val="150000"/>
              </a:lnSpc>
              <a:buFont typeface="Wingdings" panose="05000000000000000000" pitchFamily="2" charset="2"/>
              <a:buChar char="Ø"/>
            </a:pPr>
            <a:r>
              <a:rPr lang="en-IN" sz="2600" b="1" dirty="0">
                <a:latin typeface="Times New Roman" panose="02020603050405020304" pitchFamily="18" charset="0"/>
                <a:cs typeface="Times New Roman" panose="02020603050405020304" pitchFamily="18" charset="0"/>
              </a:rPr>
              <a:t>EMG Sensor </a:t>
            </a:r>
          </a:p>
          <a:p>
            <a:pPr marL="914400" lvl="1" indent="-457200">
              <a:lnSpc>
                <a:spcPct val="150000"/>
              </a:lnSpc>
              <a:buFont typeface="Arial" panose="020B0604020202020204" pitchFamily="34" charset="0"/>
              <a:buChar char="•"/>
            </a:pPr>
            <a:r>
              <a:rPr lang="en-US" sz="2700" dirty="0">
                <a:latin typeface="Times New Roman" panose="02020603050405020304" pitchFamily="18" charset="0"/>
                <a:cs typeface="Times New Roman" panose="02020603050405020304" pitchFamily="18" charset="0"/>
              </a:rPr>
              <a:t>Enables the translation of these electrical signals into numerical values</a:t>
            </a:r>
            <a:endParaRPr lang="en-IN" sz="2700" dirty="0">
              <a:latin typeface="Times New Roman" panose="02020603050405020304" pitchFamily="18" charset="0"/>
              <a:cs typeface="Times New Roman" panose="02020603050405020304" pitchFamily="18" charset="0"/>
            </a:endParaRPr>
          </a:p>
          <a:p>
            <a:pPr marL="914400" lvl="1" indent="-457200">
              <a:lnSpc>
                <a:spcPct val="150000"/>
              </a:lnSpc>
              <a:buFont typeface="Arial" panose="020B0604020202020204" pitchFamily="34" charset="0"/>
              <a:buChar char="•"/>
            </a:pPr>
            <a:r>
              <a:rPr lang="en-IN" sz="2700" dirty="0">
                <a:latin typeface="Times New Roman" panose="02020603050405020304" pitchFamily="18" charset="0"/>
                <a:cs typeface="Times New Roman" panose="02020603050405020304" pitchFamily="18" charset="0"/>
              </a:rPr>
              <a:t>Specially designed for microcontroller</a:t>
            </a:r>
          </a:p>
          <a:p>
            <a:pPr marL="914400" lvl="1" indent="-457200">
              <a:lnSpc>
                <a:spcPct val="150000"/>
              </a:lnSpc>
              <a:buFont typeface="Arial" panose="020B0604020202020204" pitchFamily="34" charset="0"/>
              <a:buChar char="•"/>
            </a:pPr>
            <a:r>
              <a:rPr lang="en-IN" sz="2700" dirty="0">
                <a:latin typeface="Times New Roman" panose="02020603050405020304" pitchFamily="18" charset="0"/>
                <a:cs typeface="Times New Roman" panose="02020603050405020304" pitchFamily="18" charset="0"/>
              </a:rPr>
              <a:t>Needs dual power supply for +9V &amp; -9V</a:t>
            </a:r>
          </a:p>
          <a:p>
            <a:pPr marL="914400" lvl="1" indent="-457200">
              <a:lnSpc>
                <a:spcPct val="150000"/>
              </a:lnSpc>
              <a:buFont typeface="Arial" panose="020B0604020202020204" pitchFamily="34" charset="0"/>
              <a:buChar char="•"/>
            </a:pPr>
            <a:r>
              <a:rPr lang="en-IN" sz="2700" dirty="0">
                <a:latin typeface="Times New Roman" panose="02020603050405020304" pitchFamily="18" charset="0"/>
                <a:cs typeface="Times New Roman" panose="02020603050405020304" pitchFamily="18" charset="0"/>
              </a:rPr>
              <a:t>Used in Human-Computer interactions, Robotics, and Biomedical devices</a:t>
            </a:r>
          </a:p>
        </p:txBody>
      </p:sp>
      <p:pic>
        <p:nvPicPr>
          <p:cNvPr id="5" name="Picture 4">
            <a:extLst>
              <a:ext uri="{FF2B5EF4-FFF2-40B4-BE49-F238E27FC236}">
                <a16:creationId xmlns:a16="http://schemas.microsoft.com/office/drawing/2014/main" id="{AF6D5B78-7B87-FC5F-4D4C-E3831B2CAB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41889" y="1360977"/>
            <a:ext cx="3082413" cy="3082413"/>
          </a:xfrm>
          <a:prstGeom prst="rect">
            <a:avLst/>
          </a:prstGeom>
        </p:spPr>
      </p:pic>
      <p:sp>
        <p:nvSpPr>
          <p:cNvPr id="3" name="TextBox 2">
            <a:extLst>
              <a:ext uri="{FF2B5EF4-FFF2-40B4-BE49-F238E27FC236}">
                <a16:creationId xmlns:a16="http://schemas.microsoft.com/office/drawing/2014/main" id="{4C885218-DBA1-75E5-C2CE-3E8178C7D3D9}"/>
              </a:ext>
            </a:extLst>
          </p:cNvPr>
          <p:cNvSpPr txBox="1"/>
          <p:nvPr/>
        </p:nvSpPr>
        <p:spPr>
          <a:xfrm>
            <a:off x="8377084" y="4925961"/>
            <a:ext cx="2947218"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 2: EMG Sensor</a:t>
            </a:r>
          </a:p>
        </p:txBody>
      </p:sp>
    </p:spTree>
    <p:extLst>
      <p:ext uri="{BB962C8B-B14F-4D97-AF65-F5344CB8AC3E}">
        <p14:creationId xmlns:p14="http://schemas.microsoft.com/office/powerpoint/2010/main" val="25652087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73723" y="618978"/>
            <a:ext cx="7357403" cy="4893647"/>
          </a:xfrm>
          <a:prstGeom prst="rect">
            <a:avLst/>
          </a:prstGeom>
          <a:noFill/>
        </p:spPr>
        <p:txBody>
          <a:bodyPr wrap="square" rtlCol="0">
            <a:spAutoFit/>
          </a:bodyPr>
          <a:lstStyle/>
          <a:p>
            <a:pPr marL="457200" indent="-457200">
              <a:lnSpc>
                <a:spcPct val="150000"/>
              </a:lnSpc>
              <a:buFont typeface="Wingdings" panose="05000000000000000000" pitchFamily="2" charset="2"/>
              <a:buChar char="Ø"/>
            </a:pPr>
            <a:r>
              <a:rPr lang="en-US" sz="2600" b="1" dirty="0">
                <a:latin typeface="Times New Roman" panose="02020603050405020304" pitchFamily="18" charset="0"/>
                <a:cs typeface="Times New Roman" panose="02020603050405020304" pitchFamily="18" charset="0"/>
              </a:rPr>
              <a:t>Servo Motor</a:t>
            </a:r>
            <a:endParaRPr lang="en-US" sz="2600" dirty="0">
              <a:latin typeface="Times New Roman" panose="02020603050405020304" pitchFamily="18" charset="0"/>
              <a:cs typeface="Times New Roman" panose="02020603050405020304" pitchFamily="18" charset="0"/>
            </a:endParaRPr>
          </a:p>
          <a:p>
            <a:pPr marL="914400" lvl="1" indent="-457200">
              <a:lnSpc>
                <a:spcPct val="15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Used to control the linear motion of the object</a:t>
            </a:r>
          </a:p>
          <a:p>
            <a:pPr marL="914400" lvl="1" indent="-457200">
              <a:lnSpc>
                <a:spcPct val="15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It consist of 3 wires:</a:t>
            </a:r>
          </a:p>
          <a:p>
            <a:pPr marL="1428750" lvl="2" indent="-514350">
              <a:lnSpc>
                <a:spcPct val="150000"/>
              </a:lnSpc>
              <a:buFont typeface="+mj-lt"/>
              <a:buAutoNum type="arabicPeriod"/>
            </a:pPr>
            <a:r>
              <a:rPr lang="en-US" sz="2600" u="sng" dirty="0">
                <a:latin typeface="Times New Roman" panose="02020603050405020304" pitchFamily="18" charset="0"/>
                <a:cs typeface="Times New Roman" panose="02020603050405020304" pitchFamily="18" charset="0"/>
              </a:rPr>
              <a:t>Brown</a:t>
            </a:r>
            <a:r>
              <a:rPr lang="en-US" sz="2600" dirty="0">
                <a:latin typeface="Times New Roman" panose="02020603050405020304" pitchFamily="18" charset="0"/>
                <a:cs typeface="Times New Roman" panose="02020603050405020304" pitchFamily="18" charset="0"/>
              </a:rPr>
              <a:t>: Ground wire</a:t>
            </a:r>
          </a:p>
          <a:p>
            <a:pPr marL="1428750" lvl="2" indent="-514350">
              <a:lnSpc>
                <a:spcPct val="150000"/>
              </a:lnSpc>
              <a:buFont typeface="+mj-lt"/>
              <a:buAutoNum type="arabicPeriod"/>
            </a:pPr>
            <a:r>
              <a:rPr lang="en-US" sz="2600" u="sng" dirty="0">
                <a:latin typeface="Times New Roman" panose="02020603050405020304" pitchFamily="18" charset="0"/>
                <a:cs typeface="Times New Roman" panose="02020603050405020304" pitchFamily="18" charset="0"/>
              </a:rPr>
              <a:t>Red</a:t>
            </a:r>
            <a:r>
              <a:rPr lang="en-US" sz="2600" dirty="0">
                <a:latin typeface="Times New Roman" panose="02020603050405020304" pitchFamily="18" charset="0"/>
                <a:cs typeface="Times New Roman" panose="02020603050405020304" pitchFamily="18" charset="0"/>
              </a:rPr>
              <a:t>: Connected to +5V</a:t>
            </a:r>
          </a:p>
          <a:p>
            <a:pPr marL="1428750" lvl="2" indent="-514350">
              <a:lnSpc>
                <a:spcPct val="150000"/>
              </a:lnSpc>
              <a:buFont typeface="+mj-lt"/>
              <a:buAutoNum type="arabicPeriod"/>
            </a:pPr>
            <a:r>
              <a:rPr lang="en-US" sz="2600" u="sng" dirty="0">
                <a:latin typeface="Times New Roman" panose="02020603050405020304" pitchFamily="18" charset="0"/>
                <a:cs typeface="Times New Roman" panose="02020603050405020304" pitchFamily="18" charset="0"/>
              </a:rPr>
              <a:t>Orange</a:t>
            </a:r>
            <a:r>
              <a:rPr lang="en-US" sz="2600" dirty="0">
                <a:latin typeface="Times New Roman" panose="02020603050405020304" pitchFamily="18" charset="0"/>
                <a:cs typeface="Times New Roman" panose="02020603050405020304" pitchFamily="18" charset="0"/>
              </a:rPr>
              <a:t>: PWM signal connected to the Arduino</a:t>
            </a:r>
          </a:p>
          <a:p>
            <a:pPr marL="971550" lvl="1" indent="-514350">
              <a:lnSpc>
                <a:spcPct val="15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Rotation: 0</a:t>
            </a:r>
            <a:r>
              <a:rPr lang="en-US" sz="2600" baseline="30000" dirty="0">
                <a:latin typeface="Times New Roman" panose="02020603050405020304" pitchFamily="18" charset="0"/>
                <a:cs typeface="Times New Roman" panose="02020603050405020304" pitchFamily="18" charset="0"/>
              </a:rPr>
              <a:t>o</a:t>
            </a:r>
            <a:r>
              <a:rPr lang="en-US" sz="2600" dirty="0">
                <a:latin typeface="Times New Roman" panose="02020603050405020304" pitchFamily="18" charset="0"/>
                <a:cs typeface="Times New Roman" panose="02020603050405020304" pitchFamily="18" charset="0"/>
              </a:rPr>
              <a:t> to 180</a:t>
            </a:r>
            <a:r>
              <a:rPr lang="en-US" sz="2600" baseline="30000" dirty="0">
                <a:latin typeface="Times New Roman" panose="02020603050405020304" pitchFamily="18" charset="0"/>
                <a:cs typeface="Times New Roman" panose="02020603050405020304" pitchFamily="18" charset="0"/>
              </a:rPr>
              <a:t>o</a:t>
            </a:r>
            <a:endParaRPr lang="en-US" sz="26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8131126" y="1800785"/>
            <a:ext cx="3391373" cy="2162477"/>
          </a:xfrm>
          <a:prstGeom prst="rect">
            <a:avLst/>
          </a:prstGeom>
        </p:spPr>
      </p:pic>
      <p:sp>
        <p:nvSpPr>
          <p:cNvPr id="5" name="TextBox 4">
            <a:extLst>
              <a:ext uri="{FF2B5EF4-FFF2-40B4-BE49-F238E27FC236}">
                <a16:creationId xmlns:a16="http://schemas.microsoft.com/office/drawing/2014/main" id="{BFB375E1-1B59-20A0-F765-55E82E5C3F51}"/>
              </a:ext>
            </a:extLst>
          </p:cNvPr>
          <p:cNvSpPr txBox="1"/>
          <p:nvPr/>
        </p:nvSpPr>
        <p:spPr>
          <a:xfrm>
            <a:off x="8239432" y="4326194"/>
            <a:ext cx="3067665"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 3: Servo Motor</a:t>
            </a:r>
          </a:p>
        </p:txBody>
      </p:sp>
    </p:spTree>
    <p:extLst>
      <p:ext uri="{BB962C8B-B14F-4D97-AF65-F5344CB8AC3E}">
        <p14:creationId xmlns:p14="http://schemas.microsoft.com/office/powerpoint/2010/main" val="13468722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620BA-E6E4-4395-0252-C05AA467D839}"/>
              </a:ext>
            </a:extLst>
          </p:cNvPr>
          <p:cNvSpPr>
            <a:spLocks noGrp="1"/>
          </p:cNvSpPr>
          <p:nvPr>
            <p:ph type="title"/>
          </p:nvPr>
        </p:nvSpPr>
        <p:spPr>
          <a:xfrm>
            <a:off x="838200" y="778081"/>
            <a:ext cx="10515600" cy="804914"/>
          </a:xfrm>
        </p:spPr>
        <p:txBody>
          <a:bodyPr>
            <a:normAutofit/>
          </a:bodyPr>
          <a:lstStyle/>
          <a:p>
            <a:pPr marL="457200" indent="-457200">
              <a:buFont typeface="Wingdings" panose="05000000000000000000" pitchFamily="2" charset="2"/>
              <a:buChar char="Ø"/>
            </a:pPr>
            <a:r>
              <a:rPr lang="en-US" sz="2600" b="1" kern="100" spc="0" dirty="0">
                <a:effectLst/>
                <a:latin typeface="Times New Roman" panose="02020603050405020304" pitchFamily="18" charset="0"/>
                <a:ea typeface="Calibri" panose="020F0502020204030204" pitchFamily="34" charset="0"/>
                <a:cs typeface="Times New Roman" panose="02020603050405020304" pitchFamily="18" charset="0"/>
              </a:rPr>
              <a:t>PCA9685 Servo Motor Driver</a:t>
            </a:r>
            <a:endParaRPr lang="en-US" sz="26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417C459-E008-C8EC-1AFC-57EEAADA1F00}"/>
              </a:ext>
            </a:extLst>
          </p:cNvPr>
          <p:cNvSpPr txBox="1"/>
          <p:nvPr/>
        </p:nvSpPr>
        <p:spPr>
          <a:xfrm>
            <a:off x="838200" y="1582995"/>
            <a:ext cx="5424948" cy="5421933"/>
          </a:xfrm>
          <a:prstGeom prst="rect">
            <a:avLst/>
          </a:prstGeom>
          <a:noFill/>
        </p:spPr>
        <p:txBody>
          <a:bodyPr wrap="square" rtlCol="0">
            <a:spAutoFit/>
          </a:bodyPr>
          <a:lstStyle/>
          <a:p>
            <a:pPr marL="457200" indent="-457200">
              <a:lnSpc>
                <a:spcPct val="150000"/>
              </a:lnSpc>
              <a:buFont typeface="Arial" panose="020B0604020202020204" pitchFamily="34" charset="0"/>
              <a:buChar char="•"/>
            </a:pPr>
            <a:r>
              <a:rPr lang="en-US" sz="2600" kern="100" dirty="0">
                <a:effectLst/>
                <a:latin typeface="Times New Roman" panose="02020603050405020304" pitchFamily="18" charset="0"/>
                <a:ea typeface="Calibri" panose="020F0502020204030204" pitchFamily="34" charset="0"/>
                <a:cs typeface="Times New Roman" panose="02020603050405020304" pitchFamily="18" charset="0"/>
              </a:rPr>
              <a:t>PCA9685 module is a 16 Channel Servo Motor Driver </a:t>
            </a:r>
          </a:p>
          <a:p>
            <a:pPr marL="457200" indent="-457200">
              <a:lnSpc>
                <a:spcPct val="150000"/>
              </a:lnSpc>
              <a:buFont typeface="Arial" panose="020B0604020202020204" pitchFamily="34" charset="0"/>
              <a:buChar char="•"/>
            </a:pPr>
            <a:r>
              <a:rPr lang="en-US" sz="2600" kern="100" dirty="0">
                <a:latin typeface="Times New Roman" panose="02020603050405020304" pitchFamily="18" charset="0"/>
                <a:ea typeface="Calibri" panose="020F0502020204030204" pitchFamily="34" charset="0"/>
                <a:cs typeface="Times New Roman" panose="02020603050405020304" pitchFamily="18" charset="0"/>
              </a:rPr>
              <a:t>It can </a:t>
            </a:r>
            <a:r>
              <a:rPr lang="en-US" sz="2600" kern="100" dirty="0">
                <a:effectLst/>
                <a:latin typeface="Times New Roman" panose="02020603050405020304" pitchFamily="18" charset="0"/>
                <a:ea typeface="Calibri" panose="020F0502020204030204" pitchFamily="34" charset="0"/>
                <a:cs typeface="Times New Roman" panose="02020603050405020304" pitchFamily="18" charset="0"/>
              </a:rPr>
              <a:t>control upto 16 servo motors with just two pins of the ESP32 microcontroller with I2C. </a:t>
            </a:r>
          </a:p>
          <a:p>
            <a:pPr marL="457200" indent="-457200">
              <a:lnSpc>
                <a:spcPct val="150000"/>
              </a:lnSpc>
              <a:buFont typeface="Arial" panose="020B0604020202020204" pitchFamily="34" charset="0"/>
              <a:buChar char="•"/>
            </a:pPr>
            <a:r>
              <a:rPr lang="en-US" sz="2600" kern="100" dirty="0">
                <a:effectLst/>
                <a:latin typeface="Times New Roman" panose="02020603050405020304" pitchFamily="18" charset="0"/>
                <a:ea typeface="Calibri" panose="020F0502020204030204" pitchFamily="34" charset="0"/>
                <a:cs typeface="Times New Roman" panose="02020603050405020304" pitchFamily="18" charset="0"/>
              </a:rPr>
              <a:t>Servos can be plugged in directly to the board with no additional circuits or connectors required.</a:t>
            </a:r>
          </a:p>
          <a:p>
            <a:pPr marL="457200" indent="-457200">
              <a:lnSpc>
                <a:spcPct val="150000"/>
              </a:lnSpc>
              <a:buFont typeface="Arial" panose="020B0604020202020204" pitchFamily="34" charset="0"/>
              <a:buChar char="•"/>
            </a:pPr>
            <a:endParaRPr lang="en-US" sz="2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94023A4-4D4B-9BC1-4AD5-FBB9A888840D}"/>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35667" y="1582995"/>
            <a:ext cx="3770140" cy="3087328"/>
          </a:xfrm>
          <a:prstGeom prst="rect">
            <a:avLst/>
          </a:prstGeom>
          <a:noFill/>
          <a:ln>
            <a:noFill/>
          </a:ln>
        </p:spPr>
      </p:pic>
      <p:sp>
        <p:nvSpPr>
          <p:cNvPr id="5" name="TextBox 4">
            <a:extLst>
              <a:ext uri="{FF2B5EF4-FFF2-40B4-BE49-F238E27FC236}">
                <a16:creationId xmlns:a16="http://schemas.microsoft.com/office/drawing/2014/main" id="{D874F95E-6945-3FEA-0858-F78BF537E84D}"/>
              </a:ext>
            </a:extLst>
          </p:cNvPr>
          <p:cNvSpPr txBox="1"/>
          <p:nvPr/>
        </p:nvSpPr>
        <p:spPr>
          <a:xfrm>
            <a:off x="7429704" y="4951839"/>
            <a:ext cx="3982065" cy="646331"/>
          </a:xfrm>
          <a:prstGeom prst="rect">
            <a:avLst/>
          </a:prstGeom>
          <a:noFill/>
        </p:spPr>
        <p:txBody>
          <a:bodyPr wrap="square" rtlCol="0">
            <a:spAutoFit/>
          </a:bodyPr>
          <a:lstStyle/>
          <a:p>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Fig. 4: PCA9685 Servo Motor Driver</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3608379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94389"/>
            <a:ext cx="10515600" cy="765585"/>
          </a:xfrm>
        </p:spPr>
        <p:txBody>
          <a:bodyPr>
            <a:normAutofit/>
          </a:bodyPr>
          <a:lstStyle/>
          <a:p>
            <a:r>
              <a:rPr lang="en-GB" sz="2800" b="1" dirty="0">
                <a:latin typeface="Times New Roman" panose="02020603050405020304" pitchFamily="18" charset="0"/>
                <a:cs typeface="Times New Roman" panose="02020603050405020304" pitchFamily="18" charset="0"/>
              </a:rPr>
              <a:t>2. Software Specification</a:t>
            </a:r>
          </a:p>
        </p:txBody>
      </p:sp>
      <p:sp>
        <p:nvSpPr>
          <p:cNvPr id="3" name="Content Placeholder 2"/>
          <p:cNvSpPr>
            <a:spLocks noGrp="1"/>
          </p:cNvSpPr>
          <p:nvPr>
            <p:ph idx="1"/>
          </p:nvPr>
        </p:nvSpPr>
        <p:spPr>
          <a:xfrm>
            <a:off x="838200" y="1882595"/>
            <a:ext cx="10515600" cy="4351338"/>
          </a:xfrm>
        </p:spPr>
        <p:txBody>
          <a:bodyPr/>
          <a:lstStyle/>
          <a:p>
            <a:pPr lvl="0">
              <a:lnSpc>
                <a:spcPct val="150000"/>
              </a:lnSpc>
            </a:pPr>
            <a:r>
              <a:rPr lang="en-US" b="1" dirty="0">
                <a:latin typeface="Times New Roman" panose="02020603050405020304" pitchFamily="18" charset="0"/>
                <a:cs typeface="Times New Roman" panose="02020603050405020304" pitchFamily="18" charset="0"/>
              </a:rPr>
              <a:t>Arduino IDE</a:t>
            </a:r>
            <a:r>
              <a:rPr lang="en-IN" b="1"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a:t>
            </a: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Arduino IDE is a cross-platform application that allows users to write, compile, debug, and upload code to Arduino boards. It also includes a serial monitor for communication with Arduino boards.</a:t>
            </a:r>
          </a:p>
          <a:p>
            <a:pPr>
              <a:lnSpc>
                <a:spcPct val="150000"/>
              </a:lnSpc>
            </a:pPr>
            <a:r>
              <a:rPr lang="en-US" b="1" dirty="0">
                <a:latin typeface="Times New Roman" panose="02020603050405020304" pitchFamily="18" charset="0"/>
                <a:cs typeface="Times New Roman" panose="02020603050405020304" pitchFamily="18" charset="0"/>
              </a:rPr>
              <a:t>PyCharm IDE: </a:t>
            </a:r>
            <a:r>
              <a:rPr lang="en-US" dirty="0">
                <a:latin typeface="Times New Roman" panose="02020603050405020304" pitchFamily="18" charset="0"/>
                <a:cs typeface="Times New Roman" panose="02020603050405020304" pitchFamily="18" charset="0"/>
              </a:rPr>
              <a:t>PyCharm is a cross-platform integrated development environment (IDE) designed specifically for Python programming. </a:t>
            </a:r>
          </a:p>
        </p:txBody>
      </p:sp>
    </p:spTree>
    <p:extLst>
      <p:ext uri="{BB962C8B-B14F-4D97-AF65-F5344CB8AC3E}">
        <p14:creationId xmlns:p14="http://schemas.microsoft.com/office/powerpoint/2010/main" val="9749639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C18EC-15B0-797D-4A78-53E97F63028B}"/>
              </a:ext>
            </a:extLst>
          </p:cNvPr>
          <p:cNvSpPr>
            <a:spLocks noGrp="1"/>
          </p:cNvSpPr>
          <p:nvPr>
            <p:ph type="title"/>
          </p:nvPr>
        </p:nvSpPr>
        <p:spPr>
          <a:xfrm>
            <a:off x="838200" y="365125"/>
            <a:ext cx="10515600" cy="844243"/>
          </a:xfrm>
        </p:spPr>
        <p:txBody>
          <a:bodyPr>
            <a:normAutofit/>
          </a:bodyPr>
          <a:lstStyle/>
          <a:p>
            <a:r>
              <a:rPr lang="en-US" sz="2800" b="1" dirty="0">
                <a:latin typeface="Times New Roman" panose="02020603050405020304" pitchFamily="18" charset="0"/>
                <a:cs typeface="Times New Roman" panose="02020603050405020304" pitchFamily="18" charset="0"/>
              </a:rPr>
              <a:t>3. Libraries Required</a:t>
            </a:r>
          </a:p>
        </p:txBody>
      </p:sp>
      <p:sp>
        <p:nvSpPr>
          <p:cNvPr id="3" name="Content Placeholder 2">
            <a:extLst>
              <a:ext uri="{FF2B5EF4-FFF2-40B4-BE49-F238E27FC236}">
                <a16:creationId xmlns:a16="http://schemas.microsoft.com/office/drawing/2014/main" id="{5E5E3D2E-7617-F206-51EE-D055760DEB49}"/>
              </a:ext>
            </a:extLst>
          </p:cNvPr>
          <p:cNvSpPr>
            <a:spLocks noGrp="1"/>
          </p:cNvSpPr>
          <p:nvPr>
            <p:ph idx="1"/>
          </p:nvPr>
        </p:nvSpPr>
        <p:spPr>
          <a:xfrm>
            <a:off x="838200" y="1337187"/>
            <a:ext cx="10515600" cy="4839776"/>
          </a:xfrm>
        </p:spPr>
        <p:txBody>
          <a:bodyPr>
            <a:normAutofit fontScale="92500" lnSpcReduction="20000"/>
          </a:bodyPr>
          <a:lstStyle/>
          <a:p>
            <a:pPr>
              <a:lnSpc>
                <a:spcPct val="150000"/>
              </a:lnSpc>
            </a:pPr>
            <a:r>
              <a:rPr lang="en-US" b="1" dirty="0">
                <a:latin typeface="Times New Roman" panose="02020603050405020304" pitchFamily="18" charset="0"/>
                <a:cs typeface="Times New Roman" panose="02020603050405020304" pitchFamily="18" charset="0"/>
              </a:rPr>
              <a:t>NumPy: </a:t>
            </a:r>
            <a:r>
              <a:rPr lang="en-US" dirty="0">
                <a:latin typeface="Times New Roman" panose="02020603050405020304" pitchFamily="18" charset="0"/>
                <a:cs typeface="Times New Roman" panose="02020603050405020304" pitchFamily="18" charset="0"/>
              </a:rPr>
              <a:t>Numerical Python is a Python library that adds support for large, multi-dimensional arrays and matrices</a:t>
            </a:r>
          </a:p>
          <a:p>
            <a:pPr>
              <a:lnSpc>
                <a:spcPct val="150000"/>
              </a:lnSpc>
            </a:pPr>
            <a:r>
              <a:rPr lang="en-US" b="1" dirty="0">
                <a:latin typeface="Times New Roman" panose="02020603050405020304" pitchFamily="18" charset="0"/>
                <a:cs typeface="Times New Roman" panose="02020603050405020304" pitchFamily="18" charset="0"/>
              </a:rPr>
              <a:t>Pandas: </a:t>
            </a:r>
            <a:r>
              <a:rPr lang="en-US" dirty="0">
                <a:latin typeface="Times New Roman" panose="02020603050405020304" pitchFamily="18" charset="0"/>
                <a:cs typeface="Times New Roman" panose="02020603050405020304" pitchFamily="18" charset="0"/>
              </a:rPr>
              <a:t>It is a Python library used to work with datasets for analyzing, cleaning, exploring, and manipulating data</a:t>
            </a:r>
          </a:p>
          <a:p>
            <a:pPr>
              <a:lnSpc>
                <a:spcPct val="150000"/>
              </a:lnSpc>
            </a:pPr>
            <a:r>
              <a:rPr lang="en-US" b="1" dirty="0">
                <a:latin typeface="Times New Roman" panose="02020603050405020304" pitchFamily="18" charset="0"/>
                <a:cs typeface="Times New Roman" panose="02020603050405020304" pitchFamily="18" charset="0"/>
              </a:rPr>
              <a:t>Scikit-learn: </a:t>
            </a:r>
            <a:r>
              <a:rPr lang="en-US" dirty="0">
                <a:latin typeface="Times New Roman" panose="02020603050405020304" pitchFamily="18" charset="0"/>
                <a:cs typeface="Times New Roman" panose="02020603050405020304" pitchFamily="18" charset="0"/>
              </a:rPr>
              <a:t>It is a machine learning library, supports various algorithms like SVM, Decision tree, and Random forest</a:t>
            </a:r>
          </a:p>
          <a:p>
            <a:pPr>
              <a:lnSpc>
                <a:spcPct val="150000"/>
              </a:lnSpc>
            </a:pPr>
            <a:r>
              <a:rPr lang="en-US" b="1" dirty="0" err="1">
                <a:latin typeface="Times New Roman" panose="02020603050405020304" pitchFamily="18" charset="0"/>
                <a:cs typeface="Times New Roman" panose="02020603050405020304" pitchFamily="18" charset="0"/>
              </a:rPr>
              <a:t>Keras</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It is a high-level API for TensorFlow and can be used to deploy models on microcontrollers using TensorFlow Lite</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70598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EE12109-BD93-164C-4558-D70E0909DFA1}"/>
              </a:ext>
            </a:extLst>
          </p:cNvPr>
          <p:cNvSpPr txBox="1"/>
          <p:nvPr/>
        </p:nvSpPr>
        <p:spPr>
          <a:xfrm>
            <a:off x="1101212" y="1318197"/>
            <a:ext cx="9448800" cy="4221605"/>
          </a:xfrm>
          <a:prstGeom prst="rect">
            <a:avLst/>
          </a:prstGeom>
          <a:noFill/>
        </p:spPr>
        <p:txBody>
          <a:bodyPr wrap="square" rtlCol="0">
            <a:spAutoFit/>
          </a:bodyPr>
          <a:lstStyle/>
          <a:p>
            <a:pPr marL="457200" indent="-457200">
              <a:lnSpc>
                <a:spcPct val="150000"/>
              </a:lnSpc>
              <a:buFont typeface="Arial" panose="020B0604020202020204" pitchFamily="34" charset="0"/>
              <a:buChar char="•"/>
            </a:pPr>
            <a:r>
              <a:rPr lang="en-US" sz="2600" b="1" dirty="0">
                <a:latin typeface="Times New Roman" panose="02020603050405020304" pitchFamily="18" charset="0"/>
                <a:cs typeface="Times New Roman" panose="02020603050405020304" pitchFamily="18" charset="0"/>
              </a:rPr>
              <a:t>TensorFlow: </a:t>
            </a:r>
            <a:r>
              <a:rPr lang="en-US" sz="2600" dirty="0">
                <a:latin typeface="Times New Roman" panose="02020603050405020304" pitchFamily="18" charset="0"/>
                <a:cs typeface="Times New Roman" panose="02020603050405020304" pitchFamily="18" charset="0"/>
              </a:rPr>
              <a:t>It i</a:t>
            </a:r>
            <a:r>
              <a:rPr lang="en-US" sz="2600" dirty="0">
                <a:effectLst/>
                <a:latin typeface="Times New Roman" panose="02020603050405020304" pitchFamily="18" charset="0"/>
                <a:ea typeface="Calibri" panose="020F0502020204030204" pitchFamily="34" charset="0"/>
              </a:rPr>
              <a:t>s an open-source library for numerical computation, large-scale machine learning, deep learning, and other statistical and predictive analytics workloads.</a:t>
            </a:r>
            <a:r>
              <a:rPr lang="en-US" sz="2600" dirty="0">
                <a:latin typeface="Times New Roman" panose="02020603050405020304" pitchFamily="18" charset="0"/>
                <a:cs typeface="Times New Roman" panose="02020603050405020304" pitchFamily="18" charset="0"/>
              </a:rPr>
              <a:t> </a:t>
            </a:r>
          </a:p>
          <a:p>
            <a:pPr marL="457200" indent="-457200">
              <a:lnSpc>
                <a:spcPct val="150000"/>
              </a:lnSpc>
              <a:buFont typeface="Arial" panose="020B0604020202020204" pitchFamily="34" charset="0"/>
              <a:buChar char="•"/>
            </a:pPr>
            <a:r>
              <a:rPr lang="en-US" sz="2600" b="1" dirty="0">
                <a:latin typeface="Times New Roman" panose="02020603050405020304" pitchFamily="18" charset="0"/>
                <a:cs typeface="Times New Roman" panose="02020603050405020304" pitchFamily="18" charset="0"/>
              </a:rPr>
              <a:t>Matplotlib: </a:t>
            </a:r>
            <a:r>
              <a:rPr lang="en-US" sz="2600" dirty="0">
                <a:latin typeface="Times New Roman" panose="02020603050405020304" pitchFamily="18" charset="0"/>
                <a:cs typeface="Times New Roman" panose="02020603050405020304" pitchFamily="18" charset="0"/>
              </a:rPr>
              <a:t>It is an open-source library used to plot graphs in python and visualize data in a variety of formats.</a:t>
            </a:r>
          </a:p>
          <a:p>
            <a:pPr marL="457200" indent="-457200">
              <a:lnSpc>
                <a:spcPct val="150000"/>
              </a:lnSpc>
              <a:buFont typeface="Arial" panose="020B0604020202020204" pitchFamily="34" charset="0"/>
              <a:buChar char="•"/>
            </a:pPr>
            <a:r>
              <a:rPr lang="en-US" sz="2600" b="1" dirty="0">
                <a:latin typeface="Times New Roman" panose="02020603050405020304" pitchFamily="18" charset="0"/>
                <a:cs typeface="Times New Roman" panose="02020603050405020304" pitchFamily="18" charset="0"/>
              </a:rPr>
              <a:t>Serial: </a:t>
            </a:r>
            <a:r>
              <a:rPr lang="en-US" sz="2600" dirty="0">
                <a:latin typeface="Times New Roman" panose="02020603050405020304" pitchFamily="18" charset="0"/>
                <a:cs typeface="Times New Roman" panose="02020603050405020304" pitchFamily="18" charset="0"/>
              </a:rPr>
              <a:t>It is a python library that facilitates communication between two devise via serial port. </a:t>
            </a:r>
            <a:endParaRPr lang="en-US" sz="2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65127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595D6B0-778F-DB94-DFD3-A3B87A0188DA}"/>
              </a:ext>
            </a:extLst>
          </p:cNvPr>
          <p:cNvSpPr txBox="1"/>
          <p:nvPr/>
        </p:nvSpPr>
        <p:spPr>
          <a:xfrm>
            <a:off x="742335" y="535063"/>
            <a:ext cx="10707329" cy="5237268"/>
          </a:xfrm>
          <a:prstGeom prst="rect">
            <a:avLst/>
          </a:prstGeom>
          <a:noFill/>
        </p:spPr>
        <p:txBody>
          <a:bodyPr wrap="square" rtlCol="0">
            <a:spAutoFit/>
          </a:bodyPr>
          <a:lstStyle/>
          <a:p>
            <a:pPr>
              <a:lnSpc>
                <a:spcPct val="150000"/>
              </a:lnSpc>
            </a:pPr>
            <a:r>
              <a:rPr lang="en-US" sz="2800" b="1" dirty="0">
                <a:latin typeface="Times New Roman" panose="02020603050405020304" pitchFamily="18" charset="0"/>
                <a:cs typeface="Times New Roman" panose="02020603050405020304" pitchFamily="18" charset="0"/>
              </a:rPr>
              <a:t>4. Input</a:t>
            </a:r>
          </a:p>
          <a:p>
            <a:pPr lvl="1">
              <a:lnSpc>
                <a:spcPct val="150000"/>
              </a:lnSpc>
            </a:pPr>
            <a:r>
              <a:rPr lang="en-US" sz="2600" b="0" i="0" u="none" strike="noStrike" baseline="0" dirty="0">
                <a:solidFill>
                  <a:srgbClr val="000000"/>
                </a:solidFill>
                <a:latin typeface="Times New Roman" panose="02020603050405020304" pitchFamily="18" charset="0"/>
              </a:rPr>
              <a:t>The input of the system is the gesture performed by the hand through EMG sensor in real time. </a:t>
            </a:r>
          </a:p>
          <a:p>
            <a:pPr lvl="1">
              <a:lnSpc>
                <a:spcPct val="150000"/>
              </a:lnSpc>
            </a:pPr>
            <a:endParaRPr lang="en-US" sz="1400" dirty="0">
              <a:latin typeface="Times New Roman" panose="02020603050405020304" pitchFamily="18" charset="0"/>
              <a:cs typeface="Times New Roman" panose="02020603050405020304" pitchFamily="18" charset="0"/>
            </a:endParaRPr>
          </a:p>
          <a:p>
            <a:pPr>
              <a:lnSpc>
                <a:spcPct val="150000"/>
              </a:lnSpc>
            </a:pPr>
            <a:r>
              <a:rPr lang="en-US" sz="2800" b="1" dirty="0">
                <a:latin typeface="Times New Roman" panose="02020603050405020304" pitchFamily="18" charset="0"/>
                <a:cs typeface="Times New Roman" panose="02020603050405020304" pitchFamily="18" charset="0"/>
              </a:rPr>
              <a:t>5. Dataset</a:t>
            </a:r>
          </a:p>
          <a:p>
            <a:pPr lvl="1">
              <a:lnSpc>
                <a:spcPct val="150000"/>
              </a:lnSpc>
            </a:pPr>
            <a:r>
              <a:rPr lang="en-US" sz="2600" b="0" i="0" u="none" strike="noStrike" baseline="0" dirty="0">
                <a:solidFill>
                  <a:srgbClr val="000000"/>
                </a:solidFill>
                <a:latin typeface="Times New Roman" panose="02020603050405020304" pitchFamily="18" charset="0"/>
              </a:rPr>
              <a:t>The dataset has been collected from the healthy hand using EMG sensors for open and closed hand gestures. The dataset contains raw values of the EMG ranging from 500 to 2000. Total of 10000 samples are collects from one hand to process the data into a csv file. </a:t>
            </a:r>
            <a:endParaRPr lang="en-US" sz="2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3483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19003-EC3E-DF91-DA27-4E0460786A86}"/>
              </a:ext>
            </a:extLst>
          </p:cNvPr>
          <p:cNvSpPr>
            <a:spLocks noGrp="1"/>
          </p:cNvSpPr>
          <p:nvPr>
            <p:ph type="title"/>
          </p:nvPr>
        </p:nvSpPr>
        <p:spPr>
          <a:xfrm>
            <a:off x="838200" y="365125"/>
            <a:ext cx="10515600" cy="854075"/>
          </a:xfrm>
        </p:spPr>
        <p:txBody>
          <a:bodyPr>
            <a:normAutofit/>
          </a:bodyPr>
          <a:lstStyle/>
          <a:p>
            <a:r>
              <a:rPr lang="en-US" sz="2800" b="1" dirty="0">
                <a:latin typeface="Times New Roman" panose="02020603050405020304" pitchFamily="18" charset="0"/>
                <a:cs typeface="Times New Roman" panose="02020603050405020304" pitchFamily="18" charset="0"/>
              </a:rPr>
              <a:t>6. Algorithm </a:t>
            </a:r>
          </a:p>
        </p:txBody>
      </p:sp>
      <p:sp>
        <p:nvSpPr>
          <p:cNvPr id="3" name="Content Placeholder 2">
            <a:extLst>
              <a:ext uri="{FF2B5EF4-FFF2-40B4-BE49-F238E27FC236}">
                <a16:creationId xmlns:a16="http://schemas.microsoft.com/office/drawing/2014/main" id="{A9EFE0EB-CDE6-2921-D2AA-4B9965EA2B9D}"/>
              </a:ext>
            </a:extLst>
          </p:cNvPr>
          <p:cNvSpPr>
            <a:spLocks noGrp="1"/>
          </p:cNvSpPr>
          <p:nvPr>
            <p:ph idx="1"/>
          </p:nvPr>
        </p:nvSpPr>
        <p:spPr>
          <a:xfrm>
            <a:off x="838200" y="1353677"/>
            <a:ext cx="10515600" cy="4351338"/>
          </a:xfrm>
        </p:spPr>
        <p:txBody>
          <a:bodyPr>
            <a:normAutofit fontScale="70000" lnSpcReduction="20000"/>
          </a:bodyPr>
          <a:lstStyle/>
          <a:p>
            <a:pPr>
              <a:buFont typeface="Wingdings" panose="05000000000000000000" pitchFamily="2" charset="2"/>
              <a:buChar char="Ø"/>
            </a:pPr>
            <a:r>
              <a:rPr lang="en-US" sz="3700" b="1" dirty="0">
                <a:latin typeface="Times New Roman" panose="02020603050405020304" pitchFamily="18" charset="0"/>
                <a:cs typeface="Times New Roman" panose="02020603050405020304" pitchFamily="18" charset="0"/>
              </a:rPr>
              <a:t>Artificial Neural Network</a:t>
            </a:r>
          </a:p>
          <a:p>
            <a:pPr lvl="1">
              <a:lnSpc>
                <a:spcPct val="160000"/>
              </a:lnSpc>
            </a:pPr>
            <a:r>
              <a:rPr lang="en-US" sz="2600" dirty="0">
                <a:latin typeface="Times New Roman" panose="02020603050405020304" pitchFamily="18" charset="0"/>
                <a:cs typeface="Times New Roman" panose="02020603050405020304" pitchFamily="18" charset="0"/>
              </a:rPr>
              <a:t>Computational models inspired by the human brain's biological neural networks</a:t>
            </a:r>
          </a:p>
          <a:p>
            <a:pPr lvl="1">
              <a:lnSpc>
                <a:spcPct val="160000"/>
              </a:lnSpc>
            </a:pPr>
            <a:r>
              <a:rPr lang="en-US" sz="2600" dirty="0">
                <a:latin typeface="Times New Roman" panose="02020603050405020304" pitchFamily="18" charset="0"/>
                <a:cs typeface="Times New Roman" panose="02020603050405020304" pitchFamily="18" charset="0"/>
              </a:rPr>
              <a:t>Used in various applications: classification, regression, clustering, </a:t>
            </a:r>
            <a:r>
              <a:rPr lang="en-US" sz="2600" dirty="0" err="1">
                <a:latin typeface="Times New Roman" panose="02020603050405020304" pitchFamily="18" charset="0"/>
                <a:cs typeface="Times New Roman" panose="02020603050405020304" pitchFamily="18" charset="0"/>
              </a:rPr>
              <a:t>etc</a:t>
            </a:r>
            <a:endParaRPr lang="en-US" sz="2600" dirty="0">
              <a:latin typeface="Times New Roman" panose="02020603050405020304" pitchFamily="18" charset="0"/>
              <a:cs typeface="Times New Roman" panose="02020603050405020304" pitchFamily="18" charset="0"/>
            </a:endParaRPr>
          </a:p>
          <a:p>
            <a:pPr lvl="1">
              <a:lnSpc>
                <a:spcPct val="160000"/>
              </a:lnSpc>
            </a:pPr>
            <a:r>
              <a:rPr lang="en-US" sz="2600" dirty="0">
                <a:latin typeface="Times New Roman" panose="02020603050405020304" pitchFamily="18" charset="0"/>
                <a:cs typeface="Times New Roman" panose="02020603050405020304" pitchFamily="18" charset="0"/>
              </a:rPr>
              <a:t>Composed of neurons that receive, process, and produce information, where each neuron has an associated weight that can be adjusted during learning</a:t>
            </a:r>
          </a:p>
          <a:p>
            <a:pPr lvl="1">
              <a:lnSpc>
                <a:spcPct val="160000"/>
              </a:lnSpc>
            </a:pPr>
            <a:r>
              <a:rPr lang="en-US" sz="2600" dirty="0">
                <a:latin typeface="Times New Roman" panose="02020603050405020304" pitchFamily="18" charset="0"/>
                <a:cs typeface="Times New Roman" panose="02020603050405020304" pitchFamily="18" charset="0"/>
              </a:rPr>
              <a:t>Organized into three distinct layers</a:t>
            </a:r>
          </a:p>
          <a:p>
            <a:pPr marL="1257300" lvl="2" indent="-342900">
              <a:lnSpc>
                <a:spcPct val="160000"/>
              </a:lnSpc>
              <a:buFont typeface="+mj-lt"/>
              <a:buAutoNum type="arabicPeriod"/>
            </a:pPr>
            <a:r>
              <a:rPr lang="en-US" sz="2600" dirty="0">
                <a:latin typeface="Times New Roman" panose="02020603050405020304" pitchFamily="18" charset="0"/>
                <a:cs typeface="Times New Roman" panose="02020603050405020304" pitchFamily="18" charset="0"/>
              </a:rPr>
              <a:t>Input layer</a:t>
            </a:r>
          </a:p>
          <a:p>
            <a:pPr marL="1257300" lvl="2" indent="-342900">
              <a:lnSpc>
                <a:spcPct val="160000"/>
              </a:lnSpc>
              <a:buFont typeface="+mj-lt"/>
              <a:buAutoNum type="arabicPeriod"/>
            </a:pPr>
            <a:r>
              <a:rPr lang="en-US" sz="2600" dirty="0">
                <a:latin typeface="Times New Roman" panose="02020603050405020304" pitchFamily="18" charset="0"/>
                <a:cs typeface="Times New Roman" panose="02020603050405020304" pitchFamily="18" charset="0"/>
              </a:rPr>
              <a:t>Hidden layer</a:t>
            </a:r>
          </a:p>
          <a:p>
            <a:pPr marL="1257300" lvl="2" indent="-342900">
              <a:lnSpc>
                <a:spcPct val="160000"/>
              </a:lnSpc>
              <a:buFont typeface="+mj-lt"/>
              <a:buAutoNum type="arabicPeriod"/>
            </a:pPr>
            <a:r>
              <a:rPr lang="en-US" sz="2600" dirty="0">
                <a:latin typeface="Times New Roman" panose="02020603050405020304" pitchFamily="18" charset="0"/>
                <a:cs typeface="Times New Roman" panose="02020603050405020304" pitchFamily="18" charset="0"/>
              </a:rPr>
              <a:t>Output layer</a:t>
            </a:r>
          </a:p>
          <a:p>
            <a:pPr lvl="1">
              <a:lnSpc>
                <a:spcPct val="160000"/>
              </a:lnSpc>
            </a:pPr>
            <a:r>
              <a:rPr lang="en-US" sz="2600" dirty="0">
                <a:latin typeface="Times New Roman" panose="02020603050405020304" pitchFamily="18" charset="0"/>
                <a:cs typeface="Times New Roman" panose="02020603050405020304" pitchFamily="18" charset="0"/>
              </a:rPr>
              <a:t>Can handle complex tasks like pattern recognition, predictive analysis, and large datasets</a:t>
            </a:r>
          </a:p>
        </p:txBody>
      </p:sp>
    </p:spTree>
    <p:extLst>
      <p:ext uri="{BB962C8B-B14F-4D97-AF65-F5344CB8AC3E}">
        <p14:creationId xmlns:p14="http://schemas.microsoft.com/office/powerpoint/2010/main" val="29685985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6FE25-C1BB-46EE-BCA4-7C981673C3C9}"/>
              </a:ext>
            </a:extLst>
          </p:cNvPr>
          <p:cNvSpPr>
            <a:spLocks noGrp="1"/>
          </p:cNvSpPr>
          <p:nvPr>
            <p:ph type="title"/>
          </p:nvPr>
        </p:nvSpPr>
        <p:spPr>
          <a:xfrm>
            <a:off x="838200" y="365126"/>
            <a:ext cx="10515600" cy="726256"/>
          </a:xfrm>
        </p:spPr>
        <p:txBody>
          <a:bodyPr>
            <a:normAutofit/>
          </a:bodyPr>
          <a:lstStyle/>
          <a:p>
            <a:pPr marL="457200" indent="-457200">
              <a:buFont typeface="Wingdings" panose="05000000000000000000" pitchFamily="2" charset="2"/>
              <a:buChar char="Ø"/>
            </a:pPr>
            <a:r>
              <a:rPr lang="en-US" sz="2800" b="1" dirty="0">
                <a:latin typeface="Times New Roman" panose="02020603050405020304" pitchFamily="18" charset="0"/>
                <a:cs typeface="Times New Roman" panose="02020603050405020304" pitchFamily="18" charset="0"/>
              </a:rPr>
              <a:t>Long Short Term Memory</a:t>
            </a:r>
          </a:p>
        </p:txBody>
      </p:sp>
      <p:sp>
        <p:nvSpPr>
          <p:cNvPr id="3" name="Content Placeholder 2">
            <a:extLst>
              <a:ext uri="{FF2B5EF4-FFF2-40B4-BE49-F238E27FC236}">
                <a16:creationId xmlns:a16="http://schemas.microsoft.com/office/drawing/2014/main" id="{3274052A-5FBF-1379-303D-E0698EB89AC5}"/>
              </a:ext>
            </a:extLst>
          </p:cNvPr>
          <p:cNvSpPr>
            <a:spLocks noGrp="1"/>
          </p:cNvSpPr>
          <p:nvPr>
            <p:ph idx="1"/>
          </p:nvPr>
        </p:nvSpPr>
        <p:spPr>
          <a:xfrm>
            <a:off x="838200" y="1533832"/>
            <a:ext cx="10515600" cy="4643131"/>
          </a:xfrm>
        </p:spPr>
        <p:txBody>
          <a:bodyPr>
            <a:normAutofit/>
          </a:bodyPr>
          <a:lstStyle/>
          <a:p>
            <a:pPr>
              <a:lnSpc>
                <a:spcPct val="150000"/>
              </a:lnSpc>
            </a:pPr>
            <a:r>
              <a:rPr lang="en-US" sz="2600" dirty="0">
                <a:latin typeface="Times New Roman" panose="02020603050405020304" pitchFamily="18" charset="0"/>
                <a:cs typeface="Times New Roman" panose="02020603050405020304" pitchFamily="18" charset="0"/>
              </a:rPr>
              <a:t>It can maintain long-term dependencies in sequential data to process and analyze it</a:t>
            </a:r>
          </a:p>
          <a:p>
            <a:pPr>
              <a:lnSpc>
                <a:spcPct val="150000"/>
              </a:lnSpc>
            </a:pPr>
            <a:r>
              <a:rPr lang="en-US" sz="2600" dirty="0">
                <a:latin typeface="Times New Roman" panose="02020603050405020304" pitchFamily="18" charset="0"/>
                <a:cs typeface="Times New Roman" panose="02020603050405020304" pitchFamily="18" charset="0"/>
              </a:rPr>
              <a:t>Use memory cells to store information </a:t>
            </a:r>
          </a:p>
          <a:p>
            <a:pPr>
              <a:lnSpc>
                <a:spcPct val="150000"/>
              </a:lnSpc>
            </a:pPr>
            <a:r>
              <a:rPr lang="en-US" sz="2600" dirty="0">
                <a:latin typeface="Times New Roman" panose="02020603050405020304" pitchFamily="18" charset="0"/>
                <a:cs typeface="Times New Roman" panose="02020603050405020304" pitchFamily="18" charset="0"/>
              </a:rPr>
              <a:t>It consists of three key gates to control information flow:</a:t>
            </a:r>
          </a:p>
          <a:p>
            <a:pPr marL="914400" lvl="1" indent="-457200">
              <a:lnSpc>
                <a:spcPct val="150000"/>
              </a:lnSpc>
              <a:buFont typeface="+mj-lt"/>
              <a:buAutoNum type="arabicPeriod"/>
            </a:pPr>
            <a:r>
              <a:rPr lang="en-US" sz="2600" dirty="0">
                <a:latin typeface="Times New Roman" panose="02020603050405020304" pitchFamily="18" charset="0"/>
                <a:cs typeface="Times New Roman" panose="02020603050405020304" pitchFamily="18" charset="0"/>
              </a:rPr>
              <a:t>Input Gate</a:t>
            </a:r>
          </a:p>
          <a:p>
            <a:pPr marL="914400" lvl="1" indent="-457200">
              <a:lnSpc>
                <a:spcPct val="150000"/>
              </a:lnSpc>
              <a:buFont typeface="+mj-lt"/>
              <a:buAutoNum type="arabicPeriod"/>
            </a:pPr>
            <a:r>
              <a:rPr lang="en-US" sz="2600" dirty="0">
                <a:latin typeface="Times New Roman" panose="02020603050405020304" pitchFamily="18" charset="0"/>
                <a:cs typeface="Times New Roman" panose="02020603050405020304" pitchFamily="18" charset="0"/>
              </a:rPr>
              <a:t>Forget Gate</a:t>
            </a:r>
          </a:p>
          <a:p>
            <a:pPr marL="914400" lvl="1" indent="-457200">
              <a:lnSpc>
                <a:spcPct val="150000"/>
              </a:lnSpc>
              <a:buFont typeface="+mj-lt"/>
              <a:buAutoNum type="arabicPeriod"/>
            </a:pPr>
            <a:r>
              <a:rPr lang="en-US" sz="2600" dirty="0">
                <a:latin typeface="Times New Roman" panose="02020603050405020304" pitchFamily="18" charset="0"/>
                <a:cs typeface="Times New Roman" panose="02020603050405020304" pitchFamily="18" charset="0"/>
              </a:rPr>
              <a:t>Output Gate</a:t>
            </a:r>
          </a:p>
        </p:txBody>
      </p:sp>
    </p:spTree>
    <p:extLst>
      <p:ext uri="{BB962C8B-B14F-4D97-AF65-F5344CB8AC3E}">
        <p14:creationId xmlns:p14="http://schemas.microsoft.com/office/powerpoint/2010/main" val="26326455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4DD19-583E-F5B1-3B95-115266857EC1}"/>
              </a:ext>
            </a:extLst>
          </p:cNvPr>
          <p:cNvSpPr>
            <a:spLocks noGrp="1"/>
          </p:cNvSpPr>
          <p:nvPr>
            <p:ph type="title"/>
          </p:nvPr>
        </p:nvSpPr>
        <p:spPr>
          <a:xfrm>
            <a:off x="838200" y="905901"/>
            <a:ext cx="10515600" cy="598436"/>
          </a:xfrm>
        </p:spPr>
        <p:txBody>
          <a:bodyPr>
            <a:normAutofit/>
          </a:bodyPr>
          <a:lstStyle/>
          <a:p>
            <a:pPr marL="457200" indent="-457200">
              <a:buFont typeface="Wingdings" panose="05000000000000000000" pitchFamily="2" charset="2"/>
              <a:buChar char="Ø"/>
            </a:pPr>
            <a:r>
              <a:rPr lang="en-US" sz="2600" b="1" dirty="0">
                <a:latin typeface="Times New Roman" panose="02020603050405020304" pitchFamily="18" charset="0"/>
                <a:cs typeface="Times New Roman" panose="02020603050405020304" pitchFamily="18" charset="0"/>
              </a:rPr>
              <a:t>Support Vector Machine</a:t>
            </a:r>
          </a:p>
        </p:txBody>
      </p:sp>
      <p:sp>
        <p:nvSpPr>
          <p:cNvPr id="3" name="Content Placeholder 2">
            <a:extLst>
              <a:ext uri="{FF2B5EF4-FFF2-40B4-BE49-F238E27FC236}">
                <a16:creationId xmlns:a16="http://schemas.microsoft.com/office/drawing/2014/main" id="{34AC71E2-1565-5535-9F1C-7B30BF264513}"/>
              </a:ext>
            </a:extLst>
          </p:cNvPr>
          <p:cNvSpPr>
            <a:spLocks noGrp="1"/>
          </p:cNvSpPr>
          <p:nvPr>
            <p:ph idx="1"/>
          </p:nvPr>
        </p:nvSpPr>
        <p:spPr>
          <a:xfrm>
            <a:off x="838200" y="1678142"/>
            <a:ext cx="10515600" cy="4351338"/>
          </a:xfrm>
        </p:spPr>
        <p:txBody>
          <a:bodyPr>
            <a:normAutofit/>
          </a:bodyPr>
          <a:lstStyle/>
          <a:p>
            <a:pPr>
              <a:lnSpc>
                <a:spcPct val="150000"/>
              </a:lnSpc>
            </a:pPr>
            <a:r>
              <a:rPr lang="en-US" sz="2600" dirty="0">
                <a:latin typeface="Times New Roman" panose="02020603050405020304" pitchFamily="18" charset="0"/>
                <a:cs typeface="Times New Roman" panose="02020603050405020304" pitchFamily="18" charset="0"/>
              </a:rPr>
              <a:t>Supervised machine learning technique, which classifies data by finding optimal lines or hyperplanes</a:t>
            </a:r>
          </a:p>
          <a:p>
            <a:pPr>
              <a:lnSpc>
                <a:spcPct val="150000"/>
              </a:lnSpc>
            </a:pPr>
            <a:r>
              <a:rPr lang="en-US" sz="2600" dirty="0">
                <a:latin typeface="Times New Roman" panose="02020603050405020304" pitchFamily="18" charset="0"/>
                <a:cs typeface="Times New Roman" panose="02020603050405020304" pitchFamily="18" charset="0"/>
              </a:rPr>
              <a:t>For non-linear data, kernel functions are used</a:t>
            </a:r>
          </a:p>
          <a:p>
            <a:pPr>
              <a:lnSpc>
                <a:spcPct val="150000"/>
              </a:lnSpc>
            </a:pPr>
            <a:r>
              <a:rPr lang="en-US" sz="2600" dirty="0">
                <a:latin typeface="Times New Roman" panose="02020603050405020304" pitchFamily="18" charset="0"/>
                <a:cs typeface="Times New Roman" panose="02020603050405020304" pitchFamily="18" charset="0"/>
              </a:rPr>
              <a:t>Kernel functions transform data into high-dimensional space, enabling linear separation of non-linear data</a:t>
            </a:r>
          </a:p>
          <a:p>
            <a:pPr>
              <a:lnSpc>
                <a:spcPct val="150000"/>
              </a:lnSpc>
            </a:pPr>
            <a:r>
              <a:rPr lang="en-US" sz="2600" dirty="0">
                <a:latin typeface="Times New Roman" panose="02020603050405020304" pitchFamily="18" charset="0"/>
                <a:cs typeface="Times New Roman" panose="02020603050405020304" pitchFamily="18" charset="0"/>
              </a:rPr>
              <a:t>The primary goal of SVM is to find the optimal decision boundary</a:t>
            </a:r>
          </a:p>
        </p:txBody>
      </p:sp>
    </p:spTree>
    <p:extLst>
      <p:ext uri="{BB962C8B-B14F-4D97-AF65-F5344CB8AC3E}">
        <p14:creationId xmlns:p14="http://schemas.microsoft.com/office/powerpoint/2010/main" val="21715724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03236"/>
          </a:xfrm>
        </p:spPr>
        <p:txBody>
          <a:bodyPr/>
          <a:lstStyle/>
          <a:p>
            <a:r>
              <a:rPr lang="en-US" b="1" dirty="0">
                <a:latin typeface="Times New Roman" panose="02020603050405020304" pitchFamily="18" charset="0"/>
                <a:cs typeface="Times New Roman" panose="02020603050405020304" pitchFamily="18" charset="0"/>
              </a:rPr>
              <a:t>Planning and Scheduling </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081087"/>
            <a:ext cx="10515600" cy="5644177"/>
          </a:xfrm>
        </p:spPr>
        <p:txBody>
          <a:bodyPr>
            <a:noAutofit/>
          </a:bodyPr>
          <a:lstStyle/>
          <a:p>
            <a:pPr>
              <a:lnSpc>
                <a:spcPct val="160000"/>
              </a:lnSpc>
            </a:pPr>
            <a:r>
              <a:rPr lang="en-US" sz="2600" dirty="0">
                <a:latin typeface="Times New Roman" panose="02020603050405020304" pitchFamily="18" charset="0"/>
                <a:cs typeface="Times New Roman" panose="02020603050405020304" pitchFamily="18" charset="0"/>
              </a:rPr>
              <a:t>Understanding the problem domain and the difficulties people facing with hand paralysis</a:t>
            </a:r>
          </a:p>
          <a:p>
            <a:pPr>
              <a:lnSpc>
                <a:spcPct val="160000"/>
              </a:lnSpc>
            </a:pPr>
            <a:r>
              <a:rPr lang="en-US" sz="2600" dirty="0">
                <a:latin typeface="Times New Roman" panose="02020603050405020304" pitchFamily="18" charset="0"/>
                <a:cs typeface="Times New Roman" panose="02020603050405020304" pitchFamily="18" charset="0"/>
              </a:rPr>
              <a:t>Gathering information related to the specified problem</a:t>
            </a:r>
          </a:p>
          <a:p>
            <a:pPr>
              <a:lnSpc>
                <a:spcPct val="160000"/>
              </a:lnSpc>
            </a:pPr>
            <a:r>
              <a:rPr lang="en-US" sz="2600" dirty="0">
                <a:latin typeface="Times New Roman" panose="02020603050405020304" pitchFamily="18" charset="0"/>
                <a:cs typeface="Times New Roman" panose="02020603050405020304" pitchFamily="18" charset="0"/>
              </a:rPr>
              <a:t>Collection of the required hardware components and software applications </a:t>
            </a:r>
          </a:p>
          <a:p>
            <a:pPr>
              <a:lnSpc>
                <a:spcPct val="160000"/>
              </a:lnSpc>
            </a:pPr>
            <a:r>
              <a:rPr lang="en-US" sz="2600" dirty="0">
                <a:latin typeface="Times New Roman" panose="02020603050405020304" pitchFamily="18" charset="0"/>
                <a:cs typeface="Times New Roman" panose="02020603050405020304" pitchFamily="18" charset="0"/>
              </a:rPr>
              <a:t>Analyzing the feasibility of the project</a:t>
            </a:r>
          </a:p>
          <a:p>
            <a:pPr>
              <a:lnSpc>
                <a:spcPct val="160000"/>
              </a:lnSpc>
            </a:pPr>
            <a:r>
              <a:rPr lang="en-US" sz="2600" dirty="0">
                <a:latin typeface="Times New Roman" panose="02020603050405020304" pitchFamily="18" charset="0"/>
                <a:cs typeface="Times New Roman" panose="02020603050405020304" pitchFamily="18" charset="0"/>
              </a:rPr>
              <a:t>Study of the suitable Machine Learning model that can be deployed on the system</a:t>
            </a:r>
          </a:p>
        </p:txBody>
      </p:sp>
    </p:spTree>
    <p:extLst>
      <p:ext uri="{BB962C8B-B14F-4D97-AF65-F5344CB8AC3E}">
        <p14:creationId xmlns:p14="http://schemas.microsoft.com/office/powerpoint/2010/main" val="41597859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54258" y="1018115"/>
            <a:ext cx="10283483" cy="4221605"/>
          </a:xfrm>
          <a:prstGeom prst="rect">
            <a:avLst/>
          </a:prstGeom>
          <a:noFill/>
        </p:spPr>
        <p:txBody>
          <a:bodyPr wrap="square" rtlCol="0">
            <a:spAutoFit/>
          </a:bodyPr>
          <a:lstStyle/>
          <a:p>
            <a:pPr marL="457200" indent="-457200">
              <a:lnSpc>
                <a:spcPct val="15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Designing the present system and verifying whether it is accepting inputs</a:t>
            </a:r>
          </a:p>
          <a:p>
            <a:pPr marL="457200" indent="-457200">
              <a:lnSpc>
                <a:spcPct val="15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Collect or create dataset</a:t>
            </a:r>
          </a:p>
          <a:p>
            <a:pPr marL="457200" indent="-457200">
              <a:lnSpc>
                <a:spcPct val="15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Training the Machine Learning model using suitable algorithm</a:t>
            </a:r>
          </a:p>
          <a:p>
            <a:pPr marL="457200" indent="-457200">
              <a:lnSpc>
                <a:spcPct val="15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Deploying the ML model on the designed system</a:t>
            </a:r>
          </a:p>
          <a:p>
            <a:pPr marL="457200" indent="-457200">
              <a:lnSpc>
                <a:spcPct val="15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Analyzing the results obtained by giving real time input to the system </a:t>
            </a:r>
          </a:p>
          <a:p>
            <a:pPr marL="457200" indent="-457200">
              <a:lnSpc>
                <a:spcPct val="15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The system mimicking the gesture performed by the healthy</a:t>
            </a:r>
            <a:endParaRPr 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04277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B68A8-0368-8613-9865-224506A21FFE}"/>
              </a:ext>
            </a:extLst>
          </p:cNvPr>
          <p:cNvSpPr>
            <a:spLocks noGrp="1"/>
          </p:cNvSpPr>
          <p:nvPr>
            <p:ph type="title"/>
          </p:nvPr>
        </p:nvSpPr>
        <p:spPr>
          <a:xfrm>
            <a:off x="838200" y="365125"/>
            <a:ext cx="10515600" cy="618101"/>
          </a:xfrm>
        </p:spPr>
        <p:txBody>
          <a:bodyPr>
            <a:normAutofit fontScale="90000"/>
          </a:bodyPr>
          <a:lstStyle/>
          <a:p>
            <a:r>
              <a:rPr lang="en-US" sz="4400" b="1" dirty="0">
                <a:latin typeface="Times New Roman" panose="02020603050405020304" pitchFamily="18" charset="0"/>
                <a:cs typeface="Times New Roman" panose="02020603050405020304" pitchFamily="18" charset="0"/>
              </a:rPr>
              <a:t>System Design</a:t>
            </a:r>
            <a:endParaRPr lang="en-US" dirty="0"/>
          </a:p>
        </p:txBody>
      </p:sp>
      <p:pic>
        <p:nvPicPr>
          <p:cNvPr id="4" name="Content Placeholder 3">
            <a:extLst>
              <a:ext uri="{FF2B5EF4-FFF2-40B4-BE49-F238E27FC236}">
                <a16:creationId xmlns:a16="http://schemas.microsoft.com/office/drawing/2014/main" id="{6EB7CA55-424B-FA5F-4963-83089EA11D49}"/>
              </a:ext>
            </a:extLst>
          </p:cNvPr>
          <p:cNvPicPr>
            <a:picLocks noGrp="1" noChangeAspect="1"/>
          </p:cNvPicPr>
          <p:nvPr>
            <p:ph idx="1"/>
          </p:nvPr>
        </p:nvPicPr>
        <p:blipFill>
          <a:blip r:embed="rId2"/>
          <a:stretch>
            <a:fillRect/>
          </a:stretch>
        </p:blipFill>
        <p:spPr>
          <a:xfrm>
            <a:off x="2723534" y="1052513"/>
            <a:ext cx="6813755" cy="5124450"/>
          </a:xfrm>
          <a:prstGeom prst="rect">
            <a:avLst/>
          </a:prstGeom>
        </p:spPr>
      </p:pic>
      <p:sp>
        <p:nvSpPr>
          <p:cNvPr id="5" name="TextBox 4">
            <a:extLst>
              <a:ext uri="{FF2B5EF4-FFF2-40B4-BE49-F238E27FC236}">
                <a16:creationId xmlns:a16="http://schemas.microsoft.com/office/drawing/2014/main" id="{5642CEA7-1024-7AF0-F535-4C061377D691}"/>
              </a:ext>
            </a:extLst>
          </p:cNvPr>
          <p:cNvSpPr txBox="1"/>
          <p:nvPr/>
        </p:nvSpPr>
        <p:spPr>
          <a:xfrm>
            <a:off x="3746089" y="6246250"/>
            <a:ext cx="5073445"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 5: Block Diagram of the System</a:t>
            </a:r>
          </a:p>
        </p:txBody>
      </p:sp>
    </p:spTree>
    <p:extLst>
      <p:ext uri="{BB962C8B-B14F-4D97-AF65-F5344CB8AC3E}">
        <p14:creationId xmlns:p14="http://schemas.microsoft.com/office/powerpoint/2010/main" val="17207440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0EE5C-0383-458E-8948-408F598BC40C}"/>
              </a:ext>
            </a:extLst>
          </p:cNvPr>
          <p:cNvSpPr>
            <a:spLocks noGrp="1"/>
          </p:cNvSpPr>
          <p:nvPr>
            <p:ph type="title"/>
          </p:nvPr>
        </p:nvSpPr>
        <p:spPr>
          <a:xfrm>
            <a:off x="838200" y="365125"/>
            <a:ext cx="10515600" cy="618849"/>
          </a:xfrm>
        </p:spPr>
        <p:txBody>
          <a:bodyPr>
            <a:normAutofit fontScale="90000"/>
          </a:bodyPr>
          <a:lstStyle/>
          <a:p>
            <a:r>
              <a:rPr lang="en-US" sz="4400" b="1" dirty="0">
                <a:latin typeface="Times New Roman" panose="02020603050405020304" pitchFamily="18" charset="0"/>
                <a:cs typeface="Times New Roman" panose="02020603050405020304" pitchFamily="18" charset="0"/>
              </a:rPr>
              <a:t>Experimental Work</a:t>
            </a:r>
            <a:endParaRPr lang="en-IN" dirty="0"/>
          </a:p>
        </p:txBody>
      </p:sp>
      <p:pic>
        <p:nvPicPr>
          <p:cNvPr id="5" name="Content Placeholder 4">
            <a:extLst>
              <a:ext uri="{FF2B5EF4-FFF2-40B4-BE49-F238E27FC236}">
                <a16:creationId xmlns:a16="http://schemas.microsoft.com/office/drawing/2014/main" id="{60167760-A7E2-45FD-8A44-D7A2B94A1691}"/>
              </a:ext>
            </a:extLst>
          </p:cNvPr>
          <p:cNvPicPr>
            <a:picLocks noGrp="1" noChangeAspect="1"/>
          </p:cNvPicPr>
          <p:nvPr>
            <p:ph idx="1"/>
          </p:nvPr>
        </p:nvPicPr>
        <p:blipFill>
          <a:blip r:embed="rId2"/>
          <a:stretch>
            <a:fillRect/>
          </a:stretch>
        </p:blipFill>
        <p:spPr>
          <a:xfrm>
            <a:off x="838200" y="1172887"/>
            <a:ext cx="5528608" cy="5073650"/>
          </a:xfrm>
        </p:spPr>
      </p:pic>
      <p:pic>
        <p:nvPicPr>
          <p:cNvPr id="7" name="Picture 6">
            <a:extLst>
              <a:ext uri="{FF2B5EF4-FFF2-40B4-BE49-F238E27FC236}">
                <a16:creationId xmlns:a16="http://schemas.microsoft.com/office/drawing/2014/main" id="{86897057-73FB-48C1-8982-1215E8F1A1E3}"/>
              </a:ext>
            </a:extLst>
          </p:cNvPr>
          <p:cNvPicPr>
            <a:picLocks noChangeAspect="1"/>
          </p:cNvPicPr>
          <p:nvPr/>
        </p:nvPicPr>
        <p:blipFill>
          <a:blip r:embed="rId3"/>
          <a:stretch>
            <a:fillRect/>
          </a:stretch>
        </p:blipFill>
        <p:spPr>
          <a:xfrm>
            <a:off x="6460436" y="1172886"/>
            <a:ext cx="5416794" cy="5073651"/>
          </a:xfrm>
          <a:prstGeom prst="rect">
            <a:avLst/>
          </a:prstGeom>
        </p:spPr>
      </p:pic>
      <p:sp>
        <p:nvSpPr>
          <p:cNvPr id="8" name="TextBox 7">
            <a:extLst>
              <a:ext uri="{FF2B5EF4-FFF2-40B4-BE49-F238E27FC236}">
                <a16:creationId xmlns:a16="http://schemas.microsoft.com/office/drawing/2014/main" id="{7CC32E11-CEC4-4A72-93C0-A09369761820}"/>
              </a:ext>
            </a:extLst>
          </p:cNvPr>
          <p:cNvSpPr txBox="1"/>
          <p:nvPr/>
        </p:nvSpPr>
        <p:spPr>
          <a:xfrm>
            <a:off x="2445026" y="6306378"/>
            <a:ext cx="7633252" cy="367748"/>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Fig. 6: Reading EMG Data </a:t>
            </a:r>
          </a:p>
        </p:txBody>
      </p:sp>
    </p:spTree>
    <p:extLst>
      <p:ext uri="{BB962C8B-B14F-4D97-AF65-F5344CB8AC3E}">
        <p14:creationId xmlns:p14="http://schemas.microsoft.com/office/powerpoint/2010/main" val="15968401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EE888-9D5D-4214-AA6D-84FD4212F89D}"/>
              </a:ext>
            </a:extLst>
          </p:cNvPr>
          <p:cNvSpPr>
            <a:spLocks noGrp="1"/>
          </p:cNvSpPr>
          <p:nvPr>
            <p:ph type="title"/>
          </p:nvPr>
        </p:nvSpPr>
        <p:spPr>
          <a:xfrm>
            <a:off x="838200" y="365126"/>
            <a:ext cx="10515600" cy="559214"/>
          </a:xfrm>
        </p:spPr>
        <p:txBody>
          <a:bodyPr>
            <a:normAutofit fontScale="90000"/>
          </a:bodyPr>
          <a:lstStyle/>
          <a:p>
            <a:r>
              <a:rPr lang="en-US" sz="4400" b="1" dirty="0">
                <a:latin typeface="Times New Roman" panose="02020603050405020304" pitchFamily="18" charset="0"/>
                <a:cs typeface="Times New Roman" panose="02020603050405020304" pitchFamily="18" charset="0"/>
              </a:rPr>
              <a:t>Experimental Work</a:t>
            </a:r>
            <a:endParaRPr lang="en-IN" dirty="0"/>
          </a:p>
        </p:txBody>
      </p:sp>
      <p:pic>
        <p:nvPicPr>
          <p:cNvPr id="5" name="Content Placeholder 4">
            <a:extLst>
              <a:ext uri="{FF2B5EF4-FFF2-40B4-BE49-F238E27FC236}">
                <a16:creationId xmlns:a16="http://schemas.microsoft.com/office/drawing/2014/main" id="{836DE9DE-68FF-48B4-98DE-C1297D3BA62C}"/>
              </a:ext>
            </a:extLst>
          </p:cNvPr>
          <p:cNvPicPr>
            <a:picLocks noGrp="1" noChangeAspect="1"/>
          </p:cNvPicPr>
          <p:nvPr>
            <p:ph idx="1"/>
          </p:nvPr>
        </p:nvPicPr>
        <p:blipFill>
          <a:blip r:embed="rId2"/>
          <a:stretch>
            <a:fillRect/>
          </a:stretch>
        </p:blipFill>
        <p:spPr>
          <a:xfrm>
            <a:off x="838200" y="924340"/>
            <a:ext cx="4830190" cy="5347252"/>
          </a:xfrm>
        </p:spPr>
      </p:pic>
      <p:pic>
        <p:nvPicPr>
          <p:cNvPr id="7" name="Picture 6">
            <a:extLst>
              <a:ext uri="{FF2B5EF4-FFF2-40B4-BE49-F238E27FC236}">
                <a16:creationId xmlns:a16="http://schemas.microsoft.com/office/drawing/2014/main" id="{2EBA2275-4738-49E2-9A9E-E7D72F83D2F9}"/>
              </a:ext>
            </a:extLst>
          </p:cNvPr>
          <p:cNvPicPr>
            <a:picLocks noChangeAspect="1"/>
          </p:cNvPicPr>
          <p:nvPr/>
        </p:nvPicPr>
        <p:blipFill>
          <a:blip r:embed="rId3"/>
          <a:stretch>
            <a:fillRect/>
          </a:stretch>
        </p:blipFill>
        <p:spPr>
          <a:xfrm>
            <a:off x="6281448" y="924340"/>
            <a:ext cx="4916201" cy="5327374"/>
          </a:xfrm>
          <a:prstGeom prst="rect">
            <a:avLst/>
          </a:prstGeom>
        </p:spPr>
      </p:pic>
      <p:sp>
        <p:nvSpPr>
          <p:cNvPr id="10" name="TextBox 9">
            <a:extLst>
              <a:ext uri="{FF2B5EF4-FFF2-40B4-BE49-F238E27FC236}">
                <a16:creationId xmlns:a16="http://schemas.microsoft.com/office/drawing/2014/main" id="{85308300-54B7-45C8-A1A8-4FD45049B46A}"/>
              </a:ext>
            </a:extLst>
          </p:cNvPr>
          <p:cNvSpPr txBox="1"/>
          <p:nvPr/>
        </p:nvSpPr>
        <p:spPr>
          <a:xfrm>
            <a:off x="3031435" y="6271592"/>
            <a:ext cx="5168348" cy="369332"/>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Fig. 7 (a): Rotating Servo Motor</a:t>
            </a:r>
          </a:p>
        </p:txBody>
      </p:sp>
    </p:spTree>
    <p:extLst>
      <p:ext uri="{BB962C8B-B14F-4D97-AF65-F5344CB8AC3E}">
        <p14:creationId xmlns:p14="http://schemas.microsoft.com/office/powerpoint/2010/main" val="13721036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93257-27A0-4317-9D6F-7016DB011CC8}"/>
              </a:ext>
            </a:extLst>
          </p:cNvPr>
          <p:cNvSpPr>
            <a:spLocks noGrp="1"/>
          </p:cNvSpPr>
          <p:nvPr>
            <p:ph type="title"/>
          </p:nvPr>
        </p:nvSpPr>
        <p:spPr>
          <a:xfrm>
            <a:off x="838200" y="365126"/>
            <a:ext cx="10515600" cy="748058"/>
          </a:xfrm>
        </p:spPr>
        <p:txBody>
          <a:bodyPr/>
          <a:lstStyle/>
          <a:p>
            <a:r>
              <a:rPr lang="en-US" sz="4400" b="1" dirty="0">
                <a:latin typeface="Times New Roman" panose="02020603050405020304" pitchFamily="18" charset="0"/>
                <a:cs typeface="Times New Roman" panose="02020603050405020304" pitchFamily="18" charset="0"/>
              </a:rPr>
              <a:t>Experimental Work</a:t>
            </a:r>
            <a:endParaRPr lang="en-IN" dirty="0"/>
          </a:p>
        </p:txBody>
      </p:sp>
      <p:pic>
        <p:nvPicPr>
          <p:cNvPr id="4" name="Content Placeholder 3">
            <a:extLst>
              <a:ext uri="{FF2B5EF4-FFF2-40B4-BE49-F238E27FC236}">
                <a16:creationId xmlns:a16="http://schemas.microsoft.com/office/drawing/2014/main" id="{9157A920-D69E-4B85-8FAF-D3B74DB1E083}"/>
              </a:ext>
            </a:extLst>
          </p:cNvPr>
          <p:cNvPicPr>
            <a:picLocks noGrp="1" noChangeAspect="1"/>
          </p:cNvPicPr>
          <p:nvPr>
            <p:ph idx="1"/>
          </p:nvPr>
        </p:nvPicPr>
        <p:blipFill>
          <a:blip r:embed="rId2"/>
          <a:stretch>
            <a:fillRect/>
          </a:stretch>
        </p:blipFill>
        <p:spPr>
          <a:xfrm>
            <a:off x="3901279" y="1194248"/>
            <a:ext cx="4235669" cy="4697467"/>
          </a:xfrm>
          <a:prstGeom prst="rect">
            <a:avLst/>
          </a:prstGeom>
        </p:spPr>
      </p:pic>
      <p:sp>
        <p:nvSpPr>
          <p:cNvPr id="5" name="TextBox 4">
            <a:extLst>
              <a:ext uri="{FF2B5EF4-FFF2-40B4-BE49-F238E27FC236}">
                <a16:creationId xmlns:a16="http://schemas.microsoft.com/office/drawing/2014/main" id="{8C1B7E64-4FCD-43C8-B804-96C9E41FB444}"/>
              </a:ext>
            </a:extLst>
          </p:cNvPr>
          <p:cNvSpPr txBox="1"/>
          <p:nvPr/>
        </p:nvSpPr>
        <p:spPr>
          <a:xfrm>
            <a:off x="3836504" y="6152322"/>
            <a:ext cx="4343400" cy="369332"/>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Fig. 7 (b): Rotating Servo Motor</a:t>
            </a:r>
          </a:p>
        </p:txBody>
      </p:sp>
    </p:spTree>
    <p:extLst>
      <p:ext uri="{BB962C8B-B14F-4D97-AF65-F5344CB8AC3E}">
        <p14:creationId xmlns:p14="http://schemas.microsoft.com/office/powerpoint/2010/main" val="10361299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5D4C2-5BE1-D88E-CA18-74AAF3E62F3F}"/>
              </a:ext>
            </a:extLst>
          </p:cNvPr>
          <p:cNvSpPr>
            <a:spLocks noGrp="1"/>
          </p:cNvSpPr>
          <p:nvPr>
            <p:ph type="title"/>
          </p:nvPr>
        </p:nvSpPr>
        <p:spPr>
          <a:xfrm>
            <a:off x="838200" y="365126"/>
            <a:ext cx="10515600" cy="588604"/>
          </a:xfrm>
        </p:spPr>
        <p:txBody>
          <a:bodyPr>
            <a:normAutofit fontScale="90000"/>
          </a:bodyPr>
          <a:lstStyle/>
          <a:p>
            <a:r>
              <a:rPr lang="en-US" sz="4400" b="1" dirty="0">
                <a:latin typeface="Times New Roman" panose="02020603050405020304" pitchFamily="18" charset="0"/>
                <a:cs typeface="Times New Roman" panose="02020603050405020304" pitchFamily="18" charset="0"/>
              </a:rPr>
              <a:t>Experimental Work</a:t>
            </a:r>
            <a:endParaRPr lang="en-US" dirty="0"/>
          </a:p>
        </p:txBody>
      </p:sp>
      <p:pic>
        <p:nvPicPr>
          <p:cNvPr id="3" name="experimental_work">
            <a:hlinkClick r:id="" action="ppaction://media"/>
            <a:extLst>
              <a:ext uri="{FF2B5EF4-FFF2-40B4-BE49-F238E27FC236}">
                <a16:creationId xmlns:a16="http://schemas.microsoft.com/office/drawing/2014/main" id="{CDBF9FDB-3FD2-D5CD-438A-9BE8894077D7}"/>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687097" y="1199534"/>
            <a:ext cx="5909188" cy="5467965"/>
          </a:xfrm>
          <a:prstGeom prst="rect">
            <a:avLst/>
          </a:prstGeom>
        </p:spPr>
      </p:pic>
    </p:spTree>
    <p:extLst>
      <p:ext uri="{BB962C8B-B14F-4D97-AF65-F5344CB8AC3E}">
        <p14:creationId xmlns:p14="http://schemas.microsoft.com/office/powerpoint/2010/main" val="3417677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0835"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AC288-DD6D-4A92-B6FD-ABE94E539D26}"/>
              </a:ext>
            </a:extLst>
          </p:cNvPr>
          <p:cNvSpPr>
            <a:spLocks noGrp="1"/>
          </p:cNvSpPr>
          <p:nvPr>
            <p:ph type="title"/>
          </p:nvPr>
        </p:nvSpPr>
        <p:spPr>
          <a:xfrm>
            <a:off x="838200" y="365125"/>
            <a:ext cx="10515600" cy="887205"/>
          </a:xfrm>
        </p:spPr>
        <p:txBody>
          <a:bodyPr/>
          <a:lstStyle/>
          <a:p>
            <a:r>
              <a:rPr lang="en-US" sz="4400" b="1" dirty="0">
                <a:latin typeface="Times New Roman" panose="02020603050405020304" pitchFamily="18" charset="0"/>
                <a:cs typeface="Times New Roman" panose="02020603050405020304" pitchFamily="18" charset="0"/>
              </a:rPr>
              <a:t>Experimental Work</a:t>
            </a:r>
            <a:endParaRPr lang="en-IN" dirty="0"/>
          </a:p>
        </p:txBody>
      </p:sp>
      <p:pic>
        <p:nvPicPr>
          <p:cNvPr id="5" name="Content Placeholder 4">
            <a:extLst>
              <a:ext uri="{FF2B5EF4-FFF2-40B4-BE49-F238E27FC236}">
                <a16:creationId xmlns:a16="http://schemas.microsoft.com/office/drawing/2014/main" id="{559DC4E0-4C03-457C-9572-3B3FCB7D8A33}"/>
              </a:ext>
            </a:extLst>
          </p:cNvPr>
          <p:cNvPicPr>
            <a:picLocks noGrp="1" noChangeAspect="1"/>
          </p:cNvPicPr>
          <p:nvPr>
            <p:ph idx="1"/>
          </p:nvPr>
        </p:nvPicPr>
        <p:blipFill>
          <a:blip r:embed="rId2"/>
          <a:stretch>
            <a:fillRect/>
          </a:stretch>
        </p:blipFill>
        <p:spPr>
          <a:xfrm>
            <a:off x="838200" y="1379597"/>
            <a:ext cx="5552661" cy="4106803"/>
          </a:xfrm>
        </p:spPr>
      </p:pic>
      <p:pic>
        <p:nvPicPr>
          <p:cNvPr id="7" name="Picture 6">
            <a:extLst>
              <a:ext uri="{FF2B5EF4-FFF2-40B4-BE49-F238E27FC236}">
                <a16:creationId xmlns:a16="http://schemas.microsoft.com/office/drawing/2014/main" id="{E4BD6F47-E546-4F1C-956B-16D39DA57249}"/>
              </a:ext>
            </a:extLst>
          </p:cNvPr>
          <p:cNvPicPr>
            <a:picLocks noChangeAspect="1"/>
          </p:cNvPicPr>
          <p:nvPr/>
        </p:nvPicPr>
        <p:blipFill>
          <a:blip r:embed="rId3"/>
          <a:stretch>
            <a:fillRect/>
          </a:stretch>
        </p:blipFill>
        <p:spPr>
          <a:xfrm>
            <a:off x="6957391" y="1379597"/>
            <a:ext cx="4931252" cy="5319633"/>
          </a:xfrm>
          <a:prstGeom prst="rect">
            <a:avLst/>
          </a:prstGeom>
        </p:spPr>
      </p:pic>
      <p:sp>
        <p:nvSpPr>
          <p:cNvPr id="8" name="TextBox 7">
            <a:extLst>
              <a:ext uri="{FF2B5EF4-FFF2-40B4-BE49-F238E27FC236}">
                <a16:creationId xmlns:a16="http://schemas.microsoft.com/office/drawing/2014/main" id="{CD5C578B-01CF-468A-B8BC-6BB0A68A6DC3}"/>
              </a:ext>
            </a:extLst>
          </p:cNvPr>
          <p:cNvSpPr txBox="1"/>
          <p:nvPr/>
        </p:nvSpPr>
        <p:spPr>
          <a:xfrm>
            <a:off x="1123122" y="5774635"/>
            <a:ext cx="4611756" cy="369332"/>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Fig. 8: ANN Model</a:t>
            </a:r>
          </a:p>
        </p:txBody>
      </p:sp>
    </p:spTree>
    <p:extLst>
      <p:ext uri="{BB962C8B-B14F-4D97-AF65-F5344CB8AC3E}">
        <p14:creationId xmlns:p14="http://schemas.microsoft.com/office/powerpoint/2010/main" val="35518945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97353-11C3-E2E9-9F9C-A283553618C2}"/>
              </a:ext>
            </a:extLst>
          </p:cNvPr>
          <p:cNvSpPr>
            <a:spLocks noGrp="1"/>
          </p:cNvSpPr>
          <p:nvPr>
            <p:ph type="title"/>
          </p:nvPr>
        </p:nvSpPr>
        <p:spPr>
          <a:xfrm>
            <a:off x="838200" y="365125"/>
            <a:ext cx="10515600" cy="844243"/>
          </a:xfrm>
        </p:spPr>
        <p:txBody>
          <a:bodyPr/>
          <a:lstStyle/>
          <a:p>
            <a:r>
              <a:rPr lang="en-US" sz="4400" b="1" dirty="0">
                <a:latin typeface="Times New Roman" panose="02020603050405020304" pitchFamily="18" charset="0"/>
                <a:cs typeface="Times New Roman" panose="02020603050405020304" pitchFamily="18" charset="0"/>
              </a:rPr>
              <a:t>Experimental Work</a:t>
            </a:r>
            <a:endParaRPr lang="en-US" dirty="0"/>
          </a:p>
        </p:txBody>
      </p:sp>
      <p:pic>
        <p:nvPicPr>
          <p:cNvPr id="4" name="Content Placeholder 3">
            <a:extLst>
              <a:ext uri="{FF2B5EF4-FFF2-40B4-BE49-F238E27FC236}">
                <a16:creationId xmlns:a16="http://schemas.microsoft.com/office/drawing/2014/main" id="{7ED766F9-2748-55AE-AFD2-03303B4376B8}"/>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4033" r="12707"/>
          <a:stretch/>
        </p:blipFill>
        <p:spPr bwMode="auto">
          <a:xfrm>
            <a:off x="1835312" y="1209368"/>
            <a:ext cx="8521376" cy="4670323"/>
          </a:xfrm>
          <a:prstGeom prst="rect">
            <a:avLst/>
          </a:prstGeom>
          <a:noFill/>
          <a:ln>
            <a:noFill/>
          </a:ln>
        </p:spPr>
      </p:pic>
      <p:sp>
        <p:nvSpPr>
          <p:cNvPr id="6" name="TextBox 5">
            <a:extLst>
              <a:ext uri="{FF2B5EF4-FFF2-40B4-BE49-F238E27FC236}">
                <a16:creationId xmlns:a16="http://schemas.microsoft.com/office/drawing/2014/main" id="{B8CF8088-D5E1-85B3-2ED3-E6332E420477}"/>
              </a:ext>
            </a:extLst>
          </p:cNvPr>
          <p:cNvSpPr txBox="1"/>
          <p:nvPr/>
        </p:nvSpPr>
        <p:spPr>
          <a:xfrm>
            <a:off x="3706761" y="6115665"/>
            <a:ext cx="5260258" cy="377210"/>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 9: ANN Model Training Accuracy</a:t>
            </a:r>
          </a:p>
        </p:txBody>
      </p:sp>
    </p:spTree>
    <p:extLst>
      <p:ext uri="{BB962C8B-B14F-4D97-AF65-F5344CB8AC3E}">
        <p14:creationId xmlns:p14="http://schemas.microsoft.com/office/powerpoint/2010/main" val="23097283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9423E-746A-4B96-BDD8-960BF57A37DA}"/>
              </a:ext>
            </a:extLst>
          </p:cNvPr>
          <p:cNvSpPr>
            <a:spLocks noGrp="1"/>
          </p:cNvSpPr>
          <p:nvPr>
            <p:ph type="title"/>
          </p:nvPr>
        </p:nvSpPr>
        <p:spPr>
          <a:xfrm>
            <a:off x="838200" y="98570"/>
            <a:ext cx="10515600" cy="688423"/>
          </a:xfrm>
        </p:spPr>
        <p:txBody>
          <a:bodyPr>
            <a:normAutofit fontScale="90000"/>
          </a:bodyPr>
          <a:lstStyle/>
          <a:p>
            <a:r>
              <a:rPr lang="en-US" sz="4400" b="1" dirty="0">
                <a:latin typeface="Times New Roman" panose="02020603050405020304" pitchFamily="18" charset="0"/>
                <a:cs typeface="Times New Roman" panose="02020603050405020304" pitchFamily="18" charset="0"/>
              </a:rPr>
              <a:t>Experimental Work</a:t>
            </a:r>
            <a:endParaRPr lang="en-IN" dirty="0"/>
          </a:p>
        </p:txBody>
      </p:sp>
      <p:pic>
        <p:nvPicPr>
          <p:cNvPr id="5" name="Content Placeholder 4">
            <a:extLst>
              <a:ext uri="{FF2B5EF4-FFF2-40B4-BE49-F238E27FC236}">
                <a16:creationId xmlns:a16="http://schemas.microsoft.com/office/drawing/2014/main" id="{1A0A4099-6FD7-414E-91D7-743FD73A5315}"/>
              </a:ext>
            </a:extLst>
          </p:cNvPr>
          <p:cNvPicPr>
            <a:picLocks noGrp="1" noChangeAspect="1"/>
          </p:cNvPicPr>
          <p:nvPr>
            <p:ph idx="1"/>
          </p:nvPr>
        </p:nvPicPr>
        <p:blipFill>
          <a:blip r:embed="rId2"/>
          <a:stretch>
            <a:fillRect/>
          </a:stretch>
        </p:blipFill>
        <p:spPr>
          <a:xfrm>
            <a:off x="838200" y="906492"/>
            <a:ext cx="4477375" cy="1914792"/>
          </a:xfrm>
        </p:spPr>
      </p:pic>
      <p:pic>
        <p:nvPicPr>
          <p:cNvPr id="7" name="Picture 6">
            <a:extLst>
              <a:ext uri="{FF2B5EF4-FFF2-40B4-BE49-F238E27FC236}">
                <a16:creationId xmlns:a16="http://schemas.microsoft.com/office/drawing/2014/main" id="{2210F360-2460-409A-B908-693E9C7D3FC8}"/>
              </a:ext>
            </a:extLst>
          </p:cNvPr>
          <p:cNvPicPr>
            <a:picLocks noChangeAspect="1"/>
          </p:cNvPicPr>
          <p:nvPr/>
        </p:nvPicPr>
        <p:blipFill>
          <a:blip r:embed="rId3"/>
          <a:stretch>
            <a:fillRect/>
          </a:stretch>
        </p:blipFill>
        <p:spPr>
          <a:xfrm>
            <a:off x="838200" y="2940783"/>
            <a:ext cx="4477375" cy="3646942"/>
          </a:xfrm>
          <a:prstGeom prst="rect">
            <a:avLst/>
          </a:prstGeom>
        </p:spPr>
      </p:pic>
      <p:pic>
        <p:nvPicPr>
          <p:cNvPr id="9" name="Picture 8">
            <a:extLst>
              <a:ext uri="{FF2B5EF4-FFF2-40B4-BE49-F238E27FC236}">
                <a16:creationId xmlns:a16="http://schemas.microsoft.com/office/drawing/2014/main" id="{C047FADE-C65D-45D4-97A8-7C3FBBBB5A8E}"/>
              </a:ext>
            </a:extLst>
          </p:cNvPr>
          <p:cNvPicPr>
            <a:picLocks noChangeAspect="1"/>
          </p:cNvPicPr>
          <p:nvPr/>
        </p:nvPicPr>
        <p:blipFill>
          <a:blip r:embed="rId4"/>
          <a:stretch>
            <a:fillRect/>
          </a:stretch>
        </p:blipFill>
        <p:spPr>
          <a:xfrm>
            <a:off x="5445068" y="906492"/>
            <a:ext cx="6366210" cy="3527532"/>
          </a:xfrm>
          <a:prstGeom prst="rect">
            <a:avLst/>
          </a:prstGeom>
        </p:spPr>
      </p:pic>
      <p:pic>
        <p:nvPicPr>
          <p:cNvPr id="11" name="Picture 10">
            <a:extLst>
              <a:ext uri="{FF2B5EF4-FFF2-40B4-BE49-F238E27FC236}">
                <a16:creationId xmlns:a16="http://schemas.microsoft.com/office/drawing/2014/main" id="{81D2FE75-48F1-41BA-ACBC-E2BFBBE8FB4F}"/>
              </a:ext>
            </a:extLst>
          </p:cNvPr>
          <p:cNvPicPr>
            <a:picLocks noChangeAspect="1"/>
          </p:cNvPicPr>
          <p:nvPr/>
        </p:nvPicPr>
        <p:blipFill>
          <a:blip r:embed="rId5"/>
          <a:stretch>
            <a:fillRect/>
          </a:stretch>
        </p:blipFill>
        <p:spPr>
          <a:xfrm>
            <a:off x="5445068" y="4553523"/>
            <a:ext cx="5792008" cy="1762371"/>
          </a:xfrm>
          <a:prstGeom prst="rect">
            <a:avLst/>
          </a:prstGeom>
        </p:spPr>
      </p:pic>
      <p:sp>
        <p:nvSpPr>
          <p:cNvPr id="3" name="TextBox 2">
            <a:extLst>
              <a:ext uri="{FF2B5EF4-FFF2-40B4-BE49-F238E27FC236}">
                <a16:creationId xmlns:a16="http://schemas.microsoft.com/office/drawing/2014/main" id="{F1987C84-C55A-A831-BE56-F885002CCB60}"/>
              </a:ext>
            </a:extLst>
          </p:cNvPr>
          <p:cNvSpPr txBox="1"/>
          <p:nvPr/>
        </p:nvSpPr>
        <p:spPr>
          <a:xfrm>
            <a:off x="5525729" y="6435393"/>
            <a:ext cx="5368413"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 10: ANN Test on Real Time Data</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71946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D154A-858B-E0AA-AA56-82E26CEADA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7F7777-C1EB-1501-F292-792751CEE7F7}"/>
              </a:ext>
            </a:extLst>
          </p:cNvPr>
          <p:cNvSpPr>
            <a:spLocks noGrp="1"/>
          </p:cNvSpPr>
          <p:nvPr>
            <p:ph type="title"/>
          </p:nvPr>
        </p:nvSpPr>
        <p:spPr>
          <a:xfrm>
            <a:off x="838200" y="365125"/>
            <a:ext cx="10515600" cy="844243"/>
          </a:xfrm>
        </p:spPr>
        <p:txBody>
          <a:bodyPr/>
          <a:lstStyle/>
          <a:p>
            <a:r>
              <a:rPr lang="en-US" sz="4400" b="1" dirty="0">
                <a:latin typeface="Times New Roman" panose="02020603050405020304" pitchFamily="18" charset="0"/>
                <a:cs typeface="Times New Roman" panose="02020603050405020304" pitchFamily="18" charset="0"/>
              </a:rPr>
              <a:t>Experimental Work</a:t>
            </a:r>
            <a:endParaRPr lang="en-US" dirty="0"/>
          </a:p>
        </p:txBody>
      </p:sp>
      <p:sp>
        <p:nvSpPr>
          <p:cNvPr id="6" name="TextBox 5">
            <a:extLst>
              <a:ext uri="{FF2B5EF4-FFF2-40B4-BE49-F238E27FC236}">
                <a16:creationId xmlns:a16="http://schemas.microsoft.com/office/drawing/2014/main" id="{7CCBC1F1-8A4B-4E0F-EBE9-914C86BAB692}"/>
              </a:ext>
            </a:extLst>
          </p:cNvPr>
          <p:cNvSpPr txBox="1"/>
          <p:nvPr/>
        </p:nvSpPr>
        <p:spPr>
          <a:xfrm>
            <a:off x="3549445" y="5801383"/>
            <a:ext cx="5260258"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 </a:t>
            </a:r>
            <a:r>
              <a:rPr lang="en-US" b="1">
                <a:latin typeface="Times New Roman" panose="02020603050405020304" pitchFamily="18" charset="0"/>
                <a:cs typeface="Times New Roman" panose="02020603050405020304" pitchFamily="18" charset="0"/>
              </a:rPr>
              <a:t>11: </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Accuracy on real time data</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8BEABCFE-A519-532C-9B7B-E247A7C5D475}"/>
              </a:ext>
            </a:extLst>
          </p:cNvPr>
          <p:cNvSpPr>
            <a:spLocks noGrp="1"/>
          </p:cNvSpPr>
          <p:nvPr>
            <p:ph idx="1"/>
          </p:nvPr>
        </p:nvSpPr>
        <p:spPr/>
        <p:txBody>
          <a:bodyPr/>
          <a:lstStyle/>
          <a:p>
            <a:pPr marL="0" indent="0">
              <a:buNone/>
            </a:pPr>
            <a:r>
              <a:rPr lang="en-US" dirty="0"/>
              <a:t> </a:t>
            </a:r>
          </a:p>
        </p:txBody>
      </p:sp>
      <p:pic>
        <p:nvPicPr>
          <p:cNvPr id="7" name="Picture 6">
            <a:extLst>
              <a:ext uri="{FF2B5EF4-FFF2-40B4-BE49-F238E27FC236}">
                <a16:creationId xmlns:a16="http://schemas.microsoft.com/office/drawing/2014/main" id="{1776DA95-048D-C405-49FA-B4A066C8423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50258" y="1283980"/>
            <a:ext cx="9291483" cy="4290039"/>
          </a:xfrm>
          <a:prstGeom prst="rect">
            <a:avLst/>
          </a:prstGeom>
          <a:noFill/>
          <a:ln>
            <a:noFill/>
          </a:ln>
        </p:spPr>
      </p:pic>
    </p:spTree>
    <p:extLst>
      <p:ext uri="{BB962C8B-B14F-4D97-AF65-F5344CB8AC3E}">
        <p14:creationId xmlns:p14="http://schemas.microsoft.com/office/powerpoint/2010/main" val="31724335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8C82D-DD3E-510B-3B4B-DFE6F84DC5A5}"/>
              </a:ext>
            </a:extLst>
          </p:cNvPr>
          <p:cNvSpPr>
            <a:spLocks noGrp="1"/>
          </p:cNvSpPr>
          <p:nvPr>
            <p:ph type="title"/>
          </p:nvPr>
        </p:nvSpPr>
        <p:spPr>
          <a:xfrm>
            <a:off x="838200" y="365126"/>
            <a:ext cx="10515600" cy="834410"/>
          </a:xfrm>
        </p:spPr>
        <p:txBody>
          <a:bodyPr/>
          <a:lstStyle/>
          <a:p>
            <a:r>
              <a:rPr lang="en-US" sz="4400" b="1" dirty="0">
                <a:latin typeface="Times New Roman" panose="02020603050405020304" pitchFamily="18" charset="0"/>
                <a:cs typeface="Times New Roman" panose="02020603050405020304" pitchFamily="18" charset="0"/>
              </a:rPr>
              <a:t>Results</a:t>
            </a:r>
            <a:endParaRPr lang="en-US" dirty="0"/>
          </a:p>
        </p:txBody>
      </p:sp>
      <p:sp>
        <p:nvSpPr>
          <p:cNvPr id="3" name="Content Placeholder 2">
            <a:extLst>
              <a:ext uri="{FF2B5EF4-FFF2-40B4-BE49-F238E27FC236}">
                <a16:creationId xmlns:a16="http://schemas.microsoft.com/office/drawing/2014/main" id="{3ACE4B7F-F588-4DE1-E805-99B7E2C90300}"/>
              </a:ext>
            </a:extLst>
          </p:cNvPr>
          <p:cNvSpPr>
            <a:spLocks noGrp="1"/>
          </p:cNvSpPr>
          <p:nvPr>
            <p:ph idx="1"/>
          </p:nvPr>
        </p:nvSpPr>
        <p:spPr>
          <a:xfrm>
            <a:off x="838200" y="1455174"/>
            <a:ext cx="10515600" cy="4721789"/>
          </a:xfrm>
        </p:spPr>
        <p:txBody>
          <a:bodyPr>
            <a:normAutofit lnSpcReduction="10000"/>
          </a:bodyPr>
          <a:lstStyle/>
          <a:p>
            <a:pPr>
              <a:lnSpc>
                <a:spcPct val="150000"/>
              </a:lnSpc>
            </a:pPr>
            <a:r>
              <a:rPr lang="en-US" sz="2400" dirty="0">
                <a:latin typeface="Times New Roman" panose="02020603050405020304" pitchFamily="18" charset="0"/>
                <a:cs typeface="Times New Roman" panose="02020603050405020304" pitchFamily="18" charset="0"/>
              </a:rPr>
              <a:t>The present system mimics the action of the healthy hand</a:t>
            </a:r>
          </a:p>
          <a:p>
            <a:pPr>
              <a:lnSpc>
                <a:spcPct val="150000"/>
              </a:lnSpc>
            </a:pPr>
            <a:r>
              <a:rPr lang="en-US" sz="2400" dirty="0">
                <a:latin typeface="Times New Roman" panose="02020603050405020304" pitchFamily="18" charset="0"/>
                <a:cs typeface="Times New Roman" panose="02020603050405020304" pitchFamily="18" charset="0"/>
              </a:rPr>
              <a:t>The system uses ESP NOW protocol for communication between two ESP NOW protocols</a:t>
            </a:r>
          </a:p>
          <a:p>
            <a:pPr>
              <a:lnSpc>
                <a:spcPct val="150000"/>
              </a:lnSpc>
            </a:pPr>
            <a:r>
              <a:rPr lang="en-US" sz="2400" dirty="0">
                <a:latin typeface="Times New Roman" panose="02020603050405020304" pitchFamily="18" charset="0"/>
                <a:cs typeface="Times New Roman" panose="02020603050405020304" pitchFamily="18" charset="0"/>
              </a:rPr>
              <a:t>Machine Learning approach is being implemented, which is able to classify hand gesture as open or close</a:t>
            </a:r>
          </a:p>
          <a:p>
            <a:pPr>
              <a:lnSpc>
                <a:spcPct val="150000"/>
              </a:lnSpc>
            </a:pPr>
            <a:r>
              <a:rPr lang="en-US" sz="2400" dirty="0">
                <a:latin typeface="Times New Roman" panose="02020603050405020304" pitchFamily="18" charset="0"/>
                <a:cs typeface="Times New Roman" panose="02020603050405020304" pitchFamily="18" charset="0"/>
              </a:rPr>
              <a:t>Artificial Neural Networks has been trained and gives accuracy of 93%</a:t>
            </a:r>
          </a:p>
          <a:p>
            <a:pPr>
              <a:lnSpc>
                <a:spcPct val="150000"/>
              </a:lnSpc>
            </a:pPr>
            <a:r>
              <a:rPr lang="en-US" sz="2400" dirty="0">
                <a:latin typeface="Times New Roman" panose="02020603050405020304" pitchFamily="18" charset="0"/>
                <a:cs typeface="Times New Roman" panose="02020603050405020304" pitchFamily="18" charset="0"/>
              </a:rPr>
              <a:t>The model gives 96% accuracy on real time data by classifying gestures as open or close	</a:t>
            </a:r>
          </a:p>
        </p:txBody>
      </p:sp>
    </p:spTree>
    <p:extLst>
      <p:ext uri="{BB962C8B-B14F-4D97-AF65-F5344CB8AC3E}">
        <p14:creationId xmlns:p14="http://schemas.microsoft.com/office/powerpoint/2010/main" val="9927794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09F1F-4A5D-1E47-9DA4-589E969FED0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Future Scope</a:t>
            </a:r>
          </a:p>
        </p:txBody>
      </p:sp>
      <p:sp>
        <p:nvSpPr>
          <p:cNvPr id="3" name="Content Placeholder 2">
            <a:extLst>
              <a:ext uri="{FF2B5EF4-FFF2-40B4-BE49-F238E27FC236}">
                <a16:creationId xmlns:a16="http://schemas.microsoft.com/office/drawing/2014/main" id="{89D8647A-A6AD-6BAD-0899-11C1EEF8EA9E}"/>
              </a:ext>
            </a:extLst>
          </p:cNvPr>
          <p:cNvSpPr>
            <a:spLocks noGrp="1"/>
          </p:cNvSpPr>
          <p:nvPr>
            <p:ph idx="1"/>
          </p:nvPr>
        </p:nvSpPr>
        <p:spPr/>
        <p:txBody>
          <a:bodyPr>
            <a:normAutofit fontScale="92500" lnSpcReduction="10000"/>
          </a:bodyPr>
          <a:lstStyle/>
          <a:p>
            <a:pPr>
              <a:lnSpc>
                <a:spcPct val="150000"/>
              </a:lnSpc>
            </a:pPr>
            <a:r>
              <a:rPr lang="en-US" sz="2600" dirty="0">
                <a:latin typeface="Times New Roman" panose="02020603050405020304" pitchFamily="18" charset="0"/>
                <a:cs typeface="Times New Roman" panose="02020603050405020304" pitchFamily="18" charset="0"/>
              </a:rPr>
              <a:t>The system can be expanded to control individual finger movements for specific hand gesture</a:t>
            </a:r>
          </a:p>
          <a:p>
            <a:pPr>
              <a:lnSpc>
                <a:spcPct val="150000"/>
              </a:lnSpc>
            </a:pPr>
            <a:r>
              <a:rPr lang="en-US" sz="2600" dirty="0">
                <a:latin typeface="Times New Roman" panose="02020603050405020304" pitchFamily="18" charset="0"/>
                <a:cs typeface="Times New Roman" panose="02020603050405020304" pitchFamily="18" charset="0"/>
              </a:rPr>
              <a:t>A reliable exoskeleton can be designed with more Degree of Freedom (</a:t>
            </a:r>
            <a:r>
              <a:rPr lang="en-US" sz="2600" dirty="0" err="1">
                <a:latin typeface="Times New Roman" panose="02020603050405020304" pitchFamily="18" charset="0"/>
                <a:cs typeface="Times New Roman" panose="02020603050405020304" pitchFamily="18" charset="0"/>
              </a:rPr>
              <a:t>DoF</a:t>
            </a:r>
            <a:r>
              <a:rPr lang="en-US" sz="2600" dirty="0">
                <a:latin typeface="Times New Roman" panose="02020603050405020304" pitchFamily="18" charset="0"/>
                <a:cs typeface="Times New Roman" panose="02020603050405020304" pitchFamily="18" charset="0"/>
              </a:rPr>
              <a:t>)</a:t>
            </a:r>
          </a:p>
          <a:p>
            <a:pPr>
              <a:lnSpc>
                <a:spcPct val="150000"/>
              </a:lnSpc>
            </a:pPr>
            <a:r>
              <a:rPr lang="en-US" sz="2600" dirty="0">
                <a:latin typeface="Times New Roman" panose="02020603050405020304" pitchFamily="18" charset="0"/>
                <a:cs typeface="Times New Roman" panose="02020603050405020304" pitchFamily="18" charset="0"/>
              </a:rPr>
              <a:t>More servo motors can be implemented to perform wrist movement</a:t>
            </a:r>
          </a:p>
          <a:p>
            <a:pPr>
              <a:lnSpc>
                <a:spcPct val="150000"/>
              </a:lnSpc>
            </a:pPr>
            <a:r>
              <a:rPr lang="en-US" sz="2600" dirty="0">
                <a:latin typeface="Times New Roman" panose="02020603050405020304" pitchFamily="18" charset="0"/>
                <a:cs typeface="Times New Roman" panose="02020603050405020304" pitchFamily="18" charset="0"/>
              </a:rPr>
              <a:t>It can be extended to other parts of the body</a:t>
            </a:r>
          </a:p>
          <a:p>
            <a:pPr>
              <a:lnSpc>
                <a:spcPct val="150000"/>
              </a:lnSpc>
            </a:pPr>
            <a:r>
              <a:rPr lang="en-US" sz="2600" dirty="0">
                <a:latin typeface="Times New Roman" panose="02020603050405020304" pitchFamily="18" charset="0"/>
                <a:cs typeface="Times New Roman" panose="02020603050405020304" pitchFamily="18" charset="0"/>
              </a:rPr>
              <a:t>A more reliable machine learning technique can be used and deployed to the system to get more accurate results</a:t>
            </a:r>
          </a:p>
        </p:txBody>
      </p:sp>
    </p:spTree>
    <p:extLst>
      <p:ext uri="{BB962C8B-B14F-4D97-AF65-F5344CB8AC3E}">
        <p14:creationId xmlns:p14="http://schemas.microsoft.com/office/powerpoint/2010/main" val="23135876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D553A-0403-579E-B2DC-23EAE2F7EFE5}"/>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References </a:t>
            </a:r>
          </a:p>
        </p:txBody>
      </p:sp>
      <p:sp>
        <p:nvSpPr>
          <p:cNvPr id="3" name="Content Placeholder 2">
            <a:extLst>
              <a:ext uri="{FF2B5EF4-FFF2-40B4-BE49-F238E27FC236}">
                <a16:creationId xmlns:a16="http://schemas.microsoft.com/office/drawing/2014/main" id="{BFD478C6-6C2E-D3D4-D3F0-3A0B1CD09FD5}"/>
              </a:ext>
            </a:extLst>
          </p:cNvPr>
          <p:cNvSpPr>
            <a:spLocks noGrp="1"/>
          </p:cNvSpPr>
          <p:nvPr>
            <p:ph idx="1"/>
          </p:nvPr>
        </p:nvSpPr>
        <p:spPr/>
        <p:txBody>
          <a:bodyPr>
            <a:normAutofit fontScale="92500"/>
          </a:bodyPr>
          <a:lstStyle/>
          <a:p>
            <a:pPr marL="0" marR="0" indent="0" algn="just">
              <a:lnSpc>
                <a:spcPct val="150000"/>
              </a:lnSpc>
              <a:spcBef>
                <a:spcPts val="0"/>
              </a:spcBef>
              <a:spcAft>
                <a:spcPts val="0"/>
              </a:spcAft>
              <a:buNone/>
            </a:pP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[1] Francesco Di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Nardo</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Antonio Nocera, Alessandro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Cucchiarelli</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Sandro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Fioretti</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and Christian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Morbidoni</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a:effectLst/>
                <a:latin typeface="Times New Roman" panose="02020603050405020304" pitchFamily="18" charset="0"/>
                <a:ea typeface="Calibri" panose="020F0502020204030204" pitchFamily="34" charset="0"/>
                <a:cs typeface="Times New Roman" panose="02020603050405020304" pitchFamily="18" charset="0"/>
              </a:rPr>
              <a:t>Machine Learning for Detection of Muscular Activity from Surface EMG Signals</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Sensors, 22(3393), pp. 1-17, April 2022</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50000"/>
              </a:lnSpc>
              <a:spcBef>
                <a:spcPts val="0"/>
              </a:spcBef>
              <a:spcAft>
                <a:spcPts val="0"/>
              </a:spcAft>
              <a:buNone/>
            </a:pP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[2] Ankita L.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Dharmik</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S. K. Atre, S. J. Sharma, “</a:t>
            </a:r>
            <a:r>
              <a:rPr lang="en-US" sz="1800" b="1" kern="0" dirty="0">
                <a:effectLst/>
                <a:latin typeface="Times New Roman" panose="02020603050405020304" pitchFamily="18" charset="0"/>
                <a:ea typeface="Calibri" panose="020F0502020204030204" pitchFamily="34" charset="0"/>
                <a:cs typeface="Times New Roman" panose="02020603050405020304" pitchFamily="18" charset="0"/>
              </a:rPr>
              <a:t>Design of an Exoskeleton for Hand Rehabilitation</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IEEE Conference and Interdisciplinary Approach in Technology and Management for Social Innovation (IATMS), 1(1), pp. 1-4, 2022  </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50000"/>
              </a:lnSpc>
              <a:spcBef>
                <a:spcPts val="0"/>
              </a:spcBef>
              <a:spcAft>
                <a:spcPts val="0"/>
              </a:spcAft>
              <a:buNone/>
            </a:pP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[3]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Mailyn</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Calderon-Diaz, Rony Silvestre Aguirre, Juan P.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Vasconez</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Roberto Yanez, Matias Roby, Marvin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Querales</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Rodrigo Salas, “</a:t>
            </a:r>
            <a:r>
              <a:rPr lang="en-US" sz="1800" b="1" kern="0" dirty="0">
                <a:effectLst/>
                <a:latin typeface="Times New Roman" panose="02020603050405020304" pitchFamily="18" charset="0"/>
                <a:ea typeface="Calibri" panose="020F0502020204030204" pitchFamily="34" charset="0"/>
                <a:cs typeface="Times New Roman" panose="02020603050405020304" pitchFamily="18" charset="0"/>
              </a:rPr>
              <a:t>Explainable Machine Learning Techniques to Predict Muscle Injuries in Professional Soccer Players through Biomechanical Analysis</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Sensors, 24(119), pp. 1-13, 2024;</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50000"/>
              </a:lnSpc>
              <a:spcBef>
                <a:spcPts val="0"/>
              </a:spcBef>
              <a:spcAft>
                <a:spcPts val="0"/>
              </a:spcAft>
              <a:buNone/>
            </a:pP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[4] Ching Yee YONG and Terence Tien Lok SIA, “</a:t>
            </a:r>
            <a:r>
              <a:rPr lang="en-US" sz="1800" b="1" kern="0" dirty="0">
                <a:effectLst/>
                <a:latin typeface="Times New Roman" panose="02020603050405020304" pitchFamily="18" charset="0"/>
                <a:ea typeface="Calibri" panose="020F0502020204030204" pitchFamily="34" charset="0"/>
                <a:cs typeface="Times New Roman" panose="02020603050405020304" pitchFamily="18" charset="0"/>
              </a:rPr>
              <a:t>I Want to Control Your Move: Human-Human Interface (HHI) Neuromuscular Electrical Stimulator (NMES)”</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Conference of Electronics, Communication and Networks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CECNet</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1(1), pp. 724-730, 2022</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736524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E5FA1-07D5-0058-00BA-285898EA88BF}"/>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References </a:t>
            </a:r>
          </a:p>
        </p:txBody>
      </p:sp>
      <p:sp>
        <p:nvSpPr>
          <p:cNvPr id="3" name="Content Placeholder 2">
            <a:extLst>
              <a:ext uri="{FF2B5EF4-FFF2-40B4-BE49-F238E27FC236}">
                <a16:creationId xmlns:a16="http://schemas.microsoft.com/office/drawing/2014/main" id="{A0CD6023-6C14-17AA-DD27-4E16033F35E9}"/>
              </a:ext>
            </a:extLst>
          </p:cNvPr>
          <p:cNvSpPr>
            <a:spLocks noGrp="1"/>
          </p:cNvSpPr>
          <p:nvPr>
            <p:ph idx="1"/>
          </p:nvPr>
        </p:nvSpPr>
        <p:spPr>
          <a:xfrm>
            <a:off x="838200" y="1393005"/>
            <a:ext cx="10515600" cy="5099870"/>
          </a:xfrm>
        </p:spPr>
        <p:txBody>
          <a:bodyPr>
            <a:noAutofit/>
          </a:bodyPr>
          <a:lstStyle/>
          <a:p>
            <a:pPr marL="0" marR="0" indent="0" algn="just">
              <a:lnSpc>
                <a:spcPct val="150000"/>
              </a:lnSpc>
              <a:spcBef>
                <a:spcPts val="0"/>
              </a:spcBef>
              <a:spcAft>
                <a:spcPts val="0"/>
              </a:spcAft>
              <a:buNone/>
            </a:pP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[5] Nestor J. Jarque-Bou, Joaquin L.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Sanche-Bau</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Margarita Vergara, “</a:t>
            </a:r>
            <a:r>
              <a:rPr lang="en-US" sz="1800" b="1" kern="0" dirty="0">
                <a:effectLst/>
                <a:latin typeface="Times New Roman" panose="02020603050405020304" pitchFamily="18" charset="0"/>
                <a:ea typeface="Calibri" panose="020F0502020204030204" pitchFamily="34" charset="0"/>
                <a:cs typeface="Times New Roman" panose="02020603050405020304" pitchFamily="18" charset="0"/>
              </a:rPr>
              <a:t>A Systematic Review of EMG Applications for the Characterization of Forearm and Hand Muscle Activity during Activities of Daily Living: Results, Challenges, and Open Issues</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Sensors, 21(3035), pp. 1-26, 2021</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50000"/>
              </a:lnSpc>
              <a:spcBef>
                <a:spcPts val="0"/>
              </a:spcBef>
              <a:spcAft>
                <a:spcPts val="0"/>
              </a:spcAft>
              <a:buNone/>
            </a:pP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[6] Yassine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Bouteraa</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Ismail Ben Abdallah, Khalil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Boukthir</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a:effectLst/>
                <a:latin typeface="Times New Roman" panose="02020603050405020304" pitchFamily="18" charset="0"/>
                <a:ea typeface="Calibri" panose="020F0502020204030204" pitchFamily="34" charset="0"/>
                <a:cs typeface="Times New Roman" panose="02020603050405020304" pitchFamily="18" charset="0"/>
              </a:rPr>
              <a:t>A New Wrist-forearm Rehabilitation Protocol Integrating Human Biomechanics and SVM-Based Machine Learning for Muscle Fatigue Estimation</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Bioengineering, 10(219), pp. 1-22, 2023</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50000"/>
              </a:lnSpc>
              <a:spcBef>
                <a:spcPts val="0"/>
              </a:spcBef>
              <a:spcAft>
                <a:spcPts val="0"/>
              </a:spcAft>
              <a:buNone/>
            </a:pP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[7] Md.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Latifur</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Rahman, Md.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Jahin</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Alam,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Nayeed</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Rashid,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Lamiya</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Hassan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Tithy</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Alfaj</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Uddin Ahmed, and M Tarik Arafat, “</a:t>
            </a:r>
            <a:r>
              <a:rPr lang="en-US" sz="1800" b="1" kern="0" dirty="0">
                <a:effectLst/>
                <a:latin typeface="Times New Roman" panose="02020603050405020304" pitchFamily="18" charset="0"/>
                <a:ea typeface="Calibri" panose="020F0502020204030204" pitchFamily="34" charset="0"/>
                <a:cs typeface="Times New Roman" panose="02020603050405020304" pitchFamily="18" charset="0"/>
              </a:rPr>
              <a:t>IoT Based Cost Efficient Muscle Stimulator for Biomedical Application</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2020 IEEE Region 10 Symposium (TENSYMP), 1(1), pp. 1-5, 2020</a:t>
            </a:r>
          </a:p>
          <a:p>
            <a:pPr marL="0" indent="0" algn="just">
              <a:lnSpc>
                <a:spcPct val="150000"/>
              </a:lnSpc>
              <a:spcBef>
                <a:spcPts val="0"/>
              </a:spcBef>
              <a:buNone/>
            </a:pP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[8] Nat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Wannawas</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and Aldo Faisal, “</a:t>
            </a:r>
            <a:r>
              <a:rPr lang="en-US" sz="1800" b="1" kern="0" dirty="0">
                <a:effectLst/>
                <a:latin typeface="Times New Roman" panose="02020603050405020304" pitchFamily="18" charset="0"/>
                <a:ea typeface="Calibri" panose="020F0502020204030204" pitchFamily="34" charset="0"/>
                <a:cs typeface="Times New Roman" panose="02020603050405020304" pitchFamily="18" charset="0"/>
              </a:rPr>
              <a:t>Towards AI-controlled FES-restoration of arm movements: Controlling for progressive muscular fatigue with Gaussian state-space models</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11</a:t>
            </a:r>
            <a:r>
              <a:rPr lang="en-US" sz="1800" kern="0" baseline="30000" dirty="0">
                <a:effectLst/>
                <a:latin typeface="Times New Roman" panose="02020603050405020304" pitchFamily="18" charset="0"/>
                <a:ea typeface="Calibri" panose="020F0502020204030204" pitchFamily="34" charset="0"/>
                <a:cs typeface="Times New Roman" panose="02020603050405020304" pitchFamily="18" charset="0"/>
              </a:rPr>
              <a:t>th</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International IEEE/EMBS Conference on Neural Engineering (NER), 1(1), pp. 1-4, 2023</a:t>
            </a:r>
          </a:p>
          <a:p>
            <a:pPr marL="0" marR="0" indent="0" algn="just">
              <a:lnSpc>
                <a:spcPct val="150000"/>
              </a:lnSpc>
              <a:spcBef>
                <a:spcPts val="0"/>
              </a:spcBef>
              <a:spcAft>
                <a:spcPts val="0"/>
              </a:spcAft>
              <a:buNone/>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002511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A8A4B-F713-1F94-739C-7CB865214F35}"/>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References </a:t>
            </a:r>
          </a:p>
        </p:txBody>
      </p:sp>
      <p:sp>
        <p:nvSpPr>
          <p:cNvPr id="3" name="Content Placeholder 2">
            <a:extLst>
              <a:ext uri="{FF2B5EF4-FFF2-40B4-BE49-F238E27FC236}">
                <a16:creationId xmlns:a16="http://schemas.microsoft.com/office/drawing/2014/main" id="{CC337789-46B5-20D1-8F63-077CF9047F63}"/>
              </a:ext>
            </a:extLst>
          </p:cNvPr>
          <p:cNvSpPr>
            <a:spLocks noGrp="1"/>
          </p:cNvSpPr>
          <p:nvPr>
            <p:ph idx="1"/>
          </p:nvPr>
        </p:nvSpPr>
        <p:spPr/>
        <p:txBody>
          <a:bodyPr>
            <a:normAutofit/>
          </a:bodyPr>
          <a:lstStyle/>
          <a:p>
            <a:pPr marL="0" marR="0" indent="0" algn="just">
              <a:lnSpc>
                <a:spcPct val="150000"/>
              </a:lnSpc>
              <a:spcBef>
                <a:spcPts val="0"/>
              </a:spcBef>
              <a:spcAft>
                <a:spcPts val="0"/>
              </a:spcAft>
              <a:buNone/>
            </a:pP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[9] Dr. G. Sophia Reena, “</a:t>
            </a:r>
            <a:r>
              <a:rPr lang="en-US" sz="1800" b="1" kern="0" dirty="0">
                <a:effectLst/>
                <a:latin typeface="Times New Roman" panose="02020603050405020304" pitchFamily="18" charset="0"/>
                <a:ea typeface="Calibri" panose="020F0502020204030204" pitchFamily="34" charset="0"/>
                <a:cs typeface="Times New Roman" panose="02020603050405020304" pitchFamily="18" charset="0"/>
              </a:rPr>
              <a:t>Posture Guardian With Smart Muscle Strain Detection And Correction Using TINYML</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Journal of Propulsion Technology, 44(4), pp. 5187-5194, 2023</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50000"/>
              </a:lnSpc>
              <a:spcBef>
                <a:spcPts val="0"/>
              </a:spcBef>
              <a:spcAft>
                <a:spcPts val="0"/>
              </a:spcAft>
              <a:buNone/>
            </a:pP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[10] DERVİŞ PAŞA, “</a:t>
            </a:r>
            <a:r>
              <a:rPr lang="en-US" sz="1800" b="1" kern="0" dirty="0">
                <a:effectLst/>
                <a:latin typeface="Times New Roman" panose="02020603050405020304" pitchFamily="18" charset="0"/>
                <a:ea typeface="Calibri" panose="020F0502020204030204" pitchFamily="34" charset="0"/>
                <a:cs typeface="Times New Roman" panose="02020603050405020304" pitchFamily="18" charset="0"/>
              </a:rPr>
              <a:t>Development of Wireless Microcontroller Based Functional Electronic Stimulation Device for Drop Foot Correction</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Near East University, Nicosia, pp. 1-87, 2014</a:t>
            </a:r>
          </a:p>
          <a:p>
            <a:pPr marL="0" indent="0" algn="just">
              <a:lnSpc>
                <a:spcPct val="150000"/>
              </a:lnSpc>
              <a:spcBef>
                <a:spcPts val="0"/>
              </a:spcBef>
              <a:buNone/>
            </a:pP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[11]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Xiaoshi</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Chen, Li Gong,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Lirong</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Zheng, and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Zhuo</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Zou, </a:t>
            </a:r>
            <a:r>
              <a:rPr lang="en-US" sz="1800" b="1" kern="0" dirty="0">
                <a:effectLst/>
                <a:latin typeface="Times New Roman" panose="02020603050405020304" pitchFamily="18" charset="0"/>
                <a:ea typeface="Calibri" panose="020F0502020204030204" pitchFamily="34" charset="0"/>
                <a:cs typeface="Times New Roman" panose="02020603050405020304" pitchFamily="18" charset="0"/>
              </a:rPr>
              <a:t>“Soft Exoskeleton Glove for Hand Assistance Based on Human-Machine Interaction and Machine Learning”,</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IEEE </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International Conference on Human-Machine </a:t>
            </a:r>
            <a:r>
              <a:rPr lang="en-US" sz="1800" u="none" strike="noStrike" kern="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Systems (ICHMS), </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Rome, Italy, 1(1), 2020</a:t>
            </a:r>
          </a:p>
          <a:p>
            <a:pPr marL="0" indent="0" algn="just">
              <a:lnSpc>
                <a:spcPct val="150000"/>
              </a:lnSpc>
              <a:spcBef>
                <a:spcPts val="0"/>
              </a:spcBef>
              <a:buNone/>
            </a:pP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[12]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Xiaoshi</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Chen, Li Gong, Liang Wei, Shih-Ching Yeh, and Li Da Xu, </a:t>
            </a:r>
            <a:r>
              <a:rPr lang="en-US" sz="1800" b="1" kern="0" dirty="0">
                <a:effectLst/>
                <a:latin typeface="Times New Roman" panose="02020603050405020304" pitchFamily="18" charset="0"/>
                <a:ea typeface="Calibri" panose="020F0502020204030204" pitchFamily="34" charset="0"/>
                <a:cs typeface="Times New Roman" panose="02020603050405020304" pitchFamily="18" charset="0"/>
              </a:rPr>
              <a:t>“A Wearable Hand Rehabilitation System with Soft Glove”</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IEEE Transactions on Industrial Information, 17(2), pp. 943-952, 2020</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50000"/>
              </a:lnSpc>
              <a:spcBef>
                <a:spcPts val="0"/>
              </a:spcBef>
              <a:buNone/>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50000"/>
              </a:lnSpc>
              <a:spcBef>
                <a:spcPts val="0"/>
              </a:spcBef>
              <a:spcAft>
                <a:spcPts val="0"/>
              </a:spcAft>
              <a:buNone/>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105642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249B6-5CB0-EB1D-B969-94ADE6C36D2E}"/>
              </a:ext>
            </a:extLst>
          </p:cNvPr>
          <p:cNvSpPr>
            <a:spLocks noGrp="1"/>
          </p:cNvSpPr>
          <p:nvPr>
            <p:ph type="title"/>
          </p:nvPr>
        </p:nvSpPr>
        <p:spPr/>
        <p:txBody>
          <a:bodyPr/>
          <a:lstStyle/>
          <a:p>
            <a:r>
              <a:rPr lang="en-US" sz="4000" b="1" dirty="0">
                <a:latin typeface="Times New Roman" panose="02020603050405020304" pitchFamily="18" charset="0"/>
                <a:cs typeface="Times New Roman" panose="02020603050405020304" pitchFamily="18" charset="0"/>
              </a:rPr>
              <a:t>References</a:t>
            </a:r>
            <a:r>
              <a:rPr lang="en-US" dirty="0"/>
              <a:t> </a:t>
            </a:r>
          </a:p>
        </p:txBody>
      </p:sp>
      <p:sp>
        <p:nvSpPr>
          <p:cNvPr id="3" name="Content Placeholder 2">
            <a:extLst>
              <a:ext uri="{FF2B5EF4-FFF2-40B4-BE49-F238E27FC236}">
                <a16:creationId xmlns:a16="http://schemas.microsoft.com/office/drawing/2014/main" id="{B2054521-E430-39F9-73E2-BF55A3278A2C}"/>
              </a:ext>
            </a:extLst>
          </p:cNvPr>
          <p:cNvSpPr>
            <a:spLocks noGrp="1"/>
          </p:cNvSpPr>
          <p:nvPr>
            <p:ph idx="1"/>
          </p:nvPr>
        </p:nvSpPr>
        <p:spPr>
          <a:xfrm>
            <a:off x="838200" y="1550322"/>
            <a:ext cx="10515600" cy="4351338"/>
          </a:xfrm>
        </p:spPr>
        <p:txBody>
          <a:bodyPr>
            <a:noAutofit/>
          </a:bodyPr>
          <a:lstStyle/>
          <a:p>
            <a:pPr marL="0" marR="0" indent="0" algn="just">
              <a:lnSpc>
                <a:spcPct val="150000"/>
              </a:lnSpc>
              <a:spcBef>
                <a:spcPts val="0"/>
              </a:spcBef>
              <a:spcAft>
                <a:spcPts val="0"/>
              </a:spcAft>
              <a:buNone/>
            </a:pP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[13] Alireza Mohammadi, Jim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Lavranos</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Peter Choong, and Denny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Oetomo</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1800" b="1" kern="0" dirty="0" err="1">
                <a:effectLst/>
                <a:latin typeface="Times New Roman" panose="02020603050405020304" pitchFamily="18" charset="0"/>
                <a:ea typeface="Calibri" panose="020F0502020204030204" pitchFamily="34" charset="0"/>
                <a:cs typeface="Times New Roman" panose="02020603050405020304" pitchFamily="18" charset="0"/>
              </a:rPr>
              <a:t>Flexo</a:t>
            </a:r>
            <a:r>
              <a:rPr lang="en-US" sz="1800" b="1" kern="0" dirty="0">
                <a:effectLst/>
                <a:latin typeface="Times New Roman" panose="02020603050405020304" pitchFamily="18" charset="0"/>
                <a:ea typeface="Calibri" panose="020F0502020204030204" pitchFamily="34" charset="0"/>
                <a:cs typeface="Times New Roman" panose="02020603050405020304" pitchFamily="18" charset="0"/>
              </a:rPr>
              <a:t>-glove: A 3D Printed Soft Exoskeleton Robotic Glove for Impaired Hand Rehabilitation and Assistance”</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40</a:t>
            </a:r>
            <a:r>
              <a:rPr lang="en-US" sz="1800" kern="0" baseline="30000" dirty="0">
                <a:effectLst/>
                <a:latin typeface="Times New Roman" panose="02020603050405020304" pitchFamily="18" charset="0"/>
                <a:ea typeface="Calibri" panose="020F0502020204030204" pitchFamily="34" charset="0"/>
                <a:cs typeface="Times New Roman" panose="02020603050405020304" pitchFamily="18" charset="0"/>
              </a:rPr>
              <a:t>th </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Annual International Conference of the IEEE Engineering in Medicine and Biology Society (EMBC), Honolulu, USA, pp. 2120-2123, 2018</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gn="just">
              <a:lnSpc>
                <a:spcPct val="150000"/>
              </a:lnSpc>
              <a:spcBef>
                <a:spcPts val="0"/>
              </a:spcBef>
              <a:spcAft>
                <a:spcPts val="0"/>
              </a:spcAft>
              <a:buNone/>
            </a:pP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[14] Waqas Ahmed, Muhammad Kashif Sattar,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Wajeeha</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Shahnawaz, Umair Saeed, Shahbaz Mehmood Khan, and Neha Amon Khan, </a:t>
            </a:r>
            <a:r>
              <a:rPr lang="en-US" sz="1800" b="1" kern="0" dirty="0">
                <a:effectLst/>
                <a:latin typeface="Times New Roman" panose="02020603050405020304" pitchFamily="18" charset="0"/>
                <a:ea typeface="Calibri" panose="020F0502020204030204" pitchFamily="34" charset="0"/>
                <a:cs typeface="Times New Roman" panose="02020603050405020304" pitchFamily="18" charset="0"/>
              </a:rPr>
              <a:t>“Wearable Hand-Rehabilitation System with Soft Gloves for Patient with Face Paralysis and Disability”</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Engineering Proceedings, 12(56), pp. 1-5, 2021</a:t>
            </a:r>
          </a:p>
          <a:p>
            <a:pPr marL="0" indent="0" algn="just">
              <a:lnSpc>
                <a:spcPct val="150000"/>
              </a:lnSpc>
              <a:spcBef>
                <a:spcPts val="0"/>
              </a:spcBef>
              <a:buNone/>
            </a:pP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[15]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Xuanyi</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Zhou, Hoa Fu,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Baoqing</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Shentu</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Weidong</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Wang,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Shibo</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Cai, and </a:t>
            </a:r>
            <a:r>
              <a:rPr lang="en-US" sz="1800" kern="0" dirty="0" err="1">
                <a:effectLst/>
                <a:latin typeface="Times New Roman" panose="02020603050405020304" pitchFamily="18" charset="0"/>
                <a:ea typeface="Calibri" panose="020F0502020204030204" pitchFamily="34" charset="0"/>
                <a:cs typeface="Times New Roman" panose="02020603050405020304" pitchFamily="18" charset="0"/>
              </a:rPr>
              <a:t>Guanjan</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Bao, </a:t>
            </a:r>
            <a:r>
              <a:rPr lang="en-US" sz="1800" b="1" kern="0" dirty="0">
                <a:effectLst/>
                <a:latin typeface="Times New Roman" panose="02020603050405020304" pitchFamily="18" charset="0"/>
                <a:ea typeface="Calibri" panose="020F0502020204030204" pitchFamily="34" charset="0"/>
                <a:cs typeface="Times New Roman" panose="02020603050405020304" pitchFamily="18" charset="0"/>
              </a:rPr>
              <a:t>“Design and Control of a Tendon-Driven Robotic Finger Based on </a:t>
            </a:r>
            <a:r>
              <a:rPr lang="en-US" sz="1800" b="1" kern="0" dirty="0" err="1">
                <a:effectLst/>
                <a:latin typeface="Times New Roman" panose="02020603050405020304" pitchFamily="18" charset="0"/>
                <a:ea typeface="Calibri" panose="020F0502020204030204" pitchFamily="34" charset="0"/>
                <a:cs typeface="Times New Roman" panose="02020603050405020304" pitchFamily="18" charset="0"/>
              </a:rPr>
              <a:t>Frasping</a:t>
            </a:r>
            <a:r>
              <a:rPr lang="en-US" sz="1800" b="1" kern="0" dirty="0">
                <a:effectLst/>
                <a:latin typeface="Times New Roman" panose="02020603050405020304" pitchFamily="18" charset="0"/>
                <a:ea typeface="Calibri" panose="020F0502020204030204" pitchFamily="34" charset="0"/>
                <a:cs typeface="Times New Roman" panose="02020603050405020304" pitchFamily="18" charset="0"/>
              </a:rPr>
              <a:t> Task Analysis”</a:t>
            </a: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 Biomimetics, 9(370), pp. 1-17, 2024</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21761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E566D-FBE8-1B1C-734A-B548036AAED5}"/>
              </a:ext>
            </a:extLst>
          </p:cNvPr>
          <p:cNvSpPr>
            <a:spLocks noGrp="1"/>
          </p:cNvSpPr>
          <p:nvPr>
            <p:ph type="title"/>
          </p:nvPr>
        </p:nvSpPr>
        <p:spPr>
          <a:xfrm>
            <a:off x="838200" y="2766218"/>
            <a:ext cx="10515600" cy="1325563"/>
          </a:xfrm>
        </p:spPr>
        <p:txBody>
          <a:bodyPr/>
          <a:lstStyle/>
          <a:p>
            <a:pPr algn="ctr"/>
            <a:r>
              <a:rPr lang="en-US"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6530091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4191</TotalTime>
  <Words>3073</Words>
  <Application>Microsoft Office PowerPoint</Application>
  <PresentationFormat>Widescreen</PresentationFormat>
  <Paragraphs>275</Paragraphs>
  <Slides>40</Slides>
  <Notes>0</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40</vt:i4>
      </vt:variant>
    </vt:vector>
  </HeadingPairs>
  <TitlesOfParts>
    <vt:vector size="48" baseType="lpstr">
      <vt:lpstr>Aptos</vt:lpstr>
      <vt:lpstr>Arial</vt:lpstr>
      <vt:lpstr>Calibri</vt:lpstr>
      <vt:lpstr>Calibri Light</vt:lpstr>
      <vt:lpstr>Symbol</vt:lpstr>
      <vt:lpstr>Times New Roman</vt:lpstr>
      <vt:lpstr>Wingdings</vt:lpstr>
      <vt:lpstr>Office Theme</vt:lpstr>
      <vt:lpstr>Design and Study of a Human-Human Interaction System to Control the Movement of Paralyzed Hand</vt:lpstr>
      <vt:lpstr>Contents </vt:lpstr>
      <vt:lpstr>Introduction  </vt:lpstr>
      <vt:lpstr>Review of Literature</vt:lpstr>
      <vt:lpstr>Review of Literature</vt:lpstr>
      <vt:lpstr>Review of Literature</vt:lpstr>
      <vt:lpstr>Review of Literature</vt:lpstr>
      <vt:lpstr>Review of Literature</vt:lpstr>
      <vt:lpstr>Review of Literature</vt:lpstr>
      <vt:lpstr>Problem Statement</vt:lpstr>
      <vt:lpstr>Objectives</vt:lpstr>
      <vt:lpstr>Requirement Specification</vt:lpstr>
      <vt:lpstr>PowerPoint Presentation</vt:lpstr>
      <vt:lpstr>PowerPoint Presentation</vt:lpstr>
      <vt:lpstr>PCA9685 Servo Motor Driver</vt:lpstr>
      <vt:lpstr>2. Software Specification</vt:lpstr>
      <vt:lpstr>3. Libraries Required</vt:lpstr>
      <vt:lpstr>PowerPoint Presentation</vt:lpstr>
      <vt:lpstr>PowerPoint Presentation</vt:lpstr>
      <vt:lpstr>6. Algorithm </vt:lpstr>
      <vt:lpstr>Long Short Term Memory</vt:lpstr>
      <vt:lpstr>Support Vector Machine</vt:lpstr>
      <vt:lpstr>Planning and Scheduling </vt:lpstr>
      <vt:lpstr>PowerPoint Presentation</vt:lpstr>
      <vt:lpstr>System Design</vt:lpstr>
      <vt:lpstr>Experimental Work</vt:lpstr>
      <vt:lpstr>Experimental Work</vt:lpstr>
      <vt:lpstr>Experimental Work</vt:lpstr>
      <vt:lpstr>Experimental Work</vt:lpstr>
      <vt:lpstr>Experimental Work</vt:lpstr>
      <vt:lpstr>Experimental Work</vt:lpstr>
      <vt:lpstr>Experimental Work</vt:lpstr>
      <vt:lpstr>Experimental Work</vt:lpstr>
      <vt:lpstr>Results</vt:lpstr>
      <vt:lpstr>Future Scope</vt:lpstr>
      <vt:lpstr>References </vt:lpstr>
      <vt:lpstr>References </vt:lpstr>
      <vt:lpstr>References </vt:lpstr>
      <vt:lpstr>References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and Study of a Human-Human Interaction System to Control the Movement of Paralyzed Hand</dc:title>
  <dc:creator>Ankita Giroti</dc:creator>
  <cp:lastModifiedBy>preksha ramteke</cp:lastModifiedBy>
  <cp:revision>169</cp:revision>
  <dcterms:created xsi:type="dcterms:W3CDTF">2024-07-11T07:36:29Z</dcterms:created>
  <dcterms:modified xsi:type="dcterms:W3CDTF">2025-05-02T05:27:24Z</dcterms:modified>
</cp:coreProperties>
</file>